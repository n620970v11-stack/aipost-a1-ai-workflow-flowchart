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1675"/>
  <p:notesSz cx="6858000" cy="12191675"/>
  <p:embeddedFontLst>
    <p:embeddedFont>
      <p:font typeface="Noto Sans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geCXWHogRoR/1cL47Ci8OV6yh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otoSans-bold.fntdata"/><Relationship Id="rId30" Type="http://schemas.openxmlformats.org/officeDocument/2006/relationships/font" Target="fonts/NotoSans-regular.fntdata"/><Relationship Id="rId11" Type="http://schemas.openxmlformats.org/officeDocument/2006/relationships/slide" Target="slides/slide7.xml"/><Relationship Id="rId33" Type="http://schemas.openxmlformats.org/officeDocument/2006/relationships/font" Target="fonts/NotoSans-boldItalic.fntdata"/><Relationship Id="rId10" Type="http://schemas.openxmlformats.org/officeDocument/2006/relationships/slide" Target="slides/slide6.xml"/><Relationship Id="rId32" Type="http://schemas.openxmlformats.org/officeDocument/2006/relationships/font" Target="fonts/NotoSans-italic.fntdata"/><Relationship Id="rId13" Type="http://schemas.openxmlformats.org/officeDocument/2006/relationships/slide" Target="slides/slide9.xml"/><Relationship Id="rId35" Type="http://schemas.openxmlformats.org/officeDocument/2006/relationships/font" Target="fonts/RobotoMono-bold.fntdata"/><Relationship Id="rId12" Type="http://schemas.openxmlformats.org/officeDocument/2006/relationships/slide" Target="slides/slide8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1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52123c504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f52123c504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52123c504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52123c50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f52123c50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52123c50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52123c504_1_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52123c504_1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52123c504_1_6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f52123c504_1_6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f81dd6e89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g3f81dd6e89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3f52123c504_1_1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g3f52123c504_1_1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f52123c504_1_13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g3f52123c504_1_1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f52123c504_1_14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g3f52123c504_1_14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f52123c504_1_15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g3f52123c504_1_15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3f52123c504_1_1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3" name="Google Shape;2693;g3f52123c504_1_1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g3f52123c504_1_1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drive/folders/1PaaYCb53JwOjzve6pR1yTJxxuM0CSEVu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1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" name="Google Shape;24;p1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" name="Google Shape;25;p1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" name="Google Shape;26;p1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" name="Google Shape;27;p1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" name="Google Shape;28;p1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" name="Google Shape;29;p1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1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" name="Google Shape;32;p1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" name="Google Shape;35;p1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1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1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1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36576" y="164592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182880" y="164592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329184" y="164592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475488" y="164592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621792" y="164592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36576" y="310896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182880" y="310896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29184" y="310896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475488" y="310896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21792" y="310896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36576" y="457200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82880" y="457200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329184" y="457200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475488" y="457200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621792" y="457200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6576" y="603504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82880" y="603504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329184" y="603504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75488" y="603504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621792" y="603504"/>
            <a:ext cx="23774" cy="23774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"/>
          <p:cNvSpPr/>
          <p:nvPr/>
        </p:nvSpPr>
        <p:spPr>
          <a:xfrm>
            <a:off x="950976" y="530352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713232" y="1828800"/>
            <a:ext cx="5760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AI 工具實測</a:t>
            </a:r>
            <a:endParaRPr b="0" i="0" sz="4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2" name="Google Shape;102;p1"/>
          <p:cNvCxnSpPr/>
          <p:nvPr/>
        </p:nvCxnSpPr>
        <p:spPr>
          <a:xfrm>
            <a:off x="713232" y="2889504"/>
            <a:ext cx="4645152" cy="0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"/>
          <p:cNvCxnSpPr/>
          <p:nvPr/>
        </p:nvCxnSpPr>
        <p:spPr>
          <a:xfrm>
            <a:off x="2706624" y="2889504"/>
            <a:ext cx="3767328" cy="0"/>
          </a:xfrm>
          <a:prstGeom prst="straightConnector1">
            <a:avLst/>
          </a:prstGeom>
          <a:noFill/>
          <a:ln cap="flat" cmpd="sng" w="15225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"/>
          <p:cNvSpPr/>
          <p:nvPr/>
        </p:nvSpPr>
        <p:spPr>
          <a:xfrm>
            <a:off x="6455664" y="2848356"/>
            <a:ext cx="91440" cy="9144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13232" y="3246120"/>
            <a:ext cx="6583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 搭配 draw.io MCP 繪製流程圖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64259" y="3960441"/>
            <a:ext cx="2606100" cy="384000"/>
          </a:xfrm>
          <a:prstGeom prst="roundRect">
            <a:avLst>
              <a:gd fmla="val 42857" name="adj"/>
            </a:avLst>
          </a:prstGeom>
          <a:solidFill>
            <a:srgbClr val="FBF9F4"/>
          </a:solidFill>
          <a:ln cap="flat" cmpd="sng" w="12700">
            <a:solidFill>
              <a:srgbClr val="CF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968099" y="406588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63D"/>
              </a:buClr>
              <a:buSzPts val="1300"/>
              <a:buFont typeface="Noto Sans"/>
              <a:buNone/>
            </a:pPr>
            <a:r>
              <a:rPr b="1" i="0" lang="en-US" u="none" cap="none" strike="noStrike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A1</a:t>
            </a:r>
            <a:endParaRPr b="0" i="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8" name="Google Shape;108;p1"/>
          <p:cNvCxnSpPr/>
          <p:nvPr/>
        </p:nvCxnSpPr>
        <p:spPr>
          <a:xfrm>
            <a:off x="1390059" y="4067549"/>
            <a:ext cx="4800" cy="167400"/>
          </a:xfrm>
          <a:prstGeom prst="straightConnector1">
            <a:avLst/>
          </a:prstGeom>
          <a:noFill/>
          <a:ln cap="flat" cmpd="sng" w="12700">
            <a:solidFill>
              <a:srgbClr val="C7C0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"/>
          <p:cNvSpPr/>
          <p:nvPr/>
        </p:nvSpPr>
        <p:spPr>
          <a:xfrm>
            <a:off x="1537693" y="4034638"/>
            <a:ext cx="1795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280"/>
              <a:buFont typeface="Noto Sans"/>
              <a:buNone/>
            </a:pPr>
            <a:r>
              <a:rPr b="1" i="0" lang="en-US" u="none" cap="none" strike="noStrike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Fable 5 上工第一天</a:t>
            </a:r>
            <a:endParaRPr b="0" i="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566928" y="6144768"/>
            <a:ext cx="256032" cy="256032"/>
          </a:xfrm>
          <a:prstGeom prst="ellipse">
            <a:avLst/>
          </a:prstGeom>
          <a:solidFill>
            <a:srgbClr val="FBF9F4"/>
          </a:solidFill>
          <a:ln cap="flat" cmpd="sng" w="15225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649224" y="6217920"/>
            <a:ext cx="73152" cy="91440"/>
          </a:xfrm>
          <a:prstGeom prst="chevron">
            <a:avLst>
              <a:gd fmla="val 50000" name="adj"/>
            </a:avLst>
          </a:prstGeom>
          <a:solidFill>
            <a:srgbClr val="D8A530"/>
          </a:solidFill>
          <a:ln cap="flat" cmpd="sng" w="9525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932688" y="6175455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60"/>
              <a:buFont typeface="Noto Sans"/>
              <a:buNone/>
            </a:pPr>
            <a:r>
              <a:rPr b="0" i="0" lang="en-US" sz="1160" u="none" cap="none" strike="noStrike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胡怡欣 · 2026 / 07</a:t>
            </a:r>
            <a:endParaRPr b="0" i="0" sz="11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2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2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" name="Google Shape;125;p2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2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2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2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2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2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2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2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6" name="Google Shape;136;p2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2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2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2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566928" y="1536192"/>
            <a:ext cx="704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</a:rPr>
              <a:t>重點結論</a:t>
            </a:r>
            <a:endParaRPr/>
          </a:p>
        </p:txBody>
      </p:sp>
      <p:cxnSp>
        <p:nvCxnSpPr>
          <p:cNvPr id="203" name="Google Shape;203;p2"/>
          <p:cNvCxnSpPr/>
          <p:nvPr/>
        </p:nvCxnSpPr>
        <p:spPr>
          <a:xfrm>
            <a:off x="566928" y="2322576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4" name="Google Shape;204;p2"/>
          <p:cNvCxnSpPr/>
          <p:nvPr/>
        </p:nvCxnSpPr>
        <p:spPr>
          <a:xfrm>
            <a:off x="566928" y="2322576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5" name="Google Shape;205;p2"/>
          <p:cNvSpPr/>
          <p:nvPr/>
        </p:nvSpPr>
        <p:spPr>
          <a:xfrm>
            <a:off x="8668512" y="2286000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694944" y="2615184"/>
            <a:ext cx="2514600" cy="129844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859536" y="276148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/>
          </a:p>
        </p:txBody>
      </p:sp>
      <p:sp>
        <p:nvSpPr>
          <p:cNvPr id="208" name="Google Shape;208;p2"/>
          <p:cNvSpPr txBox="1"/>
          <p:nvPr/>
        </p:nvSpPr>
        <p:spPr>
          <a:xfrm>
            <a:off x="859536" y="33832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工時降低</a:t>
            </a:r>
            <a:endParaRPr/>
          </a:p>
        </p:txBody>
      </p:sp>
      <p:sp>
        <p:nvSpPr>
          <p:cNvPr id="209" name="Google Shape;209;p2"/>
          <p:cNvSpPr txBox="1"/>
          <p:nvPr/>
        </p:nvSpPr>
        <p:spPr>
          <a:xfrm>
            <a:off x="859536" y="362102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五個子流程推估節省 165 分鐘</a:t>
            </a:r>
            <a:endParaRPr/>
          </a:p>
        </p:txBody>
      </p:sp>
      <p:sp>
        <p:nvSpPr>
          <p:cNvPr id="210" name="Google Shape;210;p2"/>
          <p:cNvSpPr/>
          <p:nvPr/>
        </p:nvSpPr>
        <p:spPr>
          <a:xfrm>
            <a:off x="3401568" y="2615184"/>
            <a:ext cx="5303520" cy="129844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1" name="Google Shape;211;p2"/>
          <p:cNvSpPr txBox="1"/>
          <p:nvPr/>
        </p:nvSpPr>
        <p:spPr>
          <a:xfrm>
            <a:off x="3566160" y="2724912"/>
            <a:ext cx="4974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人工繪製 vs. AI 工作流｜五個子流程總工時</a:t>
            </a:r>
            <a:endParaRPr/>
          </a:p>
        </p:txBody>
      </p:sp>
      <p:sp>
        <p:nvSpPr>
          <p:cNvPr id="212" name="Google Shape;212;p2"/>
          <p:cNvSpPr txBox="1"/>
          <p:nvPr/>
        </p:nvSpPr>
        <p:spPr>
          <a:xfrm>
            <a:off x="3566160" y="31272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人工繪製</a:t>
            </a:r>
            <a:endParaRPr/>
          </a:p>
        </p:txBody>
      </p:sp>
      <p:sp>
        <p:nvSpPr>
          <p:cNvPr id="213" name="Google Shape;213;p2"/>
          <p:cNvSpPr/>
          <p:nvPr/>
        </p:nvSpPr>
        <p:spPr>
          <a:xfrm>
            <a:off x="4572000" y="3145536"/>
            <a:ext cx="3063240" cy="182880"/>
          </a:xfrm>
          <a:prstGeom prst="roundRect">
            <a:avLst>
              <a:gd fmla="val 30000" name="adj"/>
            </a:avLst>
          </a:prstGeom>
          <a:solidFill>
            <a:srgbClr val="D8D9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2"/>
          <p:cNvSpPr txBox="1"/>
          <p:nvPr/>
        </p:nvSpPr>
        <p:spPr>
          <a:xfrm>
            <a:off x="7699248" y="312724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300 分鐘</a:t>
            </a:r>
            <a:endParaRPr/>
          </a:p>
        </p:txBody>
      </p:sp>
      <p:sp>
        <p:nvSpPr>
          <p:cNvPr id="215" name="Google Shape;215;p2"/>
          <p:cNvSpPr txBox="1"/>
          <p:nvPr/>
        </p:nvSpPr>
        <p:spPr>
          <a:xfrm>
            <a:off x="3566160" y="349300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 工作流</a:t>
            </a:r>
            <a:endParaRPr/>
          </a:p>
        </p:txBody>
      </p:sp>
      <p:sp>
        <p:nvSpPr>
          <p:cNvPr id="216" name="Google Shape;216;p2"/>
          <p:cNvSpPr/>
          <p:nvPr/>
        </p:nvSpPr>
        <p:spPr>
          <a:xfrm>
            <a:off x="4572000" y="3511296"/>
            <a:ext cx="1380744" cy="182880"/>
          </a:xfrm>
          <a:prstGeom prst="roundRect">
            <a:avLst>
              <a:gd fmla="val 30000" name="adj"/>
            </a:avLst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2"/>
          <p:cNvSpPr txBox="1"/>
          <p:nvPr/>
        </p:nvSpPr>
        <p:spPr>
          <a:xfrm>
            <a:off x="6035040" y="349300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135 分鐘</a:t>
            </a:r>
            <a:endParaRPr/>
          </a:p>
        </p:txBody>
      </p:sp>
      <p:sp>
        <p:nvSpPr>
          <p:cNvPr id="218" name="Google Shape;218;p2"/>
          <p:cNvSpPr/>
          <p:nvPr/>
        </p:nvSpPr>
        <p:spPr>
          <a:xfrm>
            <a:off x="694944" y="4133087"/>
            <a:ext cx="2423160" cy="129844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2"/>
          <p:cNvSpPr txBox="1"/>
          <p:nvPr/>
        </p:nvSpPr>
        <p:spPr>
          <a:xfrm>
            <a:off x="859536" y="4261104"/>
            <a:ext cx="20939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前置文件</a:t>
            </a:r>
            <a:endParaRPr/>
          </a:p>
        </p:txBody>
      </p:sp>
      <p:sp>
        <p:nvSpPr>
          <p:cNvPr id="220" name="Google Shape;220;p2"/>
          <p:cNvSpPr txBox="1"/>
          <p:nvPr/>
        </p:nvSpPr>
        <p:spPr>
          <a:xfrm>
            <a:off x="859536" y="4539033"/>
            <a:ext cx="20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撰寫並整理流程說明文件，沉澱為可重複使用的產圖依據。</a:t>
            </a:r>
            <a:endParaRPr sz="1000"/>
          </a:p>
        </p:txBody>
      </p:sp>
      <p:sp>
        <p:nvSpPr>
          <p:cNvPr id="221" name="Google Shape;221;p2"/>
          <p:cNvSpPr txBox="1"/>
          <p:nvPr/>
        </p:nvSpPr>
        <p:spPr>
          <a:xfrm>
            <a:off x="859536" y="5084064"/>
            <a:ext cx="2094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約 30 分鐘</a:t>
            </a:r>
            <a:endParaRPr/>
          </a:p>
        </p:txBody>
      </p:sp>
      <p:sp>
        <p:nvSpPr>
          <p:cNvPr id="222" name="Google Shape;222;p2"/>
          <p:cNvSpPr/>
          <p:nvPr/>
        </p:nvSpPr>
        <p:spPr>
          <a:xfrm>
            <a:off x="3255264" y="4133087"/>
            <a:ext cx="2423160" cy="129844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2"/>
          <p:cNvSpPr txBox="1"/>
          <p:nvPr/>
        </p:nvSpPr>
        <p:spPr>
          <a:xfrm>
            <a:off x="3419856" y="4261104"/>
            <a:ext cx="20939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AI 產圖</a:t>
            </a:r>
            <a:endParaRPr/>
          </a:p>
        </p:txBody>
      </p:sp>
      <p:sp>
        <p:nvSpPr>
          <p:cNvPr id="224" name="Google Shape;224;p2"/>
          <p:cNvSpPr txBox="1"/>
          <p:nvPr/>
        </p:nvSpPr>
        <p:spPr>
          <a:xfrm>
            <a:off x="3419856" y="4517136"/>
            <a:ext cx="20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透過 draw.io MCP 自動建立節點、連線與初步排版。</a:t>
            </a:r>
            <a:endParaRPr sz="1000"/>
          </a:p>
        </p:txBody>
      </p:sp>
      <p:sp>
        <p:nvSpPr>
          <p:cNvPr id="225" name="Google Shape;225;p2"/>
          <p:cNvSpPr txBox="1"/>
          <p:nvPr/>
        </p:nvSpPr>
        <p:spPr>
          <a:xfrm>
            <a:off x="3419856" y="5084064"/>
            <a:ext cx="2093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6 分鐘 × 5 個子流程 = 30 分鐘</a:t>
            </a:r>
            <a:endParaRPr/>
          </a:p>
        </p:txBody>
      </p:sp>
      <p:sp>
        <p:nvSpPr>
          <p:cNvPr id="226" name="Google Shape;226;p2"/>
          <p:cNvSpPr/>
          <p:nvPr/>
        </p:nvSpPr>
        <p:spPr>
          <a:xfrm>
            <a:off x="5815584" y="4133087"/>
            <a:ext cx="2889504" cy="129844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2"/>
          <p:cNvSpPr txBox="1"/>
          <p:nvPr/>
        </p:nvSpPr>
        <p:spPr>
          <a:xfrm>
            <a:off x="5980176" y="426110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人工檢查與修改</a:t>
            </a:r>
            <a:endParaRPr/>
          </a:p>
        </p:txBody>
      </p:sp>
      <p:sp>
        <p:nvSpPr>
          <p:cNvPr id="228" name="Google Shape;228;p2"/>
          <p:cNvSpPr txBox="1"/>
          <p:nvPr/>
        </p:nvSpPr>
        <p:spPr>
          <a:xfrm>
            <a:off x="5980176" y="4517136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依原始流程文件核對邏輯，調整細節後定稿。</a:t>
            </a:r>
            <a:endParaRPr sz="1000"/>
          </a:p>
        </p:txBody>
      </p:sp>
      <p:sp>
        <p:nvSpPr>
          <p:cNvPr id="229" name="Google Shape;229;p2"/>
          <p:cNvSpPr txBox="1"/>
          <p:nvPr/>
        </p:nvSpPr>
        <p:spPr>
          <a:xfrm>
            <a:off x="5980176" y="508406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15 分鐘 × 5 個子流程 = 75 分鐘</a:t>
            </a:r>
            <a:endParaRPr/>
          </a:p>
        </p:txBody>
      </p:sp>
      <p:sp>
        <p:nvSpPr>
          <p:cNvPr id="230" name="Google Shape;230;p2"/>
          <p:cNvSpPr txBox="1"/>
          <p:nvPr/>
        </p:nvSpPr>
        <p:spPr>
          <a:xfrm>
            <a:off x="731528" y="5938199"/>
            <a:ext cx="79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AI 工作流的價值不是取代人工，而是</a:t>
            </a:r>
            <a:r>
              <a:rPr b="1" lang="en-US" sz="12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將</a:t>
            </a:r>
            <a:r>
              <a:rPr b="1" lang="en-US" sz="12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時間從重複繪圖，轉移到</a:t>
            </a:r>
            <a:r>
              <a:rPr b="1" lang="en-US" sz="12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更具價值的</a:t>
            </a:r>
            <a:r>
              <a:rPr b="1" lang="en-US" sz="12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需求溝通</a:t>
            </a:r>
            <a:r>
              <a:rPr b="1" lang="en-US" sz="12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與流程圖檢查</a:t>
            </a:r>
            <a:endParaRPr sz="1200"/>
          </a:p>
        </p:txBody>
      </p:sp>
      <p:sp>
        <p:nvSpPr>
          <p:cNvPr id="231" name="Google Shape;231;p2"/>
          <p:cNvSpPr txBox="1"/>
          <p:nvPr/>
        </p:nvSpPr>
        <p:spPr>
          <a:xfrm>
            <a:off x="722382" y="5513432"/>
            <a:ext cx="7909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※ 以未發生重大錯誤、不需重新產圖為基準；細項見「實際節省多少時間」章節。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52123c504_0_119"/>
          <p:cNvSpPr/>
          <p:nvPr/>
        </p:nvSpPr>
        <p:spPr>
          <a:xfrm>
            <a:off x="9235440" y="0"/>
            <a:ext cx="2953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52123c504_0_119"/>
          <p:cNvSpPr/>
          <p:nvPr/>
        </p:nvSpPr>
        <p:spPr>
          <a:xfrm>
            <a:off x="9253728" y="0"/>
            <a:ext cx="29169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g3f52123c504_0_119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g3f52123c504_0_119"/>
          <p:cNvSpPr/>
          <p:nvPr/>
        </p:nvSpPr>
        <p:spPr>
          <a:xfrm>
            <a:off x="9125712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52123c504_0_119"/>
          <p:cNvSpPr/>
          <p:nvPr/>
        </p:nvSpPr>
        <p:spPr>
          <a:xfrm>
            <a:off x="9180576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52123c504_0_119"/>
          <p:cNvSpPr/>
          <p:nvPr/>
        </p:nvSpPr>
        <p:spPr>
          <a:xfrm>
            <a:off x="10195560" y="502920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g3f52123c504_0_119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g3f52123c504_0_119"/>
          <p:cNvSpPr/>
          <p:nvPr/>
        </p:nvSpPr>
        <p:spPr>
          <a:xfrm>
            <a:off x="9966960" y="1417320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g3f52123c504_0_119"/>
          <p:cNvCxnSpPr/>
          <p:nvPr/>
        </p:nvCxnSpPr>
        <p:spPr>
          <a:xfrm>
            <a:off x="10305288" y="1856232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g3f52123c504_0_119"/>
          <p:cNvSpPr/>
          <p:nvPr/>
        </p:nvSpPr>
        <p:spPr>
          <a:xfrm>
            <a:off x="10076688" y="2587752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g3f52123c504_0_119"/>
          <p:cNvCxnSpPr/>
          <p:nvPr/>
        </p:nvCxnSpPr>
        <p:spPr>
          <a:xfrm>
            <a:off x="10314432" y="3063240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g3f52123c504_0_119"/>
          <p:cNvSpPr/>
          <p:nvPr/>
        </p:nvSpPr>
        <p:spPr>
          <a:xfrm>
            <a:off x="9985248" y="3840480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g3f52123c504_0_119"/>
          <p:cNvCxnSpPr/>
          <p:nvPr/>
        </p:nvCxnSpPr>
        <p:spPr>
          <a:xfrm>
            <a:off x="10323576" y="4352544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g3f52123c504_0_119"/>
          <p:cNvSpPr/>
          <p:nvPr/>
        </p:nvSpPr>
        <p:spPr>
          <a:xfrm>
            <a:off x="10195560" y="5330952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" name="Google Shape;251;g3f52123c504_0_119"/>
          <p:cNvCxnSpPr/>
          <p:nvPr/>
        </p:nvCxnSpPr>
        <p:spPr>
          <a:xfrm>
            <a:off x="10561320" y="1636776"/>
            <a:ext cx="347400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f52123c504_0_119"/>
          <p:cNvSpPr/>
          <p:nvPr/>
        </p:nvSpPr>
        <p:spPr>
          <a:xfrm>
            <a:off x="10579608" y="1636776"/>
            <a:ext cx="347400" cy="118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" name="Google Shape;253;g3f52123c504_0_119"/>
          <p:cNvCxnSpPr/>
          <p:nvPr/>
        </p:nvCxnSpPr>
        <p:spPr>
          <a:xfrm>
            <a:off x="10908792" y="2816352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f52123c504_0_119"/>
          <p:cNvSpPr/>
          <p:nvPr/>
        </p:nvSpPr>
        <p:spPr>
          <a:xfrm>
            <a:off x="11420856" y="2651760"/>
            <a:ext cx="146400" cy="1464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g3f52123c504_0_119"/>
          <p:cNvSpPr/>
          <p:nvPr/>
        </p:nvSpPr>
        <p:spPr>
          <a:xfrm>
            <a:off x="11676888" y="2331720"/>
            <a:ext cx="438900" cy="512100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6" name="Google Shape;256;g3f52123c504_0_119"/>
          <p:cNvCxnSpPr/>
          <p:nvPr/>
        </p:nvCxnSpPr>
        <p:spPr>
          <a:xfrm>
            <a:off x="11494008" y="2798064"/>
            <a:ext cx="0" cy="173730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g3f52123c504_0_119"/>
          <p:cNvCxnSpPr/>
          <p:nvPr/>
        </p:nvCxnSpPr>
        <p:spPr>
          <a:xfrm rot="10800000">
            <a:off x="10963608" y="4535424"/>
            <a:ext cx="530400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g3f52123c504_0_119"/>
          <p:cNvSpPr/>
          <p:nvPr/>
        </p:nvSpPr>
        <p:spPr>
          <a:xfrm>
            <a:off x="10872216" y="4864608"/>
            <a:ext cx="54900" cy="54900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g3f52123c504_0_119"/>
          <p:cNvCxnSpPr/>
          <p:nvPr/>
        </p:nvCxnSpPr>
        <p:spPr>
          <a:xfrm>
            <a:off x="10890504" y="4892040"/>
            <a:ext cx="0" cy="384000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g3f52123c504_0_119"/>
          <p:cNvCxnSpPr/>
          <p:nvPr/>
        </p:nvCxnSpPr>
        <p:spPr>
          <a:xfrm>
            <a:off x="10890504" y="5276088"/>
            <a:ext cx="859500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g3f52123c504_0_119"/>
          <p:cNvSpPr/>
          <p:nvPr/>
        </p:nvSpPr>
        <p:spPr>
          <a:xfrm>
            <a:off x="11713464" y="5157216"/>
            <a:ext cx="128100" cy="1281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g3f52123c504_0_119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g3f52123c504_0_119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g3f52123c504_0_119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g3f52123c504_0_119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g3f52123c504_0_119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g3f52123c504_0_119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g3f52123c504_0_119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g3f52123c504_0_119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0" name="Google Shape;270;g3f52123c504_0_119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1" name="Google Shape;271;g3f52123c504_0_119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g3f52123c504_0_119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g3f52123c504_0_119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" name="Google Shape;274;g3f52123c504_0_119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" name="Google Shape;275;g3f52123c504_0_119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6" name="Google Shape;276;g3f52123c504_0_119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7" name="Google Shape;277;g3f52123c504_0_119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g3f52123c504_0_119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9" name="Google Shape;279;g3f52123c504_0_119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g3f52123c504_0_119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g3f52123c504_0_119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g3f52123c504_0_119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g3f52123c504_0_119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g3f52123c504_0_119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g3f52123c504_0_119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g3f52123c504_0_119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g3f52123c504_0_119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g3f52123c504_0_119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9" name="Google Shape;289;g3f52123c504_0_119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g3f52123c504_0_119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g3f52123c504_0_119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g3f52123c504_0_119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g3f52123c504_0_119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g3f52123c504_0_119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g3f52123c504_0_119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g3f52123c504_0_119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g3f52123c504_0_119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g3f52123c504_0_119"/>
          <p:cNvSpPr/>
          <p:nvPr/>
        </p:nvSpPr>
        <p:spPr>
          <a:xfrm>
            <a:off x="10936224" y="5303520"/>
            <a:ext cx="1079100" cy="1134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52123c504_0_119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50">
                <a:solidFill>
                  <a:srgbClr val="E0B64E"/>
                </a:solidFill>
              </a:rPr>
              <a:t>3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g3f52123c504_0_119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52123c504_0_119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52123c504_0_119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52123c504_0_119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52123c504_0_119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52123c504_0_119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52123c504_0_119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52123c504_0_119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52123c504_0_119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52123c504_0_119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52123c504_0_119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52123c504_0_119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52123c504_0_119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52123c504_0_119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52123c504_0_119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52123c504_0_119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52123c504_0_119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52123c504_0_119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52123c504_0_119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52123c504_0_119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g3f52123c504_0_119"/>
          <p:cNvCxnSpPr/>
          <p:nvPr/>
        </p:nvCxnSpPr>
        <p:spPr>
          <a:xfrm>
            <a:off x="713232" y="566928"/>
            <a:ext cx="0" cy="255900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g3f52123c504_0_119"/>
          <p:cNvSpPr/>
          <p:nvPr/>
        </p:nvSpPr>
        <p:spPr>
          <a:xfrm>
            <a:off x="950976" y="530352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g3f52123c504_0_119"/>
          <p:cNvSpPr txBox="1"/>
          <p:nvPr/>
        </p:nvSpPr>
        <p:spPr>
          <a:xfrm>
            <a:off x="566928" y="1614917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章節目錄</a:t>
            </a:r>
            <a:endParaRPr sz="3200"/>
          </a:p>
        </p:txBody>
      </p:sp>
      <p:cxnSp>
        <p:nvCxnSpPr>
          <p:cNvPr id="323" name="Google Shape;323;g3f52123c504_0_119"/>
          <p:cNvCxnSpPr/>
          <p:nvPr/>
        </p:nvCxnSpPr>
        <p:spPr>
          <a:xfrm>
            <a:off x="566928" y="2395728"/>
            <a:ext cx="813810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4" name="Google Shape;324;g3f52123c504_0_119"/>
          <p:cNvCxnSpPr/>
          <p:nvPr/>
        </p:nvCxnSpPr>
        <p:spPr>
          <a:xfrm>
            <a:off x="566928" y="239572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5" name="Google Shape;325;g3f52123c504_0_119"/>
          <p:cNvSpPr/>
          <p:nvPr/>
        </p:nvSpPr>
        <p:spPr>
          <a:xfrm>
            <a:off x="8668512" y="2350008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g3f52123c504_0_119"/>
          <p:cNvSpPr/>
          <p:nvPr/>
        </p:nvSpPr>
        <p:spPr>
          <a:xfrm>
            <a:off x="566928" y="2951807"/>
            <a:ext cx="3996000" cy="1408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g3f52123c504_0_119"/>
          <p:cNvSpPr/>
          <p:nvPr/>
        </p:nvSpPr>
        <p:spPr>
          <a:xfrm>
            <a:off x="786384" y="3189551"/>
            <a:ext cx="567000" cy="2925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g3f52123c504_0_119"/>
          <p:cNvSpPr txBox="1"/>
          <p:nvPr/>
        </p:nvSpPr>
        <p:spPr>
          <a:xfrm>
            <a:off x="786384" y="323718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29" name="Google Shape;329;g3f52123c504_0_119"/>
          <p:cNvSpPr txBox="1"/>
          <p:nvPr/>
        </p:nvSpPr>
        <p:spPr>
          <a:xfrm>
            <a:off x="1499616" y="3189551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任務背景</a:t>
            </a:r>
            <a:endParaRPr/>
          </a:p>
        </p:txBody>
      </p:sp>
      <p:sp>
        <p:nvSpPr>
          <p:cNvPr id="330" name="Google Shape;330;g3f52123c504_0_119"/>
          <p:cNvSpPr txBox="1"/>
          <p:nvPr/>
        </p:nvSpPr>
        <p:spPr>
          <a:xfrm>
            <a:off x="786384" y="3646751"/>
            <a:ext cx="356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從 SA 的工作痛點出發，說明為什麼要實測 AI 產流程圖。</a:t>
            </a:r>
            <a:endParaRPr/>
          </a:p>
        </p:txBody>
      </p:sp>
      <p:sp>
        <p:nvSpPr>
          <p:cNvPr id="331" name="Google Shape;331;g3f52123c504_0_119"/>
          <p:cNvSpPr/>
          <p:nvPr/>
        </p:nvSpPr>
        <p:spPr>
          <a:xfrm>
            <a:off x="4718304" y="2951807"/>
            <a:ext cx="3996000" cy="1408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g3f52123c504_0_119"/>
          <p:cNvSpPr/>
          <p:nvPr/>
        </p:nvSpPr>
        <p:spPr>
          <a:xfrm>
            <a:off x="4937760" y="3189551"/>
            <a:ext cx="567000" cy="2925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g3f52123c504_0_119"/>
          <p:cNvSpPr txBox="1"/>
          <p:nvPr/>
        </p:nvSpPr>
        <p:spPr>
          <a:xfrm>
            <a:off x="4937760" y="323718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A87B1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34" name="Google Shape;334;g3f52123c504_0_119"/>
          <p:cNvSpPr txBox="1"/>
          <p:nvPr/>
        </p:nvSpPr>
        <p:spPr>
          <a:xfrm>
            <a:off x="5650992" y="3189551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Prompt 與操作流程</a:t>
            </a:r>
            <a:endParaRPr/>
          </a:p>
        </p:txBody>
      </p:sp>
      <p:sp>
        <p:nvSpPr>
          <p:cNvPr id="335" name="Google Shape;335;g3f52123c504_0_119"/>
          <p:cNvSpPr txBox="1"/>
          <p:nvPr/>
        </p:nvSpPr>
        <p:spPr>
          <a:xfrm>
            <a:off x="4937750" y="3646745"/>
            <a:ext cx="356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拆解 Task Prompt、Skill、Fable 5、draw.io MCP 與人工檢查</a:t>
            </a:r>
            <a:endParaRPr sz="1200">
              <a:solidFill>
                <a:srgbClr val="837B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g3f52123c504_0_119"/>
          <p:cNvSpPr/>
          <p:nvPr/>
        </p:nvSpPr>
        <p:spPr>
          <a:xfrm>
            <a:off x="566928" y="4754880"/>
            <a:ext cx="3996000" cy="1408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g3f52123c504_0_119"/>
          <p:cNvSpPr/>
          <p:nvPr/>
        </p:nvSpPr>
        <p:spPr>
          <a:xfrm>
            <a:off x="786384" y="4992624"/>
            <a:ext cx="567000" cy="2925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g3f52123c504_0_119"/>
          <p:cNvSpPr txBox="1"/>
          <p:nvPr/>
        </p:nvSpPr>
        <p:spPr>
          <a:xfrm>
            <a:off x="786384" y="5037046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39" name="Google Shape;339;g3f52123c504_0_119"/>
          <p:cNvSpPr txBox="1"/>
          <p:nvPr/>
        </p:nvSpPr>
        <p:spPr>
          <a:xfrm>
            <a:off x="1499616" y="4992624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實測結果</a:t>
            </a:r>
            <a:endParaRPr/>
          </a:p>
        </p:txBody>
      </p:sp>
      <p:sp>
        <p:nvSpPr>
          <p:cNvPr id="340" name="Google Shape;340;g3f52123c504_0_119"/>
          <p:cNvSpPr txBox="1"/>
          <p:nvPr/>
        </p:nvSpPr>
        <p:spPr>
          <a:xfrm>
            <a:off x="786384" y="5449824"/>
            <a:ext cx="356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呈現 AI 原始輸出與人工修改成果的對照，並分析時間效益、模型的優點與限制</a:t>
            </a:r>
            <a:endParaRPr/>
          </a:p>
        </p:txBody>
      </p:sp>
      <p:sp>
        <p:nvSpPr>
          <p:cNvPr id="341" name="Google Shape;341;g3f52123c504_0_119"/>
          <p:cNvSpPr/>
          <p:nvPr/>
        </p:nvSpPr>
        <p:spPr>
          <a:xfrm>
            <a:off x="4718304" y="4754880"/>
            <a:ext cx="3996000" cy="1408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g3f52123c504_0_119"/>
          <p:cNvSpPr/>
          <p:nvPr/>
        </p:nvSpPr>
        <p:spPr>
          <a:xfrm>
            <a:off x="4937760" y="4992624"/>
            <a:ext cx="567000" cy="2925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g3f52123c504_0_119"/>
          <p:cNvSpPr txBox="1"/>
          <p:nvPr/>
        </p:nvSpPr>
        <p:spPr>
          <a:xfrm>
            <a:off x="4937760" y="5037046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A87B1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44" name="Google Shape;344;g3f52123c504_0_119"/>
          <p:cNvSpPr txBox="1"/>
          <p:nvPr/>
        </p:nvSpPr>
        <p:spPr>
          <a:xfrm>
            <a:off x="5650992" y="5002650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適用邊界與學習</a:t>
            </a:r>
            <a:endParaRPr/>
          </a:p>
        </p:txBody>
      </p:sp>
      <p:sp>
        <p:nvSpPr>
          <p:cNvPr id="345" name="Google Shape;345;g3f52123c504_0_119"/>
          <p:cNvSpPr txBox="1"/>
          <p:nvPr/>
        </p:nvSpPr>
        <p:spPr>
          <a:xfrm>
            <a:off x="4937760" y="5449824"/>
            <a:ext cx="356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討論</a:t>
            </a:r>
            <a:r>
              <a:rPr b="0"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推薦與不推薦對象，以及失敗</a:t>
            </a: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情境</a:t>
            </a:r>
            <a:r>
              <a:rPr b="0"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帶來的學習。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4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4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p4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4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4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4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1" name="Google Shape;361;p4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4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3" name="Google Shape;363;p4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4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5" name="Google Shape;365;p4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4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4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4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4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4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" name="Google Shape;372;p4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3" name="Google Shape;373;p4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4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4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4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4" name="Google Shape;434;p4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4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4"/>
          <p:cNvSpPr/>
          <p:nvPr/>
        </p:nvSpPr>
        <p:spPr>
          <a:xfrm>
            <a:off x="566928" y="1353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63D"/>
              </a:buClr>
              <a:buSzPts val="1220"/>
              <a:buFont typeface="Noto Sans"/>
              <a:buNone/>
            </a:pPr>
            <a:r>
              <a:rPr b="1" lang="en-US" sz="142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任務背景</a:t>
            </a:r>
            <a:endParaRPr sz="14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7" name="Google Shape;437;p4"/>
          <p:cNvSpPr/>
          <p:nvPr/>
        </p:nvSpPr>
        <p:spPr>
          <a:xfrm>
            <a:off x="566928" y="1700784"/>
            <a:ext cx="4754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2500"/>
              <a:buFont typeface="Arial"/>
              <a:buNone/>
            </a:pPr>
            <a:r>
              <a:rPr b="1" lang="en-US" sz="3200">
                <a:solidFill>
                  <a:srgbClr val="1F232B"/>
                </a:solidFill>
              </a:rPr>
              <a:t>關於我與工作痛點</a:t>
            </a:r>
            <a:endParaRPr sz="3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8" name="Google Shape;438;p4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139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4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54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4"/>
          <p:cNvSpPr/>
          <p:nvPr/>
        </p:nvSpPr>
        <p:spPr>
          <a:xfrm>
            <a:off x="8668512" y="2446020"/>
            <a:ext cx="82296" cy="8229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"/>
          <p:cNvSpPr/>
          <p:nvPr/>
        </p:nvSpPr>
        <p:spPr>
          <a:xfrm>
            <a:off x="568195" y="2762784"/>
            <a:ext cx="1833000" cy="2442900"/>
          </a:xfrm>
          <a:prstGeom prst="roundRect">
            <a:avLst>
              <a:gd fmla="val 381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"/>
          <p:cNvSpPr/>
          <p:nvPr/>
        </p:nvSpPr>
        <p:spPr>
          <a:xfrm>
            <a:off x="732789" y="2909076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關於我</a:t>
            </a:r>
            <a:endParaRPr sz="13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3" name="Google Shape;443;p4"/>
          <p:cNvSpPr/>
          <p:nvPr/>
        </p:nvSpPr>
        <p:spPr>
          <a:xfrm>
            <a:off x="732789" y="3247404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1220"/>
              <a:buFont typeface="Noto Sans"/>
              <a:buNone/>
            </a:pPr>
            <a:r>
              <a:rPr lang="en-US" sz="122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金融業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4"/>
          <p:cNvSpPr/>
          <p:nvPr/>
        </p:nvSpPr>
        <p:spPr>
          <a:xfrm>
            <a:off x="732789" y="3527248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系統分析師（SA）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45" name="Google Shape;445;p4"/>
          <p:cNvCxnSpPr/>
          <p:nvPr/>
        </p:nvCxnSpPr>
        <p:spPr>
          <a:xfrm>
            <a:off x="732789" y="3836938"/>
            <a:ext cx="1408200" cy="0"/>
          </a:xfrm>
          <a:prstGeom prst="straightConnector1">
            <a:avLst/>
          </a:prstGeom>
          <a:noFill/>
          <a:ln cap="flat" cmpd="sng" w="10150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4"/>
          <p:cNvSpPr/>
          <p:nvPr/>
        </p:nvSpPr>
        <p:spPr>
          <a:xfrm>
            <a:off x="732789" y="4002736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20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主要職責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4"/>
          <p:cNvSpPr/>
          <p:nvPr/>
        </p:nvSpPr>
        <p:spPr>
          <a:xfrm>
            <a:off x="769365" y="4384144"/>
            <a:ext cx="36600" cy="36600"/>
          </a:xfrm>
          <a:prstGeom prst="ellipse">
            <a:avLst/>
          </a:prstGeom>
          <a:solidFill>
            <a:srgbClr val="C4463D"/>
          </a:solidFill>
          <a:ln cap="flat" cmpd="sng" w="95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"/>
          <p:cNvSpPr/>
          <p:nvPr/>
        </p:nvSpPr>
        <p:spPr>
          <a:xfrm>
            <a:off x="860805" y="4311593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1080"/>
              <a:buFont typeface="Noto Sans"/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需求訪談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49" name="Google Shape;449;p4"/>
          <p:cNvGrpSpPr/>
          <p:nvPr/>
        </p:nvGrpSpPr>
        <p:grpSpPr>
          <a:xfrm>
            <a:off x="762657" y="4597396"/>
            <a:ext cx="1097340" cy="164700"/>
            <a:chOff x="896112" y="4575990"/>
            <a:chExt cx="1097340" cy="164700"/>
          </a:xfrm>
        </p:grpSpPr>
        <p:sp>
          <p:nvSpPr>
            <p:cNvPr id="450" name="Google Shape;450;p4"/>
            <p:cNvSpPr/>
            <p:nvPr/>
          </p:nvSpPr>
          <p:spPr>
            <a:xfrm>
              <a:off x="896112" y="4651882"/>
              <a:ext cx="36600" cy="36600"/>
            </a:xfrm>
            <a:prstGeom prst="ellipse">
              <a:avLst/>
            </a:prstGeom>
            <a:solidFill>
              <a:srgbClr val="D8A530"/>
            </a:solidFill>
            <a:ln cap="flat" cmpd="sng" w="9525">
              <a:solidFill>
                <a:srgbClr val="D8A5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987552" y="4575990"/>
              <a:ext cx="10059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37B73"/>
                </a:buClr>
                <a:buSzPts val="1080"/>
                <a:buFont typeface="Noto Sans"/>
                <a:buNone/>
              </a:pPr>
              <a:r>
                <a:rPr lang="en-US" sz="1200">
                  <a:solidFill>
                    <a:srgbClr val="837B73"/>
                  </a:solidFill>
                  <a:latin typeface="Noto Sans"/>
                  <a:ea typeface="Noto Sans"/>
                  <a:cs typeface="Noto Sans"/>
                  <a:sym typeface="Noto Sans"/>
                </a:rPr>
                <a:t>流程圖繪製</a:t>
              </a:r>
              <a:endPara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452" name="Google Shape;452;p4"/>
          <p:cNvGrpSpPr/>
          <p:nvPr/>
        </p:nvGrpSpPr>
        <p:grpSpPr>
          <a:xfrm>
            <a:off x="769365" y="4892158"/>
            <a:ext cx="1097340" cy="164700"/>
            <a:chOff x="896112" y="4890874"/>
            <a:chExt cx="1097340" cy="164700"/>
          </a:xfrm>
        </p:grpSpPr>
        <p:sp>
          <p:nvSpPr>
            <p:cNvPr id="453" name="Google Shape;453;p4"/>
            <p:cNvSpPr/>
            <p:nvPr/>
          </p:nvSpPr>
          <p:spPr>
            <a:xfrm>
              <a:off x="896112" y="4950010"/>
              <a:ext cx="36600" cy="36600"/>
            </a:xfrm>
            <a:prstGeom prst="ellipse">
              <a:avLst/>
            </a:prstGeom>
            <a:solidFill>
              <a:srgbClr val="C4463D"/>
            </a:solidFill>
            <a:ln cap="flat" cmpd="sng" w="9525">
              <a:solidFill>
                <a:srgbClr val="C44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987552" y="4890874"/>
              <a:ext cx="10059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37B73"/>
                </a:buClr>
                <a:buSzPts val="1080"/>
                <a:buFont typeface="Noto Sans"/>
                <a:buNone/>
              </a:pPr>
              <a:r>
                <a:rPr lang="en-US" sz="1200">
                  <a:solidFill>
                    <a:srgbClr val="837B73"/>
                  </a:solidFill>
                  <a:latin typeface="Noto Sans"/>
                  <a:ea typeface="Noto Sans"/>
                  <a:cs typeface="Noto Sans"/>
                  <a:sym typeface="Noto Sans"/>
                </a:rPr>
                <a:t>PRD 撰寫</a:t>
              </a:r>
              <a:endPara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455" name="Google Shape;455;p4"/>
          <p:cNvSpPr/>
          <p:nvPr/>
        </p:nvSpPr>
        <p:spPr>
          <a:xfrm>
            <a:off x="2663796" y="3241191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63D"/>
              </a:buClr>
              <a:buSzPts val="1060"/>
              <a:buFont typeface="Arial"/>
              <a:buNone/>
            </a:pPr>
            <a:r>
              <a:rPr b="1" lang="en-US" sz="12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6" name="Google Shape;456;p4"/>
          <p:cNvSpPr/>
          <p:nvPr/>
        </p:nvSpPr>
        <p:spPr>
          <a:xfrm>
            <a:off x="3029556" y="3222903"/>
            <a:ext cx="1737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5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初版流程建構難度高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4931801" y="3222903"/>
            <a:ext cx="367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950"/>
              <a:buFont typeface="Noto Sans"/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將訪談內容、需求文件與口頭討論轉化為邏輯清楚的初版流程圖，是最耗費心力的階段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58" name="Google Shape;458;p4"/>
          <p:cNvCxnSpPr/>
          <p:nvPr/>
        </p:nvCxnSpPr>
        <p:spPr>
          <a:xfrm>
            <a:off x="3127248" y="3649649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4"/>
          <p:cNvSpPr/>
          <p:nvPr/>
        </p:nvSpPr>
        <p:spPr>
          <a:xfrm>
            <a:off x="2663796" y="3918653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A530"/>
              </a:buClr>
              <a:buSzPts val="1060"/>
              <a:buFont typeface="Arial"/>
              <a:buNone/>
            </a:pPr>
            <a:r>
              <a:rPr b="1" lang="en-US" sz="12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0" name="Google Shape;460;p4"/>
          <p:cNvSpPr/>
          <p:nvPr/>
        </p:nvSpPr>
        <p:spPr>
          <a:xfrm>
            <a:off x="3029556" y="3900365"/>
            <a:ext cx="1737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5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手動繪製耗時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p4"/>
          <p:cNvSpPr/>
          <p:nvPr/>
        </p:nvSpPr>
        <p:spPr>
          <a:xfrm>
            <a:off x="4907378" y="3900365"/>
            <a:ext cx="367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950"/>
              <a:buFont typeface="Noto Sans"/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節點建立、連線、版面配置與格式調整占用大量時間，減少了可投入流程分析與需求再討論的時間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2" name="Google Shape;462;p4"/>
          <p:cNvCxnSpPr/>
          <p:nvPr/>
        </p:nvCxnSpPr>
        <p:spPr>
          <a:xfrm>
            <a:off x="3127248" y="4356827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4"/>
          <p:cNvSpPr/>
          <p:nvPr/>
        </p:nvSpPr>
        <p:spPr>
          <a:xfrm>
            <a:off x="2663796" y="4668135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63D"/>
              </a:buClr>
              <a:buSzPts val="1060"/>
              <a:buFont typeface="Arial"/>
              <a:buNone/>
            </a:pPr>
            <a:r>
              <a:rPr b="1" lang="en-US" sz="12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4" name="Google Shape;464;p4"/>
          <p:cNvSpPr/>
          <p:nvPr/>
        </p:nvSpPr>
        <p:spPr>
          <a:xfrm>
            <a:off x="3029556" y="4649847"/>
            <a:ext cx="1737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5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複雜流程品質風險高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4"/>
          <p:cNvSpPr/>
          <p:nvPr/>
        </p:nvSpPr>
        <p:spPr>
          <a:xfrm>
            <a:off x="4896315" y="4649847"/>
            <a:ext cx="367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950"/>
              <a:buFont typeface="Noto Sans"/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當流程涉及多個角色、系統與判斷條件時，容易遺漏流程分支、例外情境或關聯關係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6" name="Google Shape;466;p4"/>
          <p:cNvCxnSpPr/>
          <p:nvPr/>
        </p:nvCxnSpPr>
        <p:spPr>
          <a:xfrm>
            <a:off x="3127248" y="5147120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4"/>
          <p:cNvSpPr/>
          <p:nvPr/>
        </p:nvSpPr>
        <p:spPr>
          <a:xfrm>
            <a:off x="2663796" y="5428335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A530"/>
              </a:buClr>
              <a:buSzPts val="1060"/>
              <a:buFont typeface="Arial"/>
              <a:buNone/>
            </a:pPr>
            <a:r>
              <a:rPr b="1" lang="en-US" sz="12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8" name="Google Shape;468;p4"/>
          <p:cNvSpPr/>
          <p:nvPr/>
        </p:nvSpPr>
        <p:spPr>
          <a:xfrm>
            <a:off x="3029556" y="5410047"/>
            <a:ext cx="1737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5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流程調整成本高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9" name="Google Shape;469;p4"/>
          <p:cNvSpPr/>
          <p:nvPr/>
        </p:nvSpPr>
        <p:spPr>
          <a:xfrm>
            <a:off x="4896315" y="5410047"/>
            <a:ext cx="367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950"/>
              <a:buFont typeface="Noto Sans"/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需求變更時，往往需同步調整多個節點與連線，影響範圍廣，且修改費時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70" name="Google Shape;470;p4"/>
          <p:cNvCxnSpPr/>
          <p:nvPr/>
        </p:nvCxnSpPr>
        <p:spPr>
          <a:xfrm>
            <a:off x="3127273" y="5873573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4"/>
          <p:cNvSpPr/>
          <p:nvPr/>
        </p:nvSpPr>
        <p:spPr>
          <a:xfrm>
            <a:off x="2663796" y="6132264"/>
            <a:ext cx="31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63D"/>
              </a:buClr>
              <a:buSzPts val="1060"/>
              <a:buFont typeface="Arial"/>
              <a:buNone/>
            </a:pPr>
            <a:r>
              <a:rPr b="1" lang="en-US" sz="12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2" name="Google Shape;472;p4"/>
          <p:cNvSpPr/>
          <p:nvPr/>
        </p:nvSpPr>
        <p:spPr>
          <a:xfrm>
            <a:off x="3029556" y="6113976"/>
            <a:ext cx="1737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50"/>
              <a:buFont typeface="Noto Sans"/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 產圖仍需重新核對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4"/>
          <p:cNvSpPr/>
          <p:nvPr/>
        </p:nvSpPr>
        <p:spPr>
          <a:xfrm>
            <a:off x="4866250" y="5983223"/>
            <a:ext cx="3675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7B73"/>
              </a:buClr>
              <a:buSzPts val="950"/>
              <a:buFont typeface="Noto Sans"/>
              <a:buNone/>
            </a:pPr>
            <a:r>
              <a:rPr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AI 雖可協助產圖，但在缺乏規格文件參考與制約下，產出結果容易發散，使用者仍須花費大量時間核對整體流程圖內容是否正確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4"/>
          <p:cNvSpPr txBox="1"/>
          <p:nvPr/>
        </p:nvSpPr>
        <p:spPr>
          <a:xfrm>
            <a:off x="2663800" y="2623125"/>
            <a:ext cx="427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繪製流程圖時遇到的痛點</a:t>
            </a:r>
            <a:r>
              <a:rPr lang="en-US" sz="1200">
                <a:solidFill>
                  <a:schemeClr val="dk1"/>
                </a:solidFill>
              </a:rPr>
              <a:t>（</a:t>
            </a:r>
            <a:r>
              <a:rPr lang="en-US" sz="1200">
                <a:solidFill>
                  <a:schemeClr val="dk1"/>
                </a:solidFill>
              </a:rPr>
              <a:t>繪圖工具：draw.io</a:t>
            </a:r>
            <a:r>
              <a:rPr lang="en-US" sz="1200">
                <a:solidFill>
                  <a:schemeClr val="dk1"/>
                </a:solidFill>
              </a:rPr>
              <a:t>）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52123c504_1_0"/>
          <p:cNvSpPr/>
          <p:nvPr/>
        </p:nvSpPr>
        <p:spPr>
          <a:xfrm>
            <a:off x="9235440" y="0"/>
            <a:ext cx="2953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g3f52123c504_1_0"/>
          <p:cNvSpPr/>
          <p:nvPr/>
        </p:nvSpPr>
        <p:spPr>
          <a:xfrm>
            <a:off x="9253728" y="0"/>
            <a:ext cx="29169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82" name="Google Shape;482;g3f52123c504_1_0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g3f52123c504_1_0"/>
          <p:cNvSpPr/>
          <p:nvPr/>
        </p:nvSpPr>
        <p:spPr>
          <a:xfrm>
            <a:off x="9125712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4" name="Google Shape;484;g3f52123c504_1_0"/>
          <p:cNvSpPr/>
          <p:nvPr/>
        </p:nvSpPr>
        <p:spPr>
          <a:xfrm>
            <a:off x="9180576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g3f52123c504_1_0"/>
          <p:cNvSpPr/>
          <p:nvPr/>
        </p:nvSpPr>
        <p:spPr>
          <a:xfrm>
            <a:off x="10195560" y="502920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86" name="Google Shape;486;g3f52123c504_1_0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g3f52123c504_1_0"/>
          <p:cNvSpPr/>
          <p:nvPr/>
        </p:nvSpPr>
        <p:spPr>
          <a:xfrm>
            <a:off x="9966960" y="1417320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88" name="Google Shape;488;g3f52123c504_1_0"/>
          <p:cNvCxnSpPr/>
          <p:nvPr/>
        </p:nvCxnSpPr>
        <p:spPr>
          <a:xfrm>
            <a:off x="10305288" y="1856232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9" name="Google Shape;489;g3f52123c504_1_0"/>
          <p:cNvSpPr/>
          <p:nvPr/>
        </p:nvSpPr>
        <p:spPr>
          <a:xfrm>
            <a:off x="10076688" y="2587752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0" name="Google Shape;490;g3f52123c504_1_0"/>
          <p:cNvCxnSpPr/>
          <p:nvPr/>
        </p:nvCxnSpPr>
        <p:spPr>
          <a:xfrm>
            <a:off x="10314432" y="3063240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1" name="Google Shape;491;g3f52123c504_1_0"/>
          <p:cNvSpPr/>
          <p:nvPr/>
        </p:nvSpPr>
        <p:spPr>
          <a:xfrm>
            <a:off x="9985248" y="3840480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2" name="Google Shape;492;g3f52123c504_1_0"/>
          <p:cNvCxnSpPr/>
          <p:nvPr/>
        </p:nvCxnSpPr>
        <p:spPr>
          <a:xfrm>
            <a:off x="10323576" y="4352544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g3f52123c504_1_0"/>
          <p:cNvSpPr/>
          <p:nvPr/>
        </p:nvSpPr>
        <p:spPr>
          <a:xfrm>
            <a:off x="10195560" y="5330952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4" name="Google Shape;494;g3f52123c504_1_0"/>
          <p:cNvCxnSpPr/>
          <p:nvPr/>
        </p:nvCxnSpPr>
        <p:spPr>
          <a:xfrm>
            <a:off x="10561320" y="1636776"/>
            <a:ext cx="347400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g3f52123c504_1_0"/>
          <p:cNvSpPr/>
          <p:nvPr/>
        </p:nvSpPr>
        <p:spPr>
          <a:xfrm>
            <a:off x="10579608" y="1636776"/>
            <a:ext cx="347400" cy="118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6" name="Google Shape;496;g3f52123c504_1_0"/>
          <p:cNvCxnSpPr/>
          <p:nvPr/>
        </p:nvCxnSpPr>
        <p:spPr>
          <a:xfrm>
            <a:off x="10908792" y="2816352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g3f52123c504_1_0"/>
          <p:cNvSpPr/>
          <p:nvPr/>
        </p:nvSpPr>
        <p:spPr>
          <a:xfrm>
            <a:off x="11420856" y="2651760"/>
            <a:ext cx="146400" cy="1464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8" name="Google Shape;498;g3f52123c504_1_0"/>
          <p:cNvSpPr/>
          <p:nvPr/>
        </p:nvSpPr>
        <p:spPr>
          <a:xfrm>
            <a:off x="11676888" y="2331720"/>
            <a:ext cx="438900" cy="512100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9" name="Google Shape;499;g3f52123c504_1_0"/>
          <p:cNvCxnSpPr/>
          <p:nvPr/>
        </p:nvCxnSpPr>
        <p:spPr>
          <a:xfrm>
            <a:off x="11494008" y="2798064"/>
            <a:ext cx="0" cy="173730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g3f52123c504_1_0"/>
          <p:cNvCxnSpPr/>
          <p:nvPr/>
        </p:nvCxnSpPr>
        <p:spPr>
          <a:xfrm rot="10800000">
            <a:off x="10963608" y="4535424"/>
            <a:ext cx="530400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1" name="Google Shape;501;g3f52123c504_1_0"/>
          <p:cNvSpPr/>
          <p:nvPr/>
        </p:nvSpPr>
        <p:spPr>
          <a:xfrm>
            <a:off x="10872216" y="4864608"/>
            <a:ext cx="54900" cy="54900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02" name="Google Shape;502;g3f52123c504_1_0"/>
          <p:cNvCxnSpPr/>
          <p:nvPr/>
        </p:nvCxnSpPr>
        <p:spPr>
          <a:xfrm>
            <a:off x="10890504" y="4892040"/>
            <a:ext cx="0" cy="384000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g3f52123c504_1_0"/>
          <p:cNvCxnSpPr/>
          <p:nvPr/>
        </p:nvCxnSpPr>
        <p:spPr>
          <a:xfrm>
            <a:off x="10890504" y="5276088"/>
            <a:ext cx="859500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g3f52123c504_1_0"/>
          <p:cNvSpPr/>
          <p:nvPr/>
        </p:nvSpPr>
        <p:spPr>
          <a:xfrm>
            <a:off x="11713464" y="5157216"/>
            <a:ext cx="128100" cy="1281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5" name="Google Shape;505;g3f52123c504_1_0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6" name="Google Shape;506;g3f52123c504_1_0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g3f52123c504_1_0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8" name="Google Shape;508;g3f52123c504_1_0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g3f52123c504_1_0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g3f52123c504_1_0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1" name="Google Shape;511;g3f52123c504_1_0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g3f52123c504_1_0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g3f52123c504_1_0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4" name="Google Shape;514;g3f52123c504_1_0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5" name="Google Shape;515;g3f52123c504_1_0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6" name="Google Shape;516;g3f52123c504_1_0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g3f52123c504_1_0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g3f52123c504_1_0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g3f52123c504_1_0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g3f52123c504_1_0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g3f52123c504_1_0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g3f52123c504_1_0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3" name="Google Shape;523;g3f52123c504_1_0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g3f52123c504_1_0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5" name="Google Shape;525;g3f52123c504_1_0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g3f52123c504_1_0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7" name="Google Shape;527;g3f52123c504_1_0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g3f52123c504_1_0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9" name="Google Shape;529;g3f52123c504_1_0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g3f52123c504_1_0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1" name="Google Shape;531;g3f52123c504_1_0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2" name="Google Shape;532;g3f52123c504_1_0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3" name="Google Shape;533;g3f52123c504_1_0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4" name="Google Shape;534;g3f52123c504_1_0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5" name="Google Shape;535;g3f52123c504_1_0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6" name="Google Shape;536;g3f52123c504_1_0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7" name="Google Shape;537;g3f52123c504_1_0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8" name="Google Shape;538;g3f52123c504_1_0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9" name="Google Shape;539;g3f52123c504_1_0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0" name="Google Shape;540;g3f52123c504_1_0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1" name="Google Shape;541;g3f52123c504_1_0"/>
          <p:cNvSpPr/>
          <p:nvPr/>
        </p:nvSpPr>
        <p:spPr>
          <a:xfrm>
            <a:off x="10936224" y="5303520"/>
            <a:ext cx="1079100" cy="1134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2" name="Google Shape;542;g3f52123c504_1_0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3" name="Google Shape;543;g3f52123c504_1_0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g3f52123c504_1_0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5" name="Google Shape;545;g3f52123c504_1_0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g3f52123c504_1_0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7" name="Google Shape;547;g3f52123c504_1_0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8" name="Google Shape;548;g3f52123c504_1_0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9" name="Google Shape;549;g3f52123c504_1_0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0" name="Google Shape;550;g3f52123c504_1_0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1" name="Google Shape;551;g3f52123c504_1_0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2" name="Google Shape;552;g3f52123c504_1_0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3" name="Google Shape;553;g3f52123c504_1_0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4" name="Google Shape;554;g3f52123c504_1_0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5" name="Google Shape;555;g3f52123c504_1_0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g3f52123c504_1_0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g3f52123c504_1_0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8" name="Google Shape;558;g3f52123c504_1_0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9" name="Google Shape;559;g3f52123c504_1_0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0" name="Google Shape;560;g3f52123c504_1_0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1" name="Google Shape;561;g3f52123c504_1_0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2" name="Google Shape;562;g3f52123c504_1_0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63" name="Google Shape;563;g3f52123c504_1_0"/>
          <p:cNvCxnSpPr/>
          <p:nvPr/>
        </p:nvCxnSpPr>
        <p:spPr>
          <a:xfrm>
            <a:off x="713232" y="566928"/>
            <a:ext cx="0" cy="255900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g3f52123c504_1_0"/>
          <p:cNvSpPr/>
          <p:nvPr/>
        </p:nvSpPr>
        <p:spPr>
          <a:xfrm>
            <a:off x="950976" y="530352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5" name="Google Shape;565;g3f52123c504_1_0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任務背景</a:t>
            </a:r>
            <a:endParaRPr b="1">
              <a:solidFill>
                <a:srgbClr val="C4463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6" name="Google Shape;566;g3f52123c504_1_0"/>
          <p:cNvSpPr txBox="1"/>
          <p:nvPr/>
        </p:nvSpPr>
        <p:spPr>
          <a:xfrm>
            <a:off x="571578" y="1809300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</a:rPr>
              <a:t>為什麼選擇 draw.io 及其 MCP？</a:t>
            </a:r>
            <a:endParaRPr sz="3200"/>
          </a:p>
        </p:txBody>
      </p:sp>
      <p:cxnSp>
        <p:nvCxnSpPr>
          <p:cNvPr id="567" name="Google Shape;567;g3f52123c504_1_0"/>
          <p:cNvCxnSpPr/>
          <p:nvPr/>
        </p:nvCxnSpPr>
        <p:spPr>
          <a:xfrm>
            <a:off x="566928" y="2487168"/>
            <a:ext cx="813810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68" name="Google Shape;568;g3f52123c504_1_0"/>
          <p:cNvCxnSpPr/>
          <p:nvPr/>
        </p:nvCxnSpPr>
        <p:spPr>
          <a:xfrm>
            <a:off x="566928" y="24871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9" name="Google Shape;569;g3f52123c504_1_0"/>
          <p:cNvSpPr/>
          <p:nvPr/>
        </p:nvSpPr>
        <p:spPr>
          <a:xfrm>
            <a:off x="8668512" y="2441448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0" name="Google Shape;570;g3f52123c504_1_0"/>
          <p:cNvSpPr/>
          <p:nvPr/>
        </p:nvSpPr>
        <p:spPr>
          <a:xfrm>
            <a:off x="566925" y="2812425"/>
            <a:ext cx="8147400" cy="37935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g3f52123c504_1_0"/>
          <p:cNvSpPr txBox="1"/>
          <p:nvPr/>
        </p:nvSpPr>
        <p:spPr>
          <a:xfrm>
            <a:off x="786384" y="3016778"/>
            <a:ext cx="31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"/>
          </a:p>
        </p:txBody>
      </p:sp>
      <p:sp>
        <p:nvSpPr>
          <p:cNvPr id="572" name="Google Shape;572;g3f52123c504_1_0"/>
          <p:cNvSpPr txBox="1"/>
          <p:nvPr/>
        </p:nvSpPr>
        <p:spPr>
          <a:xfrm>
            <a:off x="1170432" y="3007635"/>
            <a:ext cx="2423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符合團隊協作方式</a:t>
            </a:r>
            <a:endParaRPr sz="1300"/>
          </a:p>
        </p:txBody>
      </p:sp>
      <p:sp>
        <p:nvSpPr>
          <p:cNvPr id="573" name="Google Shape;573;g3f52123c504_1_0"/>
          <p:cNvSpPr txBox="1"/>
          <p:nvPr/>
        </p:nvSpPr>
        <p:spPr>
          <a:xfrm>
            <a:off x="3675887" y="2985546"/>
            <a:ext cx="48462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團隊成員與 BU 在流程圖的繪製、確認與後續維護過程中，需要進行大量協作溝通。draw.io 支援多人共同編輯，且各角色皆可直接調整節點、線條與版面配置，能降低來回溝通與檔案交接的成本，因此選擇作為流程圖的主要製作與維護工具</a:t>
            </a:r>
            <a:endParaRPr sz="1100"/>
          </a:p>
        </p:txBody>
      </p:sp>
      <p:cxnSp>
        <p:nvCxnSpPr>
          <p:cNvPr id="574" name="Google Shape;574;g3f52123c504_1_0"/>
          <p:cNvCxnSpPr/>
          <p:nvPr/>
        </p:nvCxnSpPr>
        <p:spPr>
          <a:xfrm>
            <a:off x="1170432" y="4055739"/>
            <a:ext cx="73608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5" name="Google Shape;575;g3f52123c504_1_0"/>
          <p:cNvSpPr txBox="1"/>
          <p:nvPr/>
        </p:nvSpPr>
        <p:spPr>
          <a:xfrm>
            <a:off x="786384" y="4269529"/>
            <a:ext cx="31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200"/>
          </a:p>
        </p:txBody>
      </p:sp>
      <p:sp>
        <p:nvSpPr>
          <p:cNvPr id="576" name="Google Shape;576;g3f52123c504_1_0"/>
          <p:cNvSpPr txBox="1"/>
          <p:nvPr/>
        </p:nvSpPr>
        <p:spPr>
          <a:xfrm>
            <a:off x="1170432" y="4260385"/>
            <a:ext cx="2423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Mermaid 工具操作門檻較高</a:t>
            </a:r>
            <a:endParaRPr sz="1300"/>
          </a:p>
        </p:txBody>
      </p:sp>
      <p:sp>
        <p:nvSpPr>
          <p:cNvPr id="577" name="Google Shape;577;g3f52123c504_1_0"/>
          <p:cNvSpPr txBox="1"/>
          <p:nvPr/>
        </p:nvSpPr>
        <p:spPr>
          <a:xfrm>
            <a:off x="3675887" y="4246169"/>
            <a:ext cx="4846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Mermaid 主要透過語法生成與修改圖形，對不熟悉語法的使用者而言，操作較不直觀。即使僅需調整單一節點的文字、位置或連線，也必須回到程式碼中找到對應內容並修改，增加團隊成員與 BU 後續協作及維護的負擔</a:t>
            </a:r>
            <a:endParaRPr sz="1100"/>
          </a:p>
        </p:txBody>
      </p:sp>
      <p:cxnSp>
        <p:nvCxnSpPr>
          <p:cNvPr id="578" name="Google Shape;578;g3f52123c504_1_0"/>
          <p:cNvCxnSpPr/>
          <p:nvPr/>
        </p:nvCxnSpPr>
        <p:spPr>
          <a:xfrm>
            <a:off x="1097182" y="5172095"/>
            <a:ext cx="73608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9" name="Google Shape;579;g3f52123c504_1_0"/>
          <p:cNvSpPr txBox="1"/>
          <p:nvPr/>
        </p:nvSpPr>
        <p:spPr>
          <a:xfrm>
            <a:off x="786384" y="5445767"/>
            <a:ext cx="31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200"/>
          </a:p>
        </p:txBody>
      </p:sp>
      <p:sp>
        <p:nvSpPr>
          <p:cNvPr id="580" name="Google Shape;580;g3f52123c504_1_0"/>
          <p:cNvSpPr txBox="1"/>
          <p:nvPr/>
        </p:nvSpPr>
        <p:spPr>
          <a:xfrm>
            <a:off x="1170426" y="5426378"/>
            <a:ext cx="20559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draw.io MCP 提供兼顧 AI 生成與人工編修的新方案</a:t>
            </a:r>
            <a:endParaRPr sz="1300"/>
          </a:p>
        </p:txBody>
      </p:sp>
      <p:sp>
        <p:nvSpPr>
          <p:cNvPr id="581" name="Google Shape;581;g3f52123c504_1_0"/>
          <p:cNvSpPr txBox="1"/>
          <p:nvPr/>
        </p:nvSpPr>
        <p:spPr>
          <a:xfrm>
            <a:off x="3675887" y="5412165"/>
            <a:ext cx="48462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draw.io 官方於 2026 年 2 月推出 MCP 套件，使團隊有機會在延續既有協作工具與操作方式的前提下，導入 AI 流程分析與自動產圖。本次實測其是否能提升圖面生成效率，同時保留讓團隊成員與 BU 調整版面配置的彈性，降低工具轉換與後續維護成本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52123c504_1_379"/>
          <p:cNvSpPr/>
          <p:nvPr/>
        </p:nvSpPr>
        <p:spPr>
          <a:xfrm>
            <a:off x="9235440" y="0"/>
            <a:ext cx="2953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52123c504_1_379"/>
          <p:cNvSpPr/>
          <p:nvPr/>
        </p:nvSpPr>
        <p:spPr>
          <a:xfrm>
            <a:off x="9253728" y="0"/>
            <a:ext cx="29169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8" name="Google Shape;588;g3f52123c504_1_379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g3f52123c504_1_379"/>
          <p:cNvSpPr/>
          <p:nvPr/>
        </p:nvSpPr>
        <p:spPr>
          <a:xfrm>
            <a:off x="9125712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f52123c504_1_379"/>
          <p:cNvSpPr/>
          <p:nvPr/>
        </p:nvSpPr>
        <p:spPr>
          <a:xfrm>
            <a:off x="9180576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52123c504_1_379"/>
          <p:cNvSpPr/>
          <p:nvPr/>
        </p:nvSpPr>
        <p:spPr>
          <a:xfrm>
            <a:off x="10195560" y="502920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2" name="Google Shape;592;g3f52123c504_1_379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3" name="Google Shape;593;g3f52123c504_1_379"/>
          <p:cNvSpPr/>
          <p:nvPr/>
        </p:nvSpPr>
        <p:spPr>
          <a:xfrm>
            <a:off x="9966960" y="1417320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4" name="Google Shape;594;g3f52123c504_1_379"/>
          <p:cNvCxnSpPr/>
          <p:nvPr/>
        </p:nvCxnSpPr>
        <p:spPr>
          <a:xfrm>
            <a:off x="10305288" y="1856232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5" name="Google Shape;595;g3f52123c504_1_379"/>
          <p:cNvSpPr/>
          <p:nvPr/>
        </p:nvSpPr>
        <p:spPr>
          <a:xfrm>
            <a:off x="10076688" y="2587752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6" name="Google Shape;596;g3f52123c504_1_379"/>
          <p:cNvCxnSpPr/>
          <p:nvPr/>
        </p:nvCxnSpPr>
        <p:spPr>
          <a:xfrm>
            <a:off x="10314432" y="3063240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7" name="Google Shape;597;g3f52123c504_1_379"/>
          <p:cNvSpPr/>
          <p:nvPr/>
        </p:nvSpPr>
        <p:spPr>
          <a:xfrm>
            <a:off x="9985248" y="3840480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8" name="Google Shape;598;g3f52123c504_1_379"/>
          <p:cNvCxnSpPr/>
          <p:nvPr/>
        </p:nvCxnSpPr>
        <p:spPr>
          <a:xfrm>
            <a:off x="10323576" y="4352544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9" name="Google Shape;599;g3f52123c504_1_379"/>
          <p:cNvSpPr/>
          <p:nvPr/>
        </p:nvSpPr>
        <p:spPr>
          <a:xfrm>
            <a:off x="10195560" y="5330952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0" name="Google Shape;600;g3f52123c504_1_379"/>
          <p:cNvCxnSpPr/>
          <p:nvPr/>
        </p:nvCxnSpPr>
        <p:spPr>
          <a:xfrm>
            <a:off x="10561320" y="1636776"/>
            <a:ext cx="347400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g3f52123c504_1_379"/>
          <p:cNvSpPr/>
          <p:nvPr/>
        </p:nvSpPr>
        <p:spPr>
          <a:xfrm>
            <a:off x="10579608" y="1636776"/>
            <a:ext cx="347400" cy="118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2" name="Google Shape;602;g3f52123c504_1_379"/>
          <p:cNvCxnSpPr/>
          <p:nvPr/>
        </p:nvCxnSpPr>
        <p:spPr>
          <a:xfrm>
            <a:off x="10908792" y="2816352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g3f52123c504_1_379"/>
          <p:cNvSpPr/>
          <p:nvPr/>
        </p:nvSpPr>
        <p:spPr>
          <a:xfrm>
            <a:off x="11420856" y="2651760"/>
            <a:ext cx="146400" cy="1464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4" name="Google Shape;604;g3f52123c504_1_379"/>
          <p:cNvSpPr/>
          <p:nvPr/>
        </p:nvSpPr>
        <p:spPr>
          <a:xfrm>
            <a:off x="11676888" y="2331720"/>
            <a:ext cx="438900" cy="512100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05" name="Google Shape;605;g3f52123c504_1_379"/>
          <p:cNvCxnSpPr/>
          <p:nvPr/>
        </p:nvCxnSpPr>
        <p:spPr>
          <a:xfrm>
            <a:off x="11494008" y="2798064"/>
            <a:ext cx="0" cy="173730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g3f52123c504_1_379"/>
          <p:cNvCxnSpPr/>
          <p:nvPr/>
        </p:nvCxnSpPr>
        <p:spPr>
          <a:xfrm rot="10800000">
            <a:off x="10963608" y="4535424"/>
            <a:ext cx="530400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" name="Google Shape;607;g3f52123c504_1_379"/>
          <p:cNvSpPr/>
          <p:nvPr/>
        </p:nvSpPr>
        <p:spPr>
          <a:xfrm>
            <a:off x="10872216" y="4864608"/>
            <a:ext cx="54900" cy="54900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8" name="Google Shape;608;g3f52123c504_1_379"/>
          <p:cNvCxnSpPr/>
          <p:nvPr/>
        </p:nvCxnSpPr>
        <p:spPr>
          <a:xfrm>
            <a:off x="10890504" y="4892040"/>
            <a:ext cx="0" cy="384000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g3f52123c504_1_379"/>
          <p:cNvCxnSpPr/>
          <p:nvPr/>
        </p:nvCxnSpPr>
        <p:spPr>
          <a:xfrm>
            <a:off x="10890504" y="5276088"/>
            <a:ext cx="859500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g3f52123c504_1_379"/>
          <p:cNvSpPr/>
          <p:nvPr/>
        </p:nvSpPr>
        <p:spPr>
          <a:xfrm>
            <a:off x="11713464" y="5157216"/>
            <a:ext cx="128100" cy="1281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1" name="Google Shape;611;g3f52123c504_1_379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2" name="Google Shape;612;g3f52123c504_1_379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g3f52123c504_1_379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4" name="Google Shape;614;g3f52123c504_1_379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5" name="Google Shape;615;g3f52123c504_1_379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6" name="Google Shape;616;g3f52123c504_1_379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g3f52123c504_1_379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8" name="Google Shape;618;g3f52123c504_1_379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9" name="Google Shape;619;g3f52123c504_1_379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0" name="Google Shape;620;g3f52123c504_1_379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1" name="Google Shape;621;g3f52123c504_1_379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2" name="Google Shape;622;g3f52123c504_1_379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3" name="Google Shape;623;g3f52123c504_1_379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4" name="Google Shape;624;g3f52123c504_1_379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5" name="Google Shape;625;g3f52123c504_1_379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g3f52123c504_1_379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7" name="Google Shape;627;g3f52123c504_1_379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8" name="Google Shape;628;g3f52123c504_1_379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9" name="Google Shape;629;g3f52123c504_1_379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0" name="Google Shape;630;g3f52123c504_1_379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1" name="Google Shape;631;g3f52123c504_1_379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2" name="Google Shape;632;g3f52123c504_1_379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3" name="Google Shape;633;g3f52123c504_1_379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4" name="Google Shape;634;g3f52123c504_1_379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g3f52123c504_1_379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g3f52123c504_1_379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7" name="Google Shape;637;g3f52123c504_1_379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8" name="Google Shape;638;g3f52123c504_1_379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9" name="Google Shape;639;g3f52123c504_1_379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0" name="Google Shape;640;g3f52123c504_1_379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1" name="Google Shape;641;g3f52123c504_1_379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2" name="Google Shape;642;g3f52123c504_1_379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g3f52123c504_1_379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4" name="Google Shape;644;g3f52123c504_1_379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5" name="Google Shape;645;g3f52123c504_1_379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6" name="Google Shape;646;g3f52123c504_1_379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7" name="Google Shape;647;g3f52123c504_1_379"/>
          <p:cNvSpPr/>
          <p:nvPr/>
        </p:nvSpPr>
        <p:spPr>
          <a:xfrm>
            <a:off x="10936224" y="5303520"/>
            <a:ext cx="1079100" cy="1134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52123c504_1_379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9" name="Google Shape;649;g3f52123c504_1_379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52123c504_1_379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f52123c504_1_379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f52123c504_1_379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f52123c504_1_379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52123c504_1_379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f52123c504_1_379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f52123c504_1_379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52123c504_1_379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f52123c504_1_379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52123c504_1_379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f52123c504_1_379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f52123c504_1_379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f52123c504_1_379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52123c504_1_379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f52123c504_1_379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f52123c504_1_379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f52123c504_1_379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f52123c504_1_379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f52123c504_1_379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9" name="Google Shape;669;g3f52123c504_1_379"/>
          <p:cNvCxnSpPr/>
          <p:nvPr/>
        </p:nvCxnSpPr>
        <p:spPr>
          <a:xfrm>
            <a:off x="713232" y="566928"/>
            <a:ext cx="0" cy="255900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0" name="Google Shape;670;g3f52123c504_1_379"/>
          <p:cNvSpPr/>
          <p:nvPr/>
        </p:nvSpPr>
        <p:spPr>
          <a:xfrm>
            <a:off x="950976" y="530352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g3f52123c504_1_379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任務背景</a:t>
            </a:r>
            <a:endParaRPr b="1">
              <a:solidFill>
                <a:srgbClr val="C4463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g3f52123c504_1_379"/>
          <p:cNvSpPr txBox="1"/>
          <p:nvPr/>
        </p:nvSpPr>
        <p:spPr>
          <a:xfrm>
            <a:off x="566928" y="1831324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</a:rPr>
              <a:t>draw.io MCP 的四種整合方式</a:t>
            </a:r>
            <a:endParaRPr b="1" sz="3200">
              <a:solidFill>
                <a:srgbClr val="1F232B"/>
              </a:solidFill>
            </a:endParaRPr>
          </a:p>
        </p:txBody>
      </p:sp>
      <p:cxnSp>
        <p:nvCxnSpPr>
          <p:cNvPr id="673" name="Google Shape;673;g3f52123c504_1_379"/>
          <p:cNvCxnSpPr/>
          <p:nvPr/>
        </p:nvCxnSpPr>
        <p:spPr>
          <a:xfrm>
            <a:off x="566928" y="2487168"/>
            <a:ext cx="813810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74" name="Google Shape;674;g3f52123c504_1_379"/>
          <p:cNvCxnSpPr/>
          <p:nvPr/>
        </p:nvCxnSpPr>
        <p:spPr>
          <a:xfrm>
            <a:off x="566928" y="24871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75" name="Google Shape;675;g3f52123c504_1_379"/>
          <p:cNvSpPr/>
          <p:nvPr/>
        </p:nvSpPr>
        <p:spPr>
          <a:xfrm>
            <a:off x="8668512" y="2441448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g3f52123c504_1_379"/>
          <p:cNvSpPr txBox="1"/>
          <p:nvPr/>
        </p:nvSpPr>
        <p:spPr>
          <a:xfrm>
            <a:off x="566928" y="2663460"/>
            <a:ext cx="184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MCP App Server</a:t>
            </a:r>
            <a:endParaRPr sz="1300"/>
          </a:p>
        </p:txBody>
      </p:sp>
      <p:sp>
        <p:nvSpPr>
          <p:cNvPr id="677" name="Google Shape;677;g3f52123c504_1_379"/>
          <p:cNvSpPr txBox="1"/>
          <p:nvPr/>
        </p:nvSpPr>
        <p:spPr>
          <a:xfrm>
            <a:off x="2560320" y="2672604"/>
            <a:ext cx="614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在支援 MCP Apps 的 AI 對話介面中嵌入並預覽流程圖</a:t>
            </a:r>
            <a:endParaRPr sz="1100"/>
          </a:p>
        </p:txBody>
      </p:sp>
      <p:cxnSp>
        <p:nvCxnSpPr>
          <p:cNvPr id="678" name="Google Shape;678;g3f52123c504_1_379"/>
          <p:cNvCxnSpPr/>
          <p:nvPr/>
        </p:nvCxnSpPr>
        <p:spPr>
          <a:xfrm>
            <a:off x="566928" y="2966277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79" name="Google Shape;679;g3f52123c504_1_379"/>
          <p:cNvSpPr txBox="1"/>
          <p:nvPr/>
        </p:nvSpPr>
        <p:spPr>
          <a:xfrm>
            <a:off x="566928" y="3286211"/>
            <a:ext cx="184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MCP Tool Server</a:t>
            </a:r>
            <a:endParaRPr sz="1300"/>
          </a:p>
        </p:txBody>
      </p:sp>
      <p:grpSp>
        <p:nvGrpSpPr>
          <p:cNvPr id="680" name="Google Shape;680;g3f52123c504_1_379"/>
          <p:cNvGrpSpPr/>
          <p:nvPr/>
        </p:nvGrpSpPr>
        <p:grpSpPr>
          <a:xfrm>
            <a:off x="557931" y="3061322"/>
            <a:ext cx="740559" cy="192000"/>
            <a:chOff x="553228" y="3419201"/>
            <a:chExt cx="740559" cy="192000"/>
          </a:xfrm>
        </p:grpSpPr>
        <p:sp>
          <p:nvSpPr>
            <p:cNvPr id="681" name="Google Shape;681;g3f52123c504_1_379"/>
            <p:cNvSpPr/>
            <p:nvPr/>
          </p:nvSpPr>
          <p:spPr>
            <a:xfrm>
              <a:off x="562387" y="3419201"/>
              <a:ext cx="731400" cy="192000"/>
            </a:xfrm>
            <a:prstGeom prst="roundRect">
              <a:avLst>
                <a:gd fmla="val 62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682" name="Google Shape;682;g3f52123c504_1_379"/>
            <p:cNvSpPr txBox="1"/>
            <p:nvPr/>
          </p:nvSpPr>
          <p:spPr>
            <a:xfrm>
              <a:off x="553228" y="3451249"/>
              <a:ext cx="731400" cy="1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本次採用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683" name="Google Shape;683;g3f52123c504_1_379"/>
          <p:cNvSpPr txBox="1"/>
          <p:nvPr/>
        </p:nvSpPr>
        <p:spPr>
          <a:xfrm>
            <a:off x="2560320" y="3185066"/>
            <a:ext cx="6144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透過 MCP Tool Server 連接 Claude Code 等 MCP Client，並將 AI 生成的流程圖開啟至 draw.io 網頁版進行編輯</a:t>
            </a:r>
            <a:endParaRPr sz="1100"/>
          </a:p>
        </p:txBody>
      </p:sp>
      <p:cxnSp>
        <p:nvCxnSpPr>
          <p:cNvPr id="684" name="Google Shape;684;g3f52123c504_1_379"/>
          <p:cNvCxnSpPr/>
          <p:nvPr/>
        </p:nvCxnSpPr>
        <p:spPr>
          <a:xfrm>
            <a:off x="566928" y="3650057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5" name="Google Shape;685;g3f52123c504_1_379"/>
          <p:cNvSpPr txBox="1"/>
          <p:nvPr/>
        </p:nvSpPr>
        <p:spPr>
          <a:xfrm>
            <a:off x="566928" y="3769582"/>
            <a:ext cx="184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Skill + CLI</a:t>
            </a:r>
            <a:endParaRPr sz="1300"/>
          </a:p>
        </p:txBody>
      </p:sp>
      <p:sp>
        <p:nvSpPr>
          <p:cNvPr id="686" name="Google Shape;686;g3f52123c504_1_379"/>
          <p:cNvSpPr txBox="1"/>
          <p:nvPr/>
        </p:nvSpPr>
        <p:spPr>
          <a:xfrm>
            <a:off x="2560320" y="3778726"/>
            <a:ext cx="614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透過 Claude Code Skill 產生 .drawio 檔案，須安裝 draw.io 桌面版使用</a:t>
            </a:r>
            <a:endParaRPr sz="1100"/>
          </a:p>
        </p:txBody>
      </p:sp>
      <p:cxnSp>
        <p:nvCxnSpPr>
          <p:cNvPr id="687" name="Google Shape;687;g3f52123c504_1_379"/>
          <p:cNvCxnSpPr/>
          <p:nvPr/>
        </p:nvCxnSpPr>
        <p:spPr>
          <a:xfrm>
            <a:off x="566928" y="4054293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8" name="Google Shape;688;g3f52123c504_1_379"/>
          <p:cNvSpPr txBox="1"/>
          <p:nvPr/>
        </p:nvSpPr>
        <p:spPr>
          <a:xfrm>
            <a:off x="566928" y="4177102"/>
            <a:ext cx="184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Project Instructions</a:t>
            </a:r>
            <a:endParaRPr sz="1300"/>
          </a:p>
        </p:txBody>
      </p:sp>
      <p:sp>
        <p:nvSpPr>
          <p:cNvPr id="689" name="Google Shape;689;g3f52123c504_1_379"/>
          <p:cNvSpPr txBox="1"/>
          <p:nvPr/>
        </p:nvSpPr>
        <p:spPr>
          <a:xfrm>
            <a:off x="2560325" y="4186255"/>
            <a:ext cx="640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將繪圖規則加入 Claude Project，由 Claude 產生可在 draw.io 開啟的圖面連結，無須安裝 MCP Server</a:t>
            </a:r>
            <a:endParaRPr sz="1100"/>
          </a:p>
        </p:txBody>
      </p:sp>
      <p:sp>
        <p:nvSpPr>
          <p:cNvPr id="690" name="Google Shape;690;g3f52123c504_1_379"/>
          <p:cNvSpPr/>
          <p:nvPr/>
        </p:nvSpPr>
        <p:spPr>
          <a:xfrm>
            <a:off x="566925" y="4619075"/>
            <a:ext cx="8147400" cy="1818600"/>
          </a:xfrm>
          <a:prstGeom prst="roundRect">
            <a:avLst>
              <a:gd fmla="val 6250" name="adj"/>
            </a:avLst>
          </a:prstGeom>
          <a:solidFill>
            <a:srgbClr val="FAF1DC"/>
          </a:solidFill>
          <a:ln cap="flat" cmpd="sng" w="1522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1" name="Google Shape;691;g3f52123c504_1_379"/>
          <p:cNvSpPr txBox="1"/>
          <p:nvPr/>
        </p:nvSpPr>
        <p:spPr>
          <a:xfrm>
            <a:off x="713225" y="4732198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採用</a:t>
            </a:r>
            <a:r>
              <a:rPr b="1" lang="en-US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 MCP Tool Server </a:t>
            </a:r>
            <a:r>
              <a:rPr b="1" lang="en-US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理由</a:t>
            </a:r>
            <a:endParaRPr/>
          </a:p>
        </p:txBody>
      </p:sp>
      <p:sp>
        <p:nvSpPr>
          <p:cNvPr id="692" name="Google Shape;692;g3f52123c504_1_379"/>
          <p:cNvSpPr txBox="1"/>
          <p:nvPr/>
        </p:nvSpPr>
        <p:spPr>
          <a:xfrm>
            <a:off x="768096" y="5126362"/>
            <a:ext cx="29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693" name="Google Shape;693;g3f52123c504_1_379"/>
          <p:cNvSpPr txBox="1"/>
          <p:nvPr/>
        </p:nvSpPr>
        <p:spPr>
          <a:xfrm>
            <a:off x="1021261" y="5126362"/>
            <a:ext cx="221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符合</a:t>
            </a: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既有撰寫</a:t>
            </a: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習慣</a:t>
            </a:r>
            <a:endParaRPr sz="1100"/>
          </a:p>
        </p:txBody>
      </p:sp>
      <p:sp>
        <p:nvSpPr>
          <p:cNvPr id="694" name="Google Shape;694;g3f52123c504_1_379"/>
          <p:cNvSpPr txBox="1"/>
          <p:nvPr/>
        </p:nvSpPr>
        <p:spPr>
          <a:xfrm>
            <a:off x="777531" y="5418219"/>
            <a:ext cx="2334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日常工作主要在 IDE 中搭配 Claude Code 編寫文件，MCP Tool Server 可直接整合至 VS Code 中的 Claude Code，延續既有工作流程</a:t>
            </a:r>
            <a:endParaRPr sz="1000"/>
          </a:p>
        </p:txBody>
      </p:sp>
      <p:sp>
        <p:nvSpPr>
          <p:cNvPr id="695" name="Google Shape;695;g3f52123c504_1_379"/>
          <p:cNvSpPr txBox="1"/>
          <p:nvPr/>
        </p:nvSpPr>
        <p:spPr>
          <a:xfrm>
            <a:off x="3448386" y="5126362"/>
            <a:ext cx="29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696" name="Google Shape;696;g3f52123c504_1_379"/>
          <p:cNvSpPr txBox="1"/>
          <p:nvPr/>
        </p:nvSpPr>
        <p:spPr>
          <a:xfrm>
            <a:off x="3700739" y="5126362"/>
            <a:ext cx="221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延續 draw.io 網頁版的協作方式</a:t>
            </a:r>
            <a:endParaRPr sz="1100"/>
          </a:p>
        </p:txBody>
      </p:sp>
      <p:sp>
        <p:nvSpPr>
          <p:cNvPr id="697" name="Google Shape;697;g3f52123c504_1_379"/>
          <p:cNvSpPr txBox="1"/>
          <p:nvPr/>
        </p:nvSpPr>
        <p:spPr>
          <a:xfrm>
            <a:off x="3504875" y="5405175"/>
            <a:ext cx="240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AI 產生的流程圖可透過 MCP 直接於 draw.io 網頁版開啟，讓團隊成員與 BU 沿用熟悉的瀏覽器介面進行檢視、修改與維護，無須承擔額外的工具轉換與學習成本</a:t>
            </a:r>
            <a:endParaRPr sz="1000"/>
          </a:p>
        </p:txBody>
      </p:sp>
      <p:sp>
        <p:nvSpPr>
          <p:cNvPr id="698" name="Google Shape;698;g3f52123c504_1_379"/>
          <p:cNvSpPr txBox="1"/>
          <p:nvPr/>
        </p:nvSpPr>
        <p:spPr>
          <a:xfrm>
            <a:off x="6204607" y="5126362"/>
            <a:ext cx="29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699" name="Google Shape;699;g3f52123c504_1_379"/>
          <p:cNvSpPr txBox="1"/>
          <p:nvPr/>
        </p:nvSpPr>
        <p:spPr>
          <a:xfrm>
            <a:off x="6455664" y="5126362"/>
            <a:ext cx="221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能整合至自訂 Skill</a:t>
            </a:r>
            <a:endParaRPr sz="1100"/>
          </a:p>
        </p:txBody>
      </p:sp>
      <p:sp>
        <p:nvSpPr>
          <p:cNvPr id="700" name="Google Shape;700;g3f52123c504_1_379"/>
          <p:cNvSpPr txBox="1"/>
          <p:nvPr/>
        </p:nvSpPr>
        <p:spPr>
          <a:xfrm>
            <a:off x="6370152" y="5433145"/>
            <a:ext cx="221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MCP Tool Server 的產圖功能可整合至自訂 Skill，由 Skill 統一編排流程梳理、內容確認、產圖與檢查步驟，形成可重複使用的完整工作流程</a:t>
            </a:r>
            <a:endParaRPr sz="1000"/>
          </a:p>
        </p:txBody>
      </p:sp>
      <p:sp>
        <p:nvSpPr>
          <p:cNvPr id="701" name="Google Shape;701;g3f52123c504_1_379"/>
          <p:cNvSpPr txBox="1"/>
          <p:nvPr/>
        </p:nvSpPr>
        <p:spPr>
          <a:xfrm>
            <a:off x="153622" y="6658888"/>
            <a:ext cx="8138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draw.io MCP 官方說明（drawio.com/docs/manual/generate/drawio-mcp-server）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52123c504_1_628"/>
          <p:cNvSpPr/>
          <p:nvPr/>
        </p:nvSpPr>
        <p:spPr>
          <a:xfrm>
            <a:off x="9235440" y="0"/>
            <a:ext cx="2953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7" name="Google Shape;707;g3f52123c504_1_628"/>
          <p:cNvSpPr/>
          <p:nvPr/>
        </p:nvSpPr>
        <p:spPr>
          <a:xfrm>
            <a:off x="9253728" y="0"/>
            <a:ext cx="29169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08" name="Google Shape;708;g3f52123c504_1_628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g3f52123c504_1_628"/>
          <p:cNvSpPr/>
          <p:nvPr/>
        </p:nvSpPr>
        <p:spPr>
          <a:xfrm>
            <a:off x="9125712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0" name="Google Shape;710;g3f52123c504_1_628"/>
          <p:cNvSpPr/>
          <p:nvPr/>
        </p:nvSpPr>
        <p:spPr>
          <a:xfrm>
            <a:off x="9180576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1" name="Google Shape;711;g3f52123c504_1_628"/>
          <p:cNvSpPr/>
          <p:nvPr/>
        </p:nvSpPr>
        <p:spPr>
          <a:xfrm>
            <a:off x="10195560" y="502920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2" name="Google Shape;712;g3f52123c504_1_628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g3f52123c504_1_628"/>
          <p:cNvSpPr/>
          <p:nvPr/>
        </p:nvSpPr>
        <p:spPr>
          <a:xfrm>
            <a:off x="9966960" y="1417320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4" name="Google Shape;714;g3f52123c504_1_628"/>
          <p:cNvCxnSpPr/>
          <p:nvPr/>
        </p:nvCxnSpPr>
        <p:spPr>
          <a:xfrm>
            <a:off x="10305288" y="1856232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5" name="Google Shape;715;g3f52123c504_1_628"/>
          <p:cNvSpPr/>
          <p:nvPr/>
        </p:nvSpPr>
        <p:spPr>
          <a:xfrm>
            <a:off x="10076688" y="2587752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6" name="Google Shape;716;g3f52123c504_1_628"/>
          <p:cNvCxnSpPr/>
          <p:nvPr/>
        </p:nvCxnSpPr>
        <p:spPr>
          <a:xfrm>
            <a:off x="10314432" y="3063240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g3f52123c504_1_628"/>
          <p:cNvSpPr/>
          <p:nvPr/>
        </p:nvSpPr>
        <p:spPr>
          <a:xfrm>
            <a:off x="9985248" y="3840480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8" name="Google Shape;718;g3f52123c504_1_628"/>
          <p:cNvCxnSpPr/>
          <p:nvPr/>
        </p:nvCxnSpPr>
        <p:spPr>
          <a:xfrm>
            <a:off x="10323576" y="4352544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9" name="Google Shape;719;g3f52123c504_1_628"/>
          <p:cNvSpPr/>
          <p:nvPr/>
        </p:nvSpPr>
        <p:spPr>
          <a:xfrm>
            <a:off x="10195560" y="5330952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0" name="Google Shape;720;g3f52123c504_1_628"/>
          <p:cNvCxnSpPr/>
          <p:nvPr/>
        </p:nvCxnSpPr>
        <p:spPr>
          <a:xfrm>
            <a:off x="10561320" y="1636776"/>
            <a:ext cx="347400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1" name="Google Shape;721;g3f52123c504_1_628"/>
          <p:cNvSpPr/>
          <p:nvPr/>
        </p:nvSpPr>
        <p:spPr>
          <a:xfrm>
            <a:off x="10579608" y="1636776"/>
            <a:ext cx="347400" cy="118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2" name="Google Shape;722;g3f52123c504_1_628"/>
          <p:cNvCxnSpPr/>
          <p:nvPr/>
        </p:nvCxnSpPr>
        <p:spPr>
          <a:xfrm>
            <a:off x="10908792" y="2816352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g3f52123c504_1_628"/>
          <p:cNvSpPr/>
          <p:nvPr/>
        </p:nvSpPr>
        <p:spPr>
          <a:xfrm>
            <a:off x="11420856" y="2651760"/>
            <a:ext cx="146400" cy="1464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4" name="Google Shape;724;g3f52123c504_1_628"/>
          <p:cNvSpPr/>
          <p:nvPr/>
        </p:nvSpPr>
        <p:spPr>
          <a:xfrm>
            <a:off x="11676888" y="2331720"/>
            <a:ext cx="438900" cy="512100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5" name="Google Shape;725;g3f52123c504_1_628"/>
          <p:cNvCxnSpPr/>
          <p:nvPr/>
        </p:nvCxnSpPr>
        <p:spPr>
          <a:xfrm>
            <a:off x="11494008" y="2798064"/>
            <a:ext cx="0" cy="173730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g3f52123c504_1_628"/>
          <p:cNvCxnSpPr/>
          <p:nvPr/>
        </p:nvCxnSpPr>
        <p:spPr>
          <a:xfrm rot="10800000">
            <a:off x="10963608" y="4535424"/>
            <a:ext cx="530400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7" name="Google Shape;727;g3f52123c504_1_628"/>
          <p:cNvSpPr/>
          <p:nvPr/>
        </p:nvSpPr>
        <p:spPr>
          <a:xfrm>
            <a:off x="10872216" y="4864608"/>
            <a:ext cx="54900" cy="54900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8" name="Google Shape;728;g3f52123c504_1_628"/>
          <p:cNvCxnSpPr/>
          <p:nvPr/>
        </p:nvCxnSpPr>
        <p:spPr>
          <a:xfrm>
            <a:off x="10890504" y="4892040"/>
            <a:ext cx="0" cy="384000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g3f52123c504_1_628"/>
          <p:cNvCxnSpPr/>
          <p:nvPr/>
        </p:nvCxnSpPr>
        <p:spPr>
          <a:xfrm>
            <a:off x="10890504" y="5276088"/>
            <a:ext cx="859500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0" name="Google Shape;730;g3f52123c504_1_628"/>
          <p:cNvSpPr/>
          <p:nvPr/>
        </p:nvSpPr>
        <p:spPr>
          <a:xfrm>
            <a:off x="11713464" y="5157216"/>
            <a:ext cx="128100" cy="1281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1" name="Google Shape;731;g3f52123c504_1_628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2" name="Google Shape;732;g3f52123c504_1_628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3" name="Google Shape;733;g3f52123c504_1_628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4" name="Google Shape;734;g3f52123c504_1_628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5" name="Google Shape;735;g3f52123c504_1_628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6" name="Google Shape;736;g3f52123c504_1_628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7" name="Google Shape;737;g3f52123c504_1_628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8" name="Google Shape;738;g3f52123c504_1_628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9" name="Google Shape;739;g3f52123c504_1_628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0" name="Google Shape;740;g3f52123c504_1_628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1" name="Google Shape;741;g3f52123c504_1_628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2" name="Google Shape;742;g3f52123c504_1_628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3" name="Google Shape;743;g3f52123c504_1_628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4" name="Google Shape;744;g3f52123c504_1_628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5" name="Google Shape;745;g3f52123c504_1_628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6" name="Google Shape;746;g3f52123c504_1_628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7" name="Google Shape;747;g3f52123c504_1_628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8" name="Google Shape;748;g3f52123c504_1_628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9" name="Google Shape;749;g3f52123c504_1_628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0" name="Google Shape;750;g3f52123c504_1_628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1" name="Google Shape;751;g3f52123c504_1_628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2" name="Google Shape;752;g3f52123c504_1_628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3" name="Google Shape;753;g3f52123c504_1_628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4" name="Google Shape;754;g3f52123c504_1_628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5" name="Google Shape;755;g3f52123c504_1_628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6" name="Google Shape;756;g3f52123c504_1_628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7" name="Google Shape;757;g3f52123c504_1_628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8" name="Google Shape;758;g3f52123c504_1_628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9" name="Google Shape;759;g3f52123c504_1_628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0" name="Google Shape;760;g3f52123c504_1_628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1" name="Google Shape;761;g3f52123c504_1_628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2" name="Google Shape;762;g3f52123c504_1_628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3" name="Google Shape;763;g3f52123c504_1_628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4" name="Google Shape;764;g3f52123c504_1_628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5" name="Google Shape;765;g3f52123c504_1_628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6" name="Google Shape;766;g3f52123c504_1_628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7" name="Google Shape;767;g3f52123c504_1_628"/>
          <p:cNvSpPr/>
          <p:nvPr/>
        </p:nvSpPr>
        <p:spPr>
          <a:xfrm>
            <a:off x="10936224" y="5303520"/>
            <a:ext cx="1079100" cy="1134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8" name="Google Shape;768;g3f52123c504_1_628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9" name="Google Shape;769;g3f52123c504_1_628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0" name="Google Shape;770;g3f52123c504_1_628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1" name="Google Shape;771;g3f52123c504_1_628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2" name="Google Shape;772;g3f52123c504_1_628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3" name="Google Shape;773;g3f52123c504_1_628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4" name="Google Shape;774;g3f52123c504_1_628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5" name="Google Shape;775;g3f52123c504_1_628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6" name="Google Shape;776;g3f52123c504_1_628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7" name="Google Shape;777;g3f52123c504_1_628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8" name="Google Shape;778;g3f52123c504_1_628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9" name="Google Shape;779;g3f52123c504_1_628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0" name="Google Shape;780;g3f52123c504_1_628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1" name="Google Shape;781;g3f52123c504_1_628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2" name="Google Shape;782;g3f52123c504_1_628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3" name="Google Shape;783;g3f52123c504_1_628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4" name="Google Shape;784;g3f52123c504_1_628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5" name="Google Shape;785;g3f52123c504_1_628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6" name="Google Shape;786;g3f52123c504_1_628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7" name="Google Shape;787;g3f52123c504_1_628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8" name="Google Shape;788;g3f52123c504_1_628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89" name="Google Shape;789;g3f52123c504_1_628"/>
          <p:cNvCxnSpPr/>
          <p:nvPr/>
        </p:nvCxnSpPr>
        <p:spPr>
          <a:xfrm>
            <a:off x="713232" y="566928"/>
            <a:ext cx="0" cy="255900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g3f52123c504_1_628"/>
          <p:cNvSpPr/>
          <p:nvPr/>
        </p:nvSpPr>
        <p:spPr>
          <a:xfrm>
            <a:off x="950976" y="530352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1" name="Google Shape;791;g3f52123c504_1_628"/>
          <p:cNvSpPr txBox="1"/>
          <p:nvPr/>
        </p:nvSpPr>
        <p:spPr>
          <a:xfrm>
            <a:off x="566928" y="1353312"/>
            <a:ext cx="731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任務背</a:t>
            </a: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景</a:t>
            </a:r>
            <a:endParaRPr/>
          </a:p>
        </p:txBody>
      </p:sp>
      <p:sp>
        <p:nvSpPr>
          <p:cNvPr id="792" name="Google Shape;792;g3f52123c504_1_628"/>
          <p:cNvSpPr txBox="1"/>
          <p:nvPr/>
        </p:nvSpPr>
        <p:spPr>
          <a:xfrm>
            <a:off x="566928" y="1836955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我的應用方式與解法</a:t>
            </a:r>
            <a:endParaRPr sz="3200"/>
          </a:p>
        </p:txBody>
      </p:sp>
      <p:cxnSp>
        <p:nvCxnSpPr>
          <p:cNvPr id="793" name="Google Shape;793;g3f52123c504_1_628"/>
          <p:cNvCxnSpPr/>
          <p:nvPr/>
        </p:nvCxnSpPr>
        <p:spPr>
          <a:xfrm>
            <a:off x="566928" y="2487168"/>
            <a:ext cx="813810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94" name="Google Shape;794;g3f52123c504_1_628"/>
          <p:cNvCxnSpPr/>
          <p:nvPr/>
        </p:nvCxnSpPr>
        <p:spPr>
          <a:xfrm>
            <a:off x="566928" y="24871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95" name="Google Shape;795;g3f52123c504_1_628"/>
          <p:cNvSpPr/>
          <p:nvPr/>
        </p:nvSpPr>
        <p:spPr>
          <a:xfrm>
            <a:off x="8668512" y="2441448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6" name="Google Shape;796;g3f52123c504_1_628"/>
          <p:cNvSpPr/>
          <p:nvPr/>
        </p:nvSpPr>
        <p:spPr>
          <a:xfrm>
            <a:off x="566925" y="4194275"/>
            <a:ext cx="8147400" cy="21423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7" name="Google Shape;797;g3f52123c504_1_628"/>
          <p:cNvSpPr txBox="1"/>
          <p:nvPr/>
        </p:nvSpPr>
        <p:spPr>
          <a:xfrm>
            <a:off x="731520" y="4365691"/>
            <a:ext cx="777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如何解決工作中的痛點</a:t>
            </a:r>
            <a:endParaRPr/>
          </a:p>
        </p:txBody>
      </p:sp>
      <p:sp>
        <p:nvSpPr>
          <p:cNvPr id="798" name="Google Shape;798;g3f52123c504_1_628"/>
          <p:cNvSpPr/>
          <p:nvPr/>
        </p:nvSpPr>
        <p:spPr>
          <a:xfrm>
            <a:off x="786384" y="4796956"/>
            <a:ext cx="41100" cy="41100"/>
          </a:xfrm>
          <a:prstGeom prst="rect">
            <a:avLst/>
          </a:prstGeom>
          <a:solidFill>
            <a:srgbClr val="C44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9" name="Google Shape;799;g3f52123c504_1_628"/>
          <p:cNvSpPr txBox="1"/>
          <p:nvPr/>
        </p:nvSpPr>
        <p:spPr>
          <a:xfrm>
            <a:off x="914400" y="4751236"/>
            <a:ext cx="7589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降低初版流程建構難度：</a:t>
            </a: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與 AI 討論整理出專案串接系統、流程步驟、判斷條件與例外情境，協助快速建立第一版流程架構</a:t>
            </a:r>
            <a:endParaRPr sz="1100"/>
          </a:p>
        </p:txBody>
      </p:sp>
      <p:grpSp>
        <p:nvGrpSpPr>
          <p:cNvPr id="800" name="Google Shape;800;g3f52123c504_1_628"/>
          <p:cNvGrpSpPr/>
          <p:nvPr/>
        </p:nvGrpSpPr>
        <p:grpSpPr>
          <a:xfrm>
            <a:off x="786384" y="5039120"/>
            <a:ext cx="7717416" cy="169200"/>
            <a:chOff x="786384" y="4992435"/>
            <a:chExt cx="7717416" cy="169200"/>
          </a:xfrm>
        </p:grpSpPr>
        <p:sp>
          <p:nvSpPr>
            <p:cNvPr id="801" name="Google Shape;801;g3f52123c504_1_628"/>
            <p:cNvSpPr/>
            <p:nvPr/>
          </p:nvSpPr>
          <p:spPr>
            <a:xfrm>
              <a:off x="786384" y="5052060"/>
              <a:ext cx="41100" cy="41100"/>
            </a:xfrm>
            <a:prstGeom prst="rect">
              <a:avLst/>
            </a:prstGeom>
            <a:solidFill>
              <a:srgbClr val="D8A5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02" name="Google Shape;802;g3f52123c504_1_628"/>
            <p:cNvSpPr txBox="1"/>
            <p:nvPr/>
          </p:nvSpPr>
          <p:spPr>
            <a:xfrm>
              <a:off x="914400" y="4992435"/>
              <a:ext cx="75894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32B"/>
                  </a:solidFill>
                  <a:latin typeface="Noto Sans"/>
                  <a:ea typeface="Noto Sans"/>
                  <a:cs typeface="Noto Sans"/>
                  <a:sym typeface="Noto Sans"/>
                </a:rPr>
                <a:t>減少手動繪製時間：</a:t>
              </a:r>
              <a:r>
                <a:rPr lang="en-US" sz="1100">
                  <a:solidFill>
                    <a:srgbClr val="837B73"/>
                  </a:solidFill>
                  <a:latin typeface="Noto Sans"/>
                  <a:ea typeface="Noto Sans"/>
                  <a:cs typeface="Noto Sans"/>
                  <a:sym typeface="Noto Sans"/>
                </a:rPr>
                <a:t>透過 MCP 自動建立節點、連線與初步排版，將時間投入更重要的流程分析與需求確認</a:t>
              </a:r>
              <a:endParaRPr sz="1100"/>
            </a:p>
          </p:txBody>
        </p:sp>
      </p:grpSp>
      <p:sp>
        <p:nvSpPr>
          <p:cNvPr id="803" name="Google Shape;803;g3f52123c504_1_628"/>
          <p:cNvSpPr/>
          <p:nvPr/>
        </p:nvSpPr>
        <p:spPr>
          <a:xfrm>
            <a:off x="786384" y="5391213"/>
            <a:ext cx="41100" cy="41100"/>
          </a:xfrm>
          <a:prstGeom prst="rect">
            <a:avLst/>
          </a:prstGeom>
          <a:solidFill>
            <a:srgbClr val="C44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4" name="Google Shape;804;g3f52123c504_1_628"/>
          <p:cNvSpPr txBox="1"/>
          <p:nvPr/>
        </p:nvSpPr>
        <p:spPr>
          <a:xfrm>
            <a:off x="914400" y="5329749"/>
            <a:ext cx="7589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降低複雜流程遺漏風險：</a:t>
            </a: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透過自訂 Skill 規範流程梳理與檢查步驟，協助確認多角色、多重分支及例外情境是否完整</a:t>
            </a:r>
            <a:endParaRPr sz="1100"/>
          </a:p>
        </p:txBody>
      </p:sp>
      <p:sp>
        <p:nvSpPr>
          <p:cNvPr id="805" name="Google Shape;805;g3f52123c504_1_628"/>
          <p:cNvSpPr/>
          <p:nvPr/>
        </p:nvSpPr>
        <p:spPr>
          <a:xfrm>
            <a:off x="786384" y="5681484"/>
            <a:ext cx="41100" cy="411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6" name="Google Shape;806;g3f52123c504_1_628"/>
          <p:cNvSpPr txBox="1"/>
          <p:nvPr/>
        </p:nvSpPr>
        <p:spPr>
          <a:xfrm>
            <a:off x="914400" y="5620021"/>
            <a:ext cx="7589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提高流程調整彈性：</a:t>
            </a: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需求變更時先更新流程文件，再由 AI 重新分析與產圖，減少逐一調整節點與連線的作業</a:t>
            </a:r>
            <a:endParaRPr sz="1100"/>
          </a:p>
        </p:txBody>
      </p:sp>
      <p:sp>
        <p:nvSpPr>
          <p:cNvPr id="807" name="Google Shape;807;g3f52123c504_1_628"/>
          <p:cNvSpPr/>
          <p:nvPr/>
        </p:nvSpPr>
        <p:spPr>
          <a:xfrm>
            <a:off x="786384" y="5988803"/>
            <a:ext cx="41100" cy="41100"/>
          </a:xfrm>
          <a:prstGeom prst="rect">
            <a:avLst/>
          </a:prstGeom>
          <a:solidFill>
            <a:srgbClr val="C44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8" name="Google Shape;808;g3f52123c504_1_628"/>
          <p:cNvSpPr txBox="1"/>
          <p:nvPr/>
        </p:nvSpPr>
        <p:spPr>
          <a:xfrm>
            <a:off x="914400" y="5928696"/>
            <a:ext cx="7589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降低幻覺與檢查成本：</a:t>
            </a: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AI 依據流程文件產圖，人工再以原始文件逐項比對，使檢查從全面重查轉為有明確依據的內容核對</a:t>
            </a:r>
            <a:endParaRPr sz="1100"/>
          </a:p>
        </p:txBody>
      </p:sp>
      <p:sp>
        <p:nvSpPr>
          <p:cNvPr id="809" name="Google Shape;809;g3f52123c504_1_628"/>
          <p:cNvSpPr/>
          <p:nvPr/>
        </p:nvSpPr>
        <p:spPr>
          <a:xfrm>
            <a:off x="566925" y="2723775"/>
            <a:ext cx="8147400" cy="12960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0" name="Google Shape;810;g3f52123c504_1_628"/>
          <p:cNvSpPr txBox="1"/>
          <p:nvPr/>
        </p:nvSpPr>
        <p:spPr>
          <a:xfrm>
            <a:off x="757978" y="2840506"/>
            <a:ext cx="146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我的應用方式</a:t>
            </a:r>
            <a:endParaRPr/>
          </a:p>
        </p:txBody>
      </p:sp>
      <p:sp>
        <p:nvSpPr>
          <p:cNvPr id="811" name="Google Shape;811;g3f52123c504_1_628"/>
          <p:cNvSpPr txBox="1"/>
          <p:nvPr/>
        </p:nvSpPr>
        <p:spPr>
          <a:xfrm>
            <a:off x="2012333" y="2869574"/>
            <a:ext cx="626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以真實流程文件為依據，AI 先理解內容，再透過 draw.io MCP 產出第一版流程圖，最後由人工檢查與調整。</a:t>
            </a:r>
            <a:endParaRPr sz="1000"/>
          </a:p>
        </p:txBody>
      </p:sp>
      <p:sp>
        <p:nvSpPr>
          <p:cNvPr id="812" name="Google Shape;812;g3f52123c504_1_628"/>
          <p:cNvSpPr/>
          <p:nvPr/>
        </p:nvSpPr>
        <p:spPr>
          <a:xfrm>
            <a:off x="713225" y="3342159"/>
            <a:ext cx="1664100" cy="420600"/>
          </a:xfrm>
          <a:prstGeom prst="roundRect">
            <a:avLst>
              <a:gd fmla="val 15000" name="adj"/>
            </a:avLst>
          </a:prstGeom>
          <a:solidFill>
            <a:srgbClr val="F9EBC8"/>
          </a:solidFill>
          <a:ln cap="flat" cmpd="sng" w="1522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3" name="Google Shape;813;g3f52123c504_1_628"/>
          <p:cNvSpPr txBox="1"/>
          <p:nvPr/>
        </p:nvSpPr>
        <p:spPr>
          <a:xfrm>
            <a:off x="694363" y="3454229"/>
            <a:ext cx="17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流程說明文件</a:t>
            </a:r>
            <a:endParaRPr sz="1200"/>
          </a:p>
        </p:txBody>
      </p:sp>
      <p:sp>
        <p:nvSpPr>
          <p:cNvPr id="814" name="Google Shape;814;g3f52123c504_1_628"/>
          <p:cNvSpPr txBox="1"/>
          <p:nvPr/>
        </p:nvSpPr>
        <p:spPr>
          <a:xfrm>
            <a:off x="2428341" y="3463568"/>
            <a:ext cx="26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❯</a:t>
            </a:r>
            <a:endParaRPr/>
          </a:p>
        </p:txBody>
      </p:sp>
      <p:sp>
        <p:nvSpPr>
          <p:cNvPr id="815" name="Google Shape;815;g3f52123c504_1_628"/>
          <p:cNvSpPr txBox="1"/>
          <p:nvPr/>
        </p:nvSpPr>
        <p:spPr>
          <a:xfrm>
            <a:off x="4507992" y="3463568"/>
            <a:ext cx="26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❯</a:t>
            </a:r>
            <a:endParaRPr/>
          </a:p>
        </p:txBody>
      </p:sp>
      <p:sp>
        <p:nvSpPr>
          <p:cNvPr id="816" name="Google Shape;816;g3f52123c504_1_628"/>
          <p:cNvSpPr txBox="1"/>
          <p:nvPr/>
        </p:nvSpPr>
        <p:spPr>
          <a:xfrm>
            <a:off x="6610014" y="3453326"/>
            <a:ext cx="26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❯</a:t>
            </a:r>
            <a:endParaRPr/>
          </a:p>
        </p:txBody>
      </p:sp>
      <p:sp>
        <p:nvSpPr>
          <p:cNvPr id="817" name="Google Shape;817;g3f52123c504_1_628"/>
          <p:cNvSpPr/>
          <p:nvPr/>
        </p:nvSpPr>
        <p:spPr>
          <a:xfrm>
            <a:off x="2763325" y="3346834"/>
            <a:ext cx="1664100" cy="420600"/>
          </a:xfrm>
          <a:prstGeom prst="roundRect">
            <a:avLst>
              <a:gd fmla="val 15000" name="adj"/>
            </a:avLst>
          </a:prstGeom>
          <a:solidFill>
            <a:srgbClr val="F9EBC8"/>
          </a:solidFill>
          <a:ln cap="flat" cmpd="sng" w="1522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8" name="Google Shape;818;g3f52123c504_1_628"/>
          <p:cNvSpPr txBox="1"/>
          <p:nvPr/>
        </p:nvSpPr>
        <p:spPr>
          <a:xfrm>
            <a:off x="2744463" y="3458905"/>
            <a:ext cx="17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 結構化分析</a:t>
            </a:r>
            <a:endParaRPr sz="1200"/>
          </a:p>
        </p:txBody>
      </p:sp>
      <p:sp>
        <p:nvSpPr>
          <p:cNvPr id="819" name="Google Shape;819;g3f52123c504_1_628"/>
          <p:cNvSpPr/>
          <p:nvPr/>
        </p:nvSpPr>
        <p:spPr>
          <a:xfrm>
            <a:off x="4865225" y="3329825"/>
            <a:ext cx="1664100" cy="420600"/>
          </a:xfrm>
          <a:prstGeom prst="roundRect">
            <a:avLst>
              <a:gd fmla="val 15000" name="adj"/>
            </a:avLst>
          </a:prstGeom>
          <a:solidFill>
            <a:srgbClr val="F9EBC8"/>
          </a:solidFill>
          <a:ln cap="flat" cmpd="sng" w="1522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0" name="Google Shape;820;g3f52123c504_1_628"/>
          <p:cNvSpPr txBox="1"/>
          <p:nvPr/>
        </p:nvSpPr>
        <p:spPr>
          <a:xfrm>
            <a:off x="4846363" y="3441896"/>
            <a:ext cx="17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draw.io MCP 產圖</a:t>
            </a:r>
            <a:endParaRPr b="1" sz="1200">
              <a:solidFill>
                <a:srgbClr val="1F232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1" name="Google Shape;821;g3f52123c504_1_628"/>
          <p:cNvSpPr/>
          <p:nvPr/>
        </p:nvSpPr>
        <p:spPr>
          <a:xfrm>
            <a:off x="6904975" y="3319584"/>
            <a:ext cx="1664100" cy="420600"/>
          </a:xfrm>
          <a:prstGeom prst="roundRect">
            <a:avLst>
              <a:gd fmla="val 15000" name="adj"/>
            </a:avLst>
          </a:prstGeom>
          <a:solidFill>
            <a:srgbClr val="F9EBC8"/>
          </a:solidFill>
          <a:ln cap="flat" cmpd="sng" w="1522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2" name="Google Shape;822;g3f52123c504_1_628"/>
          <p:cNvSpPr txBox="1"/>
          <p:nvPr/>
        </p:nvSpPr>
        <p:spPr>
          <a:xfrm>
            <a:off x="6886113" y="3431654"/>
            <a:ext cx="17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人工檢查與定稿</a:t>
            </a:r>
            <a:endParaRPr sz="1200"/>
          </a:p>
        </p:txBody>
      </p:sp>
      <p:sp>
        <p:nvSpPr>
          <p:cNvPr id="823" name="Google Shape;823;g3f52123c504_1_628"/>
          <p:cNvSpPr txBox="1"/>
          <p:nvPr/>
        </p:nvSpPr>
        <p:spPr>
          <a:xfrm>
            <a:off x="566928" y="6513108"/>
            <a:ext cx="814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目標：降低初版流程建構難度、減少手動繪圖時間，同時保留人工編輯彈性與最終決策權。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7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0" name="Google Shape;830;p7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1" name="Google Shape;831;p7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4" name="Google Shape;834;p7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5" name="Google Shape;835;p7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6" name="Google Shape;836;p7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7" name="Google Shape;837;p7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8" name="Google Shape;838;p7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9" name="Google Shape;839;p7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0" name="Google Shape;840;p7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1" name="Google Shape;841;p7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7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3" name="Google Shape;843;p7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4" name="Google Shape;844;p7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5" name="Google Shape;845;p7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6" name="Google Shape;846;p7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47" name="Google Shape;847;p7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7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9" name="Google Shape;849;p7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0" name="Google Shape;850;p7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7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7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3" name="Google Shape;853;p7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4" name="Google Shape;854;p7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5" name="Google Shape;855;p7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6" name="Google Shape;856;p7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7" name="Google Shape;857;p7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8" name="Google Shape;858;p7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9" name="Google Shape;859;p7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0" name="Google Shape;860;p7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1" name="Google Shape;861;p7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2" name="Google Shape;862;p7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3" name="Google Shape;863;p7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4" name="Google Shape;864;p7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5" name="Google Shape;865;p7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6" name="Google Shape;866;p7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7" name="Google Shape;867;p7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8" name="Google Shape;868;p7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9" name="Google Shape;869;p7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0" name="Google Shape;870;p7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1" name="Google Shape;871;p7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2" name="Google Shape;872;p7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3" name="Google Shape;873;p7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4" name="Google Shape;874;p7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5" name="Google Shape;875;p7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6" name="Google Shape;876;p7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7" name="Google Shape;877;p7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8" name="Google Shape;878;p7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9" name="Google Shape;879;p7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0" name="Google Shape;880;p7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1" name="Google Shape;881;p7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2" name="Google Shape;882;p7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3" name="Google Shape;883;p7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4" name="Google Shape;884;p7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5" name="Google Shape;885;p7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6" name="Google Shape;886;p7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7" name="Google Shape;887;p7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8" name="Google Shape;888;p7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9" name="Google Shape;889;p7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7"/>
          <p:cNvSpPr/>
          <p:nvPr/>
        </p:nvSpPr>
        <p:spPr>
          <a:xfrm>
            <a:off x="11495566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50">
                <a:solidFill>
                  <a:srgbClr val="E0B64E"/>
                </a:solidFill>
              </a:rPr>
              <a:t>8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1" name="Google Shape;891;p7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7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7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7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1" name="Google Shape;911;p7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7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3" name="Google Shape;913;p7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任務背景</a:t>
            </a:r>
            <a:endParaRPr/>
          </a:p>
        </p:txBody>
      </p:sp>
      <p:sp>
        <p:nvSpPr>
          <p:cNvPr id="914" name="Google Shape;914;p7"/>
          <p:cNvSpPr txBox="1"/>
          <p:nvPr/>
        </p:nvSpPr>
        <p:spPr>
          <a:xfrm>
            <a:off x="566928" y="1826023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本次實測的真實任務</a:t>
            </a:r>
            <a:endParaRPr sz="3200"/>
          </a:p>
        </p:txBody>
      </p:sp>
      <p:cxnSp>
        <p:nvCxnSpPr>
          <p:cNvPr id="915" name="Google Shape;915;p7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16" name="Google Shape;916;p7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17" name="Google Shape;917;p7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8" name="Google Shape;918;p7"/>
          <p:cNvSpPr/>
          <p:nvPr/>
        </p:nvSpPr>
        <p:spPr>
          <a:xfrm>
            <a:off x="566928" y="2761488"/>
            <a:ext cx="8147304" cy="129844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9" name="Google Shape;919;p7"/>
          <p:cNvSpPr txBox="1"/>
          <p:nvPr/>
        </p:nvSpPr>
        <p:spPr>
          <a:xfrm>
            <a:off x="679185" y="2899971"/>
            <a:ext cx="777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「IT 即時語音平台」設備報修流程（實際專案內容，經去識別化處理）</a:t>
            </a:r>
            <a:endParaRPr/>
          </a:p>
        </p:txBody>
      </p:sp>
      <p:sp>
        <p:nvSpPr>
          <p:cNvPr id="920" name="Google Shape;920;p7"/>
          <p:cNvSpPr txBox="1"/>
          <p:nvPr/>
        </p:nvSpPr>
        <p:spPr>
          <a:xfrm>
            <a:off x="811874" y="3268275"/>
            <a:ext cx="772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平台串接 GPT Realtime 模型作為 AI 語音助理，協助申報人透過語音或文字完成設備報修。</a:t>
            </a:r>
            <a:endParaRPr sz="1100">
              <a:solidFill>
                <a:srgbClr val="837B7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AI 會於對話中理解報修需求、引導描述設備問題，並逐步蒐集與確認必要資訊；確認無誤後，再透過 MCP Server 呼叫設備報修系統 API 建立報修單。若過程中遇到超出 AI 可處理的情況，則引導申報人撥打客服</a:t>
            </a: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專線請求協助</a:t>
            </a:r>
            <a:endParaRPr sz="1100"/>
          </a:p>
        </p:txBody>
      </p:sp>
      <p:sp>
        <p:nvSpPr>
          <p:cNvPr id="921" name="Google Shape;921;p7"/>
          <p:cNvSpPr txBox="1"/>
          <p:nvPr/>
        </p:nvSpPr>
        <p:spPr>
          <a:xfrm>
            <a:off x="600155" y="4252560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五個業務子流程</a:t>
            </a:r>
            <a:endParaRPr/>
          </a:p>
        </p:txBody>
      </p:sp>
      <p:sp>
        <p:nvSpPr>
          <p:cNvPr id="922" name="Google Shape;922;p7"/>
          <p:cNvSpPr/>
          <p:nvPr/>
        </p:nvSpPr>
        <p:spPr>
          <a:xfrm>
            <a:off x="566928" y="4603460"/>
            <a:ext cx="1518000" cy="84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3" name="Google Shape;923;p7"/>
          <p:cNvSpPr txBox="1"/>
          <p:nvPr/>
        </p:nvSpPr>
        <p:spPr>
          <a:xfrm>
            <a:off x="676656" y="4694900"/>
            <a:ext cx="129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924" name="Google Shape;924;p7"/>
          <p:cNvSpPr txBox="1"/>
          <p:nvPr/>
        </p:nvSpPr>
        <p:spPr>
          <a:xfrm>
            <a:off x="676656" y="4929785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進入即時語音平台</a:t>
            </a:r>
            <a:endParaRPr sz="1000"/>
          </a:p>
        </p:txBody>
      </p:sp>
      <p:sp>
        <p:nvSpPr>
          <p:cNvPr id="925" name="Google Shape;925;p7"/>
          <p:cNvSpPr txBox="1"/>
          <p:nvPr/>
        </p:nvSpPr>
        <p:spPr>
          <a:xfrm>
            <a:off x="2084831" y="4896068"/>
            <a:ext cx="14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926" name="Google Shape;926;p7"/>
          <p:cNvSpPr/>
          <p:nvPr/>
        </p:nvSpPr>
        <p:spPr>
          <a:xfrm>
            <a:off x="2231136" y="4603460"/>
            <a:ext cx="1518000" cy="84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7" name="Google Shape;927;p7"/>
          <p:cNvSpPr txBox="1"/>
          <p:nvPr/>
        </p:nvSpPr>
        <p:spPr>
          <a:xfrm>
            <a:off x="2340864" y="4694900"/>
            <a:ext cx="129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928" name="Google Shape;928;p7"/>
          <p:cNvSpPr txBox="1"/>
          <p:nvPr/>
        </p:nvSpPr>
        <p:spPr>
          <a:xfrm>
            <a:off x="2340864" y="4929785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申報人身分資訊確認</a:t>
            </a:r>
            <a:endParaRPr sz="1000"/>
          </a:p>
        </p:txBody>
      </p:sp>
      <p:sp>
        <p:nvSpPr>
          <p:cNvPr id="929" name="Google Shape;929;p7"/>
          <p:cNvSpPr txBox="1"/>
          <p:nvPr/>
        </p:nvSpPr>
        <p:spPr>
          <a:xfrm>
            <a:off x="3749039" y="4896068"/>
            <a:ext cx="14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930" name="Google Shape;930;p7"/>
          <p:cNvSpPr/>
          <p:nvPr/>
        </p:nvSpPr>
        <p:spPr>
          <a:xfrm>
            <a:off x="3895344" y="4603460"/>
            <a:ext cx="1518000" cy="84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1" name="Google Shape;931;p7"/>
          <p:cNvSpPr txBox="1"/>
          <p:nvPr/>
        </p:nvSpPr>
        <p:spPr>
          <a:xfrm>
            <a:off x="4005072" y="4694900"/>
            <a:ext cx="129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932" name="Google Shape;932;p7"/>
          <p:cNvSpPr txBox="1"/>
          <p:nvPr/>
        </p:nvSpPr>
        <p:spPr>
          <a:xfrm>
            <a:off x="4005072" y="4929785"/>
            <a:ext cx="1298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申報人名下設備顯示與選擇</a:t>
            </a:r>
            <a:endParaRPr sz="1000"/>
          </a:p>
        </p:txBody>
      </p:sp>
      <p:sp>
        <p:nvSpPr>
          <p:cNvPr id="933" name="Google Shape;933;p7"/>
          <p:cNvSpPr txBox="1"/>
          <p:nvPr/>
        </p:nvSpPr>
        <p:spPr>
          <a:xfrm>
            <a:off x="5413248" y="4896068"/>
            <a:ext cx="14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934" name="Google Shape;934;p7"/>
          <p:cNvSpPr/>
          <p:nvPr/>
        </p:nvSpPr>
        <p:spPr>
          <a:xfrm>
            <a:off x="5559552" y="4603460"/>
            <a:ext cx="1518000" cy="84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5" name="Google Shape;935;p7"/>
          <p:cNvSpPr txBox="1"/>
          <p:nvPr/>
        </p:nvSpPr>
        <p:spPr>
          <a:xfrm>
            <a:off x="5669280" y="4694900"/>
            <a:ext cx="129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936" name="Google Shape;936;p7"/>
          <p:cNvSpPr txBox="1"/>
          <p:nvPr/>
        </p:nvSpPr>
        <p:spPr>
          <a:xfrm>
            <a:off x="5669280" y="4929785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設備問題描述與確認</a:t>
            </a:r>
            <a:endParaRPr sz="1000"/>
          </a:p>
        </p:txBody>
      </p:sp>
      <p:sp>
        <p:nvSpPr>
          <p:cNvPr id="937" name="Google Shape;937;p7"/>
          <p:cNvSpPr txBox="1"/>
          <p:nvPr/>
        </p:nvSpPr>
        <p:spPr>
          <a:xfrm>
            <a:off x="7077456" y="4896068"/>
            <a:ext cx="14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938" name="Google Shape;938;p7"/>
          <p:cNvSpPr/>
          <p:nvPr/>
        </p:nvSpPr>
        <p:spPr>
          <a:xfrm>
            <a:off x="7223760" y="4603460"/>
            <a:ext cx="1518000" cy="84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9" name="Google Shape;939;p7"/>
          <p:cNvSpPr txBox="1"/>
          <p:nvPr/>
        </p:nvSpPr>
        <p:spPr>
          <a:xfrm>
            <a:off x="7333488" y="4694900"/>
            <a:ext cx="129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940" name="Google Shape;940;p7"/>
          <p:cNvSpPr txBox="1"/>
          <p:nvPr/>
        </p:nvSpPr>
        <p:spPr>
          <a:xfrm>
            <a:off x="7333488" y="4929785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建立設備報修單</a:t>
            </a:r>
            <a:endParaRPr sz="1000"/>
          </a:p>
        </p:txBody>
      </p:sp>
      <p:sp>
        <p:nvSpPr>
          <p:cNvPr id="941" name="Google Shape;941;p7"/>
          <p:cNvSpPr/>
          <p:nvPr/>
        </p:nvSpPr>
        <p:spPr>
          <a:xfrm>
            <a:off x="566928" y="5740255"/>
            <a:ext cx="3017400" cy="5670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2" name="Google Shape;942;p7"/>
          <p:cNvSpPr txBox="1"/>
          <p:nvPr/>
        </p:nvSpPr>
        <p:spPr>
          <a:xfrm>
            <a:off x="731520" y="5813407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流程圖類型</a:t>
            </a:r>
            <a:endParaRPr sz="1100"/>
          </a:p>
        </p:txBody>
      </p:sp>
      <p:sp>
        <p:nvSpPr>
          <p:cNvPr id="943" name="Google Shape;943;p7"/>
          <p:cNvSpPr txBox="1"/>
          <p:nvPr/>
        </p:nvSpPr>
        <p:spPr>
          <a:xfrm>
            <a:off x="731520" y="6032863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User Flow Chart</a:t>
            </a:r>
            <a:r>
              <a:rPr b="1" lang="en-US" sz="1000">
                <a:solidFill>
                  <a:srgbClr val="C4463D"/>
                </a:solidFill>
              </a:rPr>
              <a:t>（本專案預設使用）</a:t>
            </a:r>
            <a:endParaRPr sz="1000"/>
          </a:p>
        </p:txBody>
      </p:sp>
      <p:sp>
        <p:nvSpPr>
          <p:cNvPr id="944" name="Google Shape;944;p7"/>
          <p:cNvSpPr/>
          <p:nvPr/>
        </p:nvSpPr>
        <p:spPr>
          <a:xfrm>
            <a:off x="3730752" y="5740255"/>
            <a:ext cx="4983600" cy="5670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5" name="Google Shape;945;p7"/>
          <p:cNvSpPr txBox="1"/>
          <p:nvPr/>
        </p:nvSpPr>
        <p:spPr>
          <a:xfrm>
            <a:off x="3895344" y="5821618"/>
            <a:ext cx="4663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為什麼選這個</a:t>
            </a: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案例</a:t>
            </a:r>
            <a:endParaRPr sz="1100"/>
          </a:p>
        </p:txBody>
      </p:sp>
      <p:sp>
        <p:nvSpPr>
          <p:cNvPr id="946" name="Google Shape;946;p7"/>
          <p:cNvSpPr txBox="1"/>
          <p:nvPr/>
        </p:nvSpPr>
        <p:spPr>
          <a:xfrm>
            <a:off x="3895350" y="6055287"/>
            <a:ext cx="4855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同時具備多階段作業、多重分支、確認與重試迴圈，可檢視 AI 轉換業務規則的能力</a:t>
            </a:r>
            <a:endParaRPr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3" name="Google Shape;953;p8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8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7" name="Google Shape;957;p8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8" name="Google Shape;958;p8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9" name="Google Shape;959;p8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0" name="Google Shape;960;p8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1" name="Google Shape;961;p8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2" name="Google Shape;962;p8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3" name="Google Shape;963;p8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4" name="Google Shape;964;p8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5" name="Google Shape;965;p8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6" name="Google Shape;966;p8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7" name="Google Shape;967;p8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8" name="Google Shape;968;p8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9" name="Google Shape;969;p8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70" name="Google Shape;970;p8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1" name="Google Shape;971;p8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2" name="Google Shape;972;p8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3" name="Google Shape;973;p8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4" name="Google Shape;974;p8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5" name="Google Shape;975;p8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6" name="Google Shape;976;p8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7" name="Google Shape;977;p8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8" name="Google Shape;978;p8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9" name="Google Shape;979;p8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0" name="Google Shape;980;p8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1" name="Google Shape;981;p8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2" name="Google Shape;982;p8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3" name="Google Shape;983;p8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4" name="Google Shape;984;p8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5" name="Google Shape;985;p8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6" name="Google Shape;986;p8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7" name="Google Shape;987;p8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8" name="Google Shape;988;p8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9" name="Google Shape;989;p8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0" name="Google Shape;990;p8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1" name="Google Shape;991;p8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2" name="Google Shape;992;p8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3" name="Google Shape;993;p8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4" name="Google Shape;994;p8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5" name="Google Shape;995;p8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6" name="Google Shape;996;p8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7" name="Google Shape;997;p8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8" name="Google Shape;998;p8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9" name="Google Shape;999;p8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0" name="Google Shape;1000;p8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1" name="Google Shape;1001;p8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2" name="Google Shape;1002;p8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3" name="Google Shape;1003;p8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4" name="Google Shape;1004;p8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5" name="Google Shape;1005;p8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6" name="Google Shape;1006;p8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7" name="Google Shape;1007;p8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8" name="Google Shape;1008;p8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9" name="Google Shape;1009;p8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0" name="Google Shape;1010;p8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1" name="Google Shape;1011;p8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2" name="Google Shape;1012;p8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50">
                <a:solidFill>
                  <a:srgbClr val="E0B64E"/>
                </a:solidFill>
              </a:rPr>
              <a:t>9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4" name="Google Shape;1014;p8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8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8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8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8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8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8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8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8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8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8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8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8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8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8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8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8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8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4" name="Google Shape;1034;p8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5" name="Google Shape;1035;p8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6" name="Google Shape;1036;p8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Prompt 與操作流程</a:t>
            </a:r>
            <a:endParaRPr/>
          </a:p>
        </p:txBody>
      </p:sp>
      <p:sp>
        <p:nvSpPr>
          <p:cNvPr id="1037" name="Google Shape;1037;p8"/>
          <p:cNvSpPr txBox="1"/>
          <p:nvPr/>
        </p:nvSpPr>
        <p:spPr>
          <a:xfrm>
            <a:off x="566928" y="1815641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Task Prompt 與操作流程總覽</a:t>
            </a:r>
            <a:endParaRPr sz="3200"/>
          </a:p>
        </p:txBody>
      </p:sp>
      <p:cxnSp>
        <p:nvCxnSpPr>
          <p:cNvPr id="1038" name="Google Shape;1038;p8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39" name="Google Shape;1039;p8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0" name="Google Shape;1040;p8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1" name="Google Shape;1041;p8"/>
          <p:cNvSpPr/>
          <p:nvPr/>
        </p:nvSpPr>
        <p:spPr>
          <a:xfrm>
            <a:off x="566925" y="2759996"/>
            <a:ext cx="4079400" cy="15603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2" name="Google Shape;1042;p8"/>
          <p:cNvSpPr/>
          <p:nvPr/>
        </p:nvSpPr>
        <p:spPr>
          <a:xfrm>
            <a:off x="731525" y="2879248"/>
            <a:ext cx="1382700" cy="2376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3" name="Google Shape;1043;p8"/>
          <p:cNvSpPr txBox="1"/>
          <p:nvPr/>
        </p:nvSpPr>
        <p:spPr>
          <a:xfrm>
            <a:off x="724732" y="2901771"/>
            <a:ext cx="144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Task Prompt</a:t>
            </a:r>
            <a:endParaRPr sz="1300"/>
          </a:p>
        </p:txBody>
      </p:sp>
      <p:sp>
        <p:nvSpPr>
          <p:cNvPr id="1044" name="Google Shape;1044;p8"/>
          <p:cNvSpPr/>
          <p:nvPr/>
        </p:nvSpPr>
        <p:spPr>
          <a:xfrm>
            <a:off x="731525" y="3259521"/>
            <a:ext cx="3775500" cy="896100"/>
          </a:xfrm>
          <a:prstGeom prst="roundRect">
            <a:avLst>
              <a:gd fmla="val 8000" name="adj"/>
            </a:avLst>
          </a:prstGeom>
          <a:solidFill>
            <a:srgbClr val="F0EDE5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5" name="Google Shape;1045;p8"/>
          <p:cNvSpPr txBox="1"/>
          <p:nvPr/>
        </p:nvSpPr>
        <p:spPr>
          <a:xfrm>
            <a:off x="859524" y="3350946"/>
            <a:ext cx="3548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請使用 flow-chart-creator Skill，協助我梳理業務流程，並產生可編輯的 draw.io 流程圖。請完整依照 Skill 定義的互動流程、分析步驟、繪圖規格及檢查流程執行</a:t>
            </a:r>
            <a:endParaRPr sz="1100"/>
          </a:p>
        </p:txBody>
      </p:sp>
      <p:sp>
        <p:nvSpPr>
          <p:cNvPr id="1046" name="Google Shape;1046;p8"/>
          <p:cNvSpPr txBox="1"/>
          <p:nvPr/>
        </p:nvSpPr>
        <p:spPr>
          <a:xfrm>
            <a:off x="721709" y="4498848"/>
            <a:ext cx="384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Task Prompt 負責</a:t>
            </a:r>
            <a:endParaRPr/>
          </a:p>
        </p:txBody>
      </p:sp>
      <p:sp>
        <p:nvSpPr>
          <p:cNvPr id="1047" name="Google Shape;1047;p8"/>
          <p:cNvSpPr/>
          <p:nvPr/>
        </p:nvSpPr>
        <p:spPr>
          <a:xfrm>
            <a:off x="717042" y="4949667"/>
            <a:ext cx="41100" cy="41100"/>
          </a:xfrm>
          <a:prstGeom prst="rect">
            <a:avLst/>
          </a:prstGeom>
          <a:solidFill>
            <a:srgbClr val="C44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8" name="Google Shape;1048;p8"/>
          <p:cNvSpPr txBox="1"/>
          <p:nvPr/>
        </p:nvSpPr>
        <p:spPr>
          <a:xfrm>
            <a:off x="904589" y="4885659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啟動流程圖生成任務</a:t>
            </a:r>
            <a:endParaRPr sz="1200"/>
          </a:p>
        </p:txBody>
      </p:sp>
      <p:sp>
        <p:nvSpPr>
          <p:cNvPr id="1049" name="Google Shape;1049;p8"/>
          <p:cNvSpPr/>
          <p:nvPr/>
        </p:nvSpPr>
        <p:spPr>
          <a:xfrm>
            <a:off x="717042" y="5294610"/>
            <a:ext cx="41100" cy="41100"/>
          </a:xfrm>
          <a:prstGeom prst="rect">
            <a:avLst/>
          </a:prstGeom>
          <a:solidFill>
            <a:srgbClr val="C44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0" name="Google Shape;1050;p8"/>
          <p:cNvSpPr txBox="1"/>
          <p:nvPr/>
        </p:nvSpPr>
        <p:spPr>
          <a:xfrm>
            <a:off x="904589" y="5230602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指定使用自訂的 flow-chart-creator Skill</a:t>
            </a:r>
            <a:endParaRPr sz="1200"/>
          </a:p>
        </p:txBody>
      </p:sp>
      <p:sp>
        <p:nvSpPr>
          <p:cNvPr id="1051" name="Google Shape;1051;p8"/>
          <p:cNvSpPr/>
          <p:nvPr/>
        </p:nvSpPr>
        <p:spPr>
          <a:xfrm>
            <a:off x="717042" y="5650021"/>
            <a:ext cx="41100" cy="41100"/>
          </a:xfrm>
          <a:prstGeom prst="rect">
            <a:avLst/>
          </a:prstGeom>
          <a:solidFill>
            <a:srgbClr val="C44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2" name="Google Shape;1052;p8"/>
          <p:cNvSpPr txBox="1"/>
          <p:nvPr/>
        </p:nvSpPr>
        <p:spPr>
          <a:xfrm>
            <a:off x="904589" y="5586013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要求完整依照 Skill 規定的流程執行</a:t>
            </a:r>
            <a:endParaRPr sz="1200"/>
          </a:p>
        </p:txBody>
      </p:sp>
      <p:sp>
        <p:nvSpPr>
          <p:cNvPr id="1053" name="Google Shape;1053;p8"/>
          <p:cNvSpPr txBox="1"/>
          <p:nvPr/>
        </p:nvSpPr>
        <p:spPr>
          <a:xfrm>
            <a:off x="204833" y="6590638"/>
            <a:ext cx="393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Prompt 存放：03-prompt/task-prompt.md（GitHub）</a:t>
            </a:r>
            <a:endParaRPr sz="800"/>
          </a:p>
        </p:txBody>
      </p:sp>
      <p:sp>
        <p:nvSpPr>
          <p:cNvPr id="1054" name="Google Shape;1054;p8"/>
          <p:cNvSpPr txBox="1"/>
          <p:nvPr/>
        </p:nvSpPr>
        <p:spPr>
          <a:xfrm>
            <a:off x="4846320" y="2688336"/>
            <a:ext cx="384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操作流程總覽</a:t>
            </a:r>
            <a:endParaRPr/>
          </a:p>
        </p:txBody>
      </p:sp>
      <p:sp>
        <p:nvSpPr>
          <p:cNvPr id="1055" name="Google Shape;1055;p8"/>
          <p:cNvSpPr/>
          <p:nvPr/>
        </p:nvSpPr>
        <p:spPr>
          <a:xfrm>
            <a:off x="4846320" y="2962656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6" name="Google Shape;1056;p8"/>
          <p:cNvSpPr txBox="1"/>
          <p:nvPr/>
        </p:nvSpPr>
        <p:spPr>
          <a:xfrm>
            <a:off x="4919472" y="3030692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輸入 Task Prompt</a:t>
            </a:r>
            <a:endParaRPr sz="1100"/>
          </a:p>
        </p:txBody>
      </p:sp>
      <p:cxnSp>
        <p:nvCxnSpPr>
          <p:cNvPr id="1057" name="Google Shape;1057;p8"/>
          <p:cNvCxnSpPr/>
          <p:nvPr/>
        </p:nvCxnSpPr>
        <p:spPr>
          <a:xfrm>
            <a:off x="6775704" y="3268980"/>
            <a:ext cx="0" cy="9144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58" name="Google Shape;1058;p8"/>
          <p:cNvSpPr/>
          <p:nvPr/>
        </p:nvSpPr>
        <p:spPr>
          <a:xfrm>
            <a:off x="4846320" y="3360420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9EBC8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9" name="Google Shape;1059;p8"/>
          <p:cNvSpPr txBox="1"/>
          <p:nvPr/>
        </p:nvSpPr>
        <p:spPr>
          <a:xfrm>
            <a:off x="4919472" y="3428456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Fable 5 啟動自訂 Skill</a:t>
            </a:r>
            <a:endParaRPr sz="1100"/>
          </a:p>
        </p:txBody>
      </p:sp>
      <p:cxnSp>
        <p:nvCxnSpPr>
          <p:cNvPr id="1060" name="Google Shape;1060;p8"/>
          <p:cNvCxnSpPr/>
          <p:nvPr/>
        </p:nvCxnSpPr>
        <p:spPr>
          <a:xfrm>
            <a:off x="6775704" y="3666744"/>
            <a:ext cx="0" cy="9144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1" name="Google Shape;1061;p8"/>
          <p:cNvSpPr/>
          <p:nvPr/>
        </p:nvSpPr>
        <p:spPr>
          <a:xfrm>
            <a:off x="4846320" y="3758184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2" name="Google Shape;1062;p8"/>
          <p:cNvSpPr txBox="1"/>
          <p:nvPr/>
        </p:nvSpPr>
        <p:spPr>
          <a:xfrm>
            <a:off x="4919472" y="3816500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確認是否已有流程說明文件</a:t>
            </a:r>
            <a:endParaRPr sz="1100"/>
          </a:p>
        </p:txBody>
      </p:sp>
      <p:cxnSp>
        <p:nvCxnSpPr>
          <p:cNvPr id="1063" name="Google Shape;1063;p8"/>
          <p:cNvCxnSpPr/>
          <p:nvPr/>
        </p:nvCxnSpPr>
        <p:spPr>
          <a:xfrm>
            <a:off x="6775704" y="4064508"/>
            <a:ext cx="0" cy="9144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4" name="Google Shape;1064;p8"/>
          <p:cNvSpPr/>
          <p:nvPr/>
        </p:nvSpPr>
        <p:spPr>
          <a:xfrm>
            <a:off x="4846320" y="4155948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5" name="Google Shape;1065;p8"/>
          <p:cNvSpPr txBox="1"/>
          <p:nvPr/>
        </p:nvSpPr>
        <p:spPr>
          <a:xfrm>
            <a:off x="4919472" y="4233703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讀取既有文件／依模板引導建立文件</a:t>
            </a:r>
            <a:endParaRPr sz="1100"/>
          </a:p>
        </p:txBody>
      </p:sp>
      <p:cxnSp>
        <p:nvCxnSpPr>
          <p:cNvPr id="1066" name="Google Shape;1066;p8"/>
          <p:cNvCxnSpPr/>
          <p:nvPr/>
        </p:nvCxnSpPr>
        <p:spPr>
          <a:xfrm>
            <a:off x="6775704" y="4462272"/>
            <a:ext cx="0" cy="9144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7" name="Google Shape;1067;p8"/>
          <p:cNvSpPr/>
          <p:nvPr/>
        </p:nvSpPr>
        <p:spPr>
          <a:xfrm>
            <a:off x="4846320" y="4553712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8" name="Google Shape;1068;p8"/>
          <p:cNvSpPr txBox="1"/>
          <p:nvPr/>
        </p:nvSpPr>
        <p:spPr>
          <a:xfrm>
            <a:off x="4919472" y="4621748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Fable5 分析並結構化流程 → 交付使用者確認</a:t>
            </a:r>
            <a:endParaRPr sz="1100"/>
          </a:p>
        </p:txBody>
      </p:sp>
      <p:cxnSp>
        <p:nvCxnSpPr>
          <p:cNvPr id="1069" name="Google Shape;1069;p8"/>
          <p:cNvCxnSpPr/>
          <p:nvPr/>
        </p:nvCxnSpPr>
        <p:spPr>
          <a:xfrm>
            <a:off x="6775704" y="4860036"/>
            <a:ext cx="0" cy="91439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0" name="Google Shape;1070;p8"/>
          <p:cNvSpPr/>
          <p:nvPr/>
        </p:nvSpPr>
        <p:spPr>
          <a:xfrm>
            <a:off x="4846320" y="4951475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9EBC8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1" name="Google Shape;1071;p8"/>
          <p:cNvSpPr txBox="1"/>
          <p:nvPr/>
        </p:nvSpPr>
        <p:spPr>
          <a:xfrm>
            <a:off x="4919472" y="5019511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呼叫 draw.io MCP，將圖形資料傳送至 draw.io 網頁版</a:t>
            </a:r>
            <a:endParaRPr sz="1100"/>
          </a:p>
        </p:txBody>
      </p:sp>
      <p:cxnSp>
        <p:nvCxnSpPr>
          <p:cNvPr id="1072" name="Google Shape;1072;p8"/>
          <p:cNvCxnSpPr/>
          <p:nvPr/>
        </p:nvCxnSpPr>
        <p:spPr>
          <a:xfrm>
            <a:off x="6775704" y="5257799"/>
            <a:ext cx="0" cy="9144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3" name="Google Shape;1073;p8"/>
          <p:cNvSpPr/>
          <p:nvPr/>
        </p:nvSpPr>
        <p:spPr>
          <a:xfrm>
            <a:off x="4846320" y="5349239"/>
            <a:ext cx="3858768" cy="29718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4" name="Google Shape;1074;p8"/>
          <p:cNvSpPr txBox="1"/>
          <p:nvPr/>
        </p:nvSpPr>
        <p:spPr>
          <a:xfrm>
            <a:off x="4919472" y="5417275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draw.io 網頁版載入並呈現流程圖</a:t>
            </a:r>
            <a:endParaRPr sz="1100"/>
          </a:p>
        </p:txBody>
      </p:sp>
      <p:cxnSp>
        <p:nvCxnSpPr>
          <p:cNvPr id="1075" name="Google Shape;1075;p8"/>
          <p:cNvCxnSpPr/>
          <p:nvPr/>
        </p:nvCxnSpPr>
        <p:spPr>
          <a:xfrm>
            <a:off x="6775654" y="5649826"/>
            <a:ext cx="0" cy="915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6" name="Google Shape;1076;p8"/>
          <p:cNvSpPr/>
          <p:nvPr/>
        </p:nvSpPr>
        <p:spPr>
          <a:xfrm>
            <a:off x="4846270" y="5741266"/>
            <a:ext cx="3858900" cy="29730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7" name="Google Shape;1077;p8"/>
          <p:cNvSpPr txBox="1"/>
          <p:nvPr/>
        </p:nvSpPr>
        <p:spPr>
          <a:xfrm>
            <a:off x="4919422" y="5809302"/>
            <a:ext cx="3712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使用者檢查內容是否符合預期並進行必要調整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9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9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4" name="Google Shape;1084;p9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9"/>
          <p:cNvSpPr/>
          <p:nvPr/>
        </p:nvSpPr>
        <p:spPr>
          <a:xfrm>
            <a:off x="9125712" y="2916694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9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8" name="Google Shape;1088;p9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9" name="Google Shape;1089;p9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0" name="Google Shape;1090;p9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1" name="Google Shape;1091;p9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2" name="Google Shape;1092;p9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3" name="Google Shape;1093;p9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4" name="Google Shape;1094;p9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5" name="Google Shape;1095;p9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6" name="Google Shape;1096;p9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7" name="Google Shape;1097;p9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8" name="Google Shape;1098;p9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9" name="Google Shape;1099;p9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0" name="Google Shape;1100;p9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01" name="Google Shape;1101;p9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9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3" name="Google Shape;1103;p9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4" name="Google Shape;1104;p9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5" name="Google Shape;1105;p9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p9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7" name="Google Shape;1107;p9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8" name="Google Shape;1108;p9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9" name="Google Shape;1109;p9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0" name="Google Shape;1110;p9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1" name="Google Shape;1111;p9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2" name="Google Shape;1112;p9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3" name="Google Shape;1113;p9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4" name="Google Shape;1114;p9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5" name="Google Shape;1115;p9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6" name="Google Shape;1116;p9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7" name="Google Shape;1117;p9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8" name="Google Shape;1118;p9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9" name="Google Shape;1119;p9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0" name="Google Shape;1120;p9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1" name="Google Shape;1121;p9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2" name="Google Shape;1122;p9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3" name="Google Shape;1123;p9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4" name="Google Shape;1124;p9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5" name="Google Shape;1125;p9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6" name="Google Shape;1126;p9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7" name="Google Shape;1127;p9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8" name="Google Shape;1128;p9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9" name="Google Shape;1129;p9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0" name="Google Shape;1130;p9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1" name="Google Shape;1131;p9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2" name="Google Shape;1132;p9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3" name="Google Shape;1133;p9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4" name="Google Shape;1134;p9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5" name="Google Shape;1135;p9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6" name="Google Shape;1136;p9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7" name="Google Shape;1137;p9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8" name="Google Shape;1138;p9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9" name="Google Shape;1139;p9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0" name="Google Shape;1140;p9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1" name="Google Shape;1141;p9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2" name="Google Shape;1142;p9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3" name="Google Shape;1143;p9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9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10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5" name="Google Shape;1145;p9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9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9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9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9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9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9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9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9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9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9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9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9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9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5" name="Google Shape;1165;p9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6" name="Google Shape;1166;p9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7" name="Google Shape;1167;p9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Prompt 與操作流程</a:t>
            </a:r>
            <a:endParaRPr/>
          </a:p>
        </p:txBody>
      </p:sp>
      <p:sp>
        <p:nvSpPr>
          <p:cNvPr id="1168" name="Google Shape;1168;p9"/>
          <p:cNvSpPr txBox="1"/>
          <p:nvPr/>
        </p:nvSpPr>
        <p:spPr>
          <a:xfrm>
            <a:off x="566928" y="1841246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自訂 Skill 如何運作</a:t>
            </a:r>
            <a:endParaRPr sz="3200"/>
          </a:p>
        </p:txBody>
      </p:sp>
      <p:cxnSp>
        <p:nvCxnSpPr>
          <p:cNvPr id="1169" name="Google Shape;1169;p9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70" name="Google Shape;1170;p9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71" name="Google Shape;1171;p9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2" name="Google Shape;1172;p9"/>
          <p:cNvSpPr/>
          <p:nvPr/>
        </p:nvSpPr>
        <p:spPr>
          <a:xfrm>
            <a:off x="566925" y="2761500"/>
            <a:ext cx="3749100" cy="159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3" name="Google Shape;1173;p9"/>
          <p:cNvSpPr txBox="1"/>
          <p:nvPr/>
        </p:nvSpPr>
        <p:spPr>
          <a:xfrm>
            <a:off x="731520" y="2871216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Skill 資料夾結構</a:t>
            </a:r>
            <a:endParaRPr/>
          </a:p>
        </p:txBody>
      </p:sp>
      <p:sp>
        <p:nvSpPr>
          <p:cNvPr id="1174" name="Google Shape;1174;p9"/>
          <p:cNvSpPr/>
          <p:nvPr/>
        </p:nvSpPr>
        <p:spPr>
          <a:xfrm>
            <a:off x="731525" y="3145525"/>
            <a:ext cx="3419700" cy="1060800"/>
          </a:xfrm>
          <a:prstGeom prst="roundRect">
            <a:avLst>
              <a:gd fmla="val 8000" name="adj"/>
            </a:avLst>
          </a:prstGeom>
          <a:solidFill>
            <a:srgbClr val="F0EDE5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5" name="Google Shape;1175;p9"/>
          <p:cNvSpPr txBox="1"/>
          <p:nvPr/>
        </p:nvSpPr>
        <p:spPr>
          <a:xfrm>
            <a:off x="877824" y="3236976"/>
            <a:ext cx="320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32B"/>
                </a:solidFill>
                <a:latin typeface="Consolas"/>
                <a:ea typeface="Consolas"/>
                <a:cs typeface="Consolas"/>
                <a:sym typeface="Consolas"/>
              </a:rPr>
              <a:t>flow-chart-creator/</a:t>
            </a:r>
            <a:endParaRPr sz="10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32B"/>
                </a:solidFill>
                <a:latin typeface="Consolas"/>
                <a:ea typeface="Consolas"/>
                <a:cs typeface="Consolas"/>
                <a:sym typeface="Consolas"/>
              </a:rPr>
              <a:t>├─ SKILL.md</a:t>
            </a:r>
            <a:endParaRPr sz="10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32B"/>
                </a:solidFill>
                <a:latin typeface="Consolas"/>
                <a:ea typeface="Consolas"/>
                <a:cs typeface="Consolas"/>
                <a:sym typeface="Consolas"/>
              </a:rPr>
              <a:t>└─ references/</a:t>
            </a:r>
            <a:endParaRPr sz="10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32B"/>
                </a:solidFill>
                <a:latin typeface="Consolas"/>
                <a:ea typeface="Consolas"/>
                <a:cs typeface="Consolas"/>
                <a:sym typeface="Consolas"/>
              </a:rPr>
              <a:t>　　├─ flow-desc-template.md</a:t>
            </a:r>
            <a:endParaRPr sz="10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F232B"/>
                </a:solidFill>
                <a:latin typeface="Consolas"/>
                <a:ea typeface="Consolas"/>
                <a:cs typeface="Consolas"/>
                <a:sym typeface="Consolas"/>
              </a:rPr>
              <a:t>　　└─ drawing-spec.md</a:t>
            </a:r>
            <a:endParaRPr sz="1000"/>
          </a:p>
        </p:txBody>
      </p:sp>
      <p:sp>
        <p:nvSpPr>
          <p:cNvPr id="1176" name="Google Shape;1176;p9"/>
          <p:cNvSpPr txBox="1"/>
          <p:nvPr/>
        </p:nvSpPr>
        <p:spPr>
          <a:xfrm>
            <a:off x="647052" y="4514710"/>
            <a:ext cx="37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SKILL.md</a:t>
            </a:r>
            <a:endParaRPr sz="1200"/>
          </a:p>
        </p:txBody>
      </p:sp>
      <p:sp>
        <p:nvSpPr>
          <p:cNvPr id="1177" name="Google Shape;1177;p9"/>
          <p:cNvSpPr txBox="1"/>
          <p:nvPr/>
        </p:nvSpPr>
        <p:spPr>
          <a:xfrm>
            <a:off x="647052" y="4734166"/>
            <a:ext cx="3840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定義執行順序：文件確認、流程梳理、確認、產圖與檢查</a:t>
            </a:r>
            <a:endParaRPr sz="1000"/>
          </a:p>
        </p:txBody>
      </p:sp>
      <p:sp>
        <p:nvSpPr>
          <p:cNvPr id="1178" name="Google Shape;1178;p9"/>
          <p:cNvSpPr txBox="1"/>
          <p:nvPr/>
        </p:nvSpPr>
        <p:spPr>
          <a:xfrm>
            <a:off x="650820" y="5045062"/>
            <a:ext cx="37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flow-desc-template.md</a:t>
            </a:r>
            <a:endParaRPr sz="1200"/>
          </a:p>
        </p:txBody>
      </p:sp>
      <p:sp>
        <p:nvSpPr>
          <p:cNvPr id="1179" name="Google Shape;1179;p9"/>
          <p:cNvSpPr txBox="1"/>
          <p:nvPr/>
        </p:nvSpPr>
        <p:spPr>
          <a:xfrm>
            <a:off x="650820" y="5286669"/>
            <a:ext cx="3840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引導整理角色、系統、子流程、判斷條件與例外情境</a:t>
            </a:r>
            <a:endParaRPr sz="1000"/>
          </a:p>
        </p:txBody>
      </p:sp>
      <p:sp>
        <p:nvSpPr>
          <p:cNvPr id="1180" name="Google Shape;1180;p9"/>
          <p:cNvSpPr txBox="1"/>
          <p:nvPr/>
        </p:nvSpPr>
        <p:spPr>
          <a:xfrm>
            <a:off x="650820" y="5575414"/>
            <a:ext cx="37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drawing-spec.md</a:t>
            </a:r>
            <a:endParaRPr sz="1200"/>
          </a:p>
        </p:txBody>
      </p:sp>
      <p:sp>
        <p:nvSpPr>
          <p:cNvPr id="1181" name="Google Shape;1181;p9"/>
          <p:cNvSpPr txBox="1"/>
          <p:nvPr/>
        </p:nvSpPr>
        <p:spPr>
          <a:xfrm>
            <a:off x="652695" y="5822549"/>
            <a:ext cx="3840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節點樣式、色彩、間距、版面方向與連線規則。</a:t>
            </a:r>
            <a:endParaRPr sz="1000"/>
          </a:p>
        </p:txBody>
      </p:sp>
      <p:sp>
        <p:nvSpPr>
          <p:cNvPr id="1182" name="Google Shape;1182;p9"/>
          <p:cNvSpPr txBox="1"/>
          <p:nvPr/>
        </p:nvSpPr>
        <p:spPr>
          <a:xfrm>
            <a:off x="4681728" y="2688336"/>
            <a:ext cx="4023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自訂 Skill </a:t>
            </a: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處理流程</a:t>
            </a:r>
            <a:endParaRPr/>
          </a:p>
        </p:txBody>
      </p:sp>
      <p:sp>
        <p:nvSpPr>
          <p:cNvPr id="1183" name="Google Shape;1183;p9"/>
          <p:cNvSpPr/>
          <p:nvPr/>
        </p:nvSpPr>
        <p:spPr>
          <a:xfrm>
            <a:off x="4956048" y="3123374"/>
            <a:ext cx="3474600" cy="310800"/>
          </a:xfrm>
          <a:prstGeom prst="roundRect">
            <a:avLst>
              <a:gd fmla="val 18000" name="adj"/>
            </a:avLst>
          </a:prstGeom>
          <a:solidFill>
            <a:srgbClr val="F9EBC8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4" name="Google Shape;1184;p9"/>
          <p:cNvSpPr txBox="1"/>
          <p:nvPr/>
        </p:nvSpPr>
        <p:spPr>
          <a:xfrm>
            <a:off x="5029200" y="3194589"/>
            <a:ext cx="3328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Skill 詢問：是否已有流程說明文件？</a:t>
            </a:r>
            <a:endParaRPr sz="1100"/>
          </a:p>
        </p:txBody>
      </p:sp>
      <p:cxnSp>
        <p:nvCxnSpPr>
          <p:cNvPr id="1185" name="Google Shape;1185;p9"/>
          <p:cNvCxnSpPr/>
          <p:nvPr/>
        </p:nvCxnSpPr>
        <p:spPr>
          <a:xfrm>
            <a:off x="5760720" y="3452558"/>
            <a:ext cx="7800" cy="1260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86" name="Google Shape;1186;p9"/>
          <p:cNvCxnSpPr/>
          <p:nvPr/>
        </p:nvCxnSpPr>
        <p:spPr>
          <a:xfrm flipH="1">
            <a:off x="7602083" y="3452558"/>
            <a:ext cx="42300" cy="1350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87" name="Google Shape;1187;p9"/>
          <p:cNvSpPr/>
          <p:nvPr/>
        </p:nvSpPr>
        <p:spPr>
          <a:xfrm>
            <a:off x="4681728" y="3617150"/>
            <a:ext cx="1920300" cy="53040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8" name="Google Shape;1188;p9"/>
          <p:cNvSpPr txBox="1"/>
          <p:nvPr/>
        </p:nvSpPr>
        <p:spPr>
          <a:xfrm>
            <a:off x="4754880" y="3679463"/>
            <a:ext cx="1773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已有文件</a:t>
            </a: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endParaRPr sz="1100"/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讀取並分析文件</a:t>
            </a:r>
            <a:endParaRPr sz="1100"/>
          </a:p>
        </p:txBody>
      </p:sp>
      <p:sp>
        <p:nvSpPr>
          <p:cNvPr id="1189" name="Google Shape;1189;p9"/>
          <p:cNvSpPr/>
          <p:nvPr/>
        </p:nvSpPr>
        <p:spPr>
          <a:xfrm>
            <a:off x="6803136" y="3617150"/>
            <a:ext cx="1920300" cy="53040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0" name="Google Shape;1190;p9"/>
          <p:cNvSpPr txBox="1"/>
          <p:nvPr/>
        </p:nvSpPr>
        <p:spPr>
          <a:xfrm>
            <a:off x="6876288" y="3679463"/>
            <a:ext cx="1773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尚無文件</a:t>
            </a:r>
            <a:r>
              <a:rPr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endParaRPr sz="1100"/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依模板欄位逐步建立</a:t>
            </a:r>
            <a:endParaRPr sz="1100"/>
          </a:p>
        </p:txBody>
      </p:sp>
      <p:cxnSp>
        <p:nvCxnSpPr>
          <p:cNvPr id="1191" name="Google Shape;1191;p9"/>
          <p:cNvCxnSpPr/>
          <p:nvPr/>
        </p:nvCxnSpPr>
        <p:spPr>
          <a:xfrm>
            <a:off x="5760720" y="4165790"/>
            <a:ext cx="7800" cy="1515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92" name="Google Shape;1192;p9"/>
          <p:cNvCxnSpPr/>
          <p:nvPr/>
        </p:nvCxnSpPr>
        <p:spPr>
          <a:xfrm>
            <a:off x="7644383" y="4165790"/>
            <a:ext cx="2400" cy="1695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93" name="Google Shape;1193;p9"/>
          <p:cNvSpPr/>
          <p:nvPr/>
        </p:nvSpPr>
        <p:spPr>
          <a:xfrm>
            <a:off x="4681728" y="4348670"/>
            <a:ext cx="4041600" cy="31080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4" name="Google Shape;1194;p9"/>
          <p:cNvSpPr txBox="1"/>
          <p:nvPr/>
        </p:nvSpPr>
        <p:spPr>
          <a:xfrm>
            <a:off x="4754880" y="4419885"/>
            <a:ext cx="389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選擇圖表類型與繪圖範圍（完整主流程／子流程）</a:t>
            </a:r>
            <a:endParaRPr sz="1100"/>
          </a:p>
        </p:txBody>
      </p:sp>
      <p:cxnSp>
        <p:nvCxnSpPr>
          <p:cNvPr id="1195" name="Google Shape;1195;p9"/>
          <p:cNvCxnSpPr/>
          <p:nvPr/>
        </p:nvCxnSpPr>
        <p:spPr>
          <a:xfrm>
            <a:off x="6702552" y="4664137"/>
            <a:ext cx="0" cy="915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96" name="Google Shape;1196;p9"/>
          <p:cNvSpPr/>
          <p:nvPr/>
        </p:nvSpPr>
        <p:spPr>
          <a:xfrm>
            <a:off x="4681728" y="4764722"/>
            <a:ext cx="4041600" cy="31080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7" name="Google Shape;1197;p9"/>
          <p:cNvSpPr txBox="1"/>
          <p:nvPr/>
        </p:nvSpPr>
        <p:spPr>
          <a:xfrm>
            <a:off x="4754880" y="4835937"/>
            <a:ext cx="389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整理角色、系統、判斷點與例外情境</a:t>
            </a:r>
            <a:endParaRPr sz="1100"/>
          </a:p>
        </p:txBody>
      </p:sp>
      <p:cxnSp>
        <p:nvCxnSpPr>
          <p:cNvPr id="1198" name="Google Shape;1198;p9"/>
          <p:cNvCxnSpPr/>
          <p:nvPr/>
        </p:nvCxnSpPr>
        <p:spPr>
          <a:xfrm>
            <a:off x="6702552" y="5080189"/>
            <a:ext cx="0" cy="915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99" name="Google Shape;1199;p9"/>
          <p:cNvSpPr/>
          <p:nvPr/>
        </p:nvSpPr>
        <p:spPr>
          <a:xfrm>
            <a:off x="4681728" y="5180774"/>
            <a:ext cx="4041600" cy="310800"/>
          </a:xfrm>
          <a:prstGeom prst="roundRect">
            <a:avLst>
              <a:gd fmla="val 1800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0" name="Google Shape;1200;p9"/>
          <p:cNvSpPr txBox="1"/>
          <p:nvPr/>
        </p:nvSpPr>
        <p:spPr>
          <a:xfrm>
            <a:off x="4754880" y="5246014"/>
            <a:ext cx="389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使用者確認流程內容正確</a:t>
            </a:r>
            <a:endParaRPr sz="1100"/>
          </a:p>
        </p:txBody>
      </p:sp>
      <p:cxnSp>
        <p:nvCxnSpPr>
          <p:cNvPr id="1201" name="Google Shape;1201;p9"/>
          <p:cNvCxnSpPr/>
          <p:nvPr/>
        </p:nvCxnSpPr>
        <p:spPr>
          <a:xfrm>
            <a:off x="6702552" y="5507400"/>
            <a:ext cx="0" cy="915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2" name="Google Shape;1202;p9"/>
          <p:cNvSpPr/>
          <p:nvPr/>
        </p:nvSpPr>
        <p:spPr>
          <a:xfrm>
            <a:off x="4672578" y="5610984"/>
            <a:ext cx="4041600" cy="310800"/>
          </a:xfrm>
          <a:prstGeom prst="roundRect">
            <a:avLst>
              <a:gd fmla="val 18000" name="adj"/>
            </a:avLst>
          </a:prstGeom>
          <a:solidFill>
            <a:srgbClr val="F8E3E1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3" name="Google Shape;1203;p9"/>
          <p:cNvSpPr txBox="1"/>
          <p:nvPr/>
        </p:nvSpPr>
        <p:spPr>
          <a:xfrm>
            <a:off x="4745730" y="5682748"/>
            <a:ext cx="389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確認無誤後才進入繪圖階段</a:t>
            </a:r>
            <a:endParaRPr sz="1100"/>
          </a:p>
        </p:txBody>
      </p:sp>
      <p:sp>
        <p:nvSpPr>
          <p:cNvPr id="1204" name="Google Shape;1204;p9"/>
          <p:cNvSpPr txBox="1"/>
          <p:nvPr/>
        </p:nvSpPr>
        <p:spPr>
          <a:xfrm>
            <a:off x="182865" y="6588096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完整 Skill 與參考文件保存於 GitHub（06-.claude/skills）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0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0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1" name="Google Shape;1211;p10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2" name="Google Shape;1212;p10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10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10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5" name="Google Shape;1215;p10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p10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7" name="Google Shape;1217;p10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8" name="Google Shape;1218;p10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9" name="Google Shape;1219;p10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0" name="Google Shape;1220;p10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1" name="Google Shape;1221;p10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2" name="Google Shape;1222;p10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3" name="Google Shape;1223;p10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4" name="Google Shape;1224;p10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5" name="Google Shape;1225;p10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6" name="Google Shape;1226;p10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7" name="Google Shape;1227;p10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28" name="Google Shape;1228;p10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9" name="Google Shape;1229;p10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0" name="Google Shape;1230;p10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1" name="Google Shape;1231;p10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10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3" name="Google Shape;1233;p10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4" name="Google Shape;1234;p10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5" name="Google Shape;1235;p10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6" name="Google Shape;1236;p10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7" name="Google Shape;1237;p10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8" name="Google Shape;1238;p10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9" name="Google Shape;1239;p10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0" name="Google Shape;1240;p10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1" name="Google Shape;1241;p10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2" name="Google Shape;1242;p10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3" name="Google Shape;1243;p10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4" name="Google Shape;1244;p10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6" name="Google Shape;1246;p10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7" name="Google Shape;1247;p10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8" name="Google Shape;1248;p10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9" name="Google Shape;1249;p10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0" name="Google Shape;1250;p10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1" name="Google Shape;1251;p10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2" name="Google Shape;1252;p10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3" name="Google Shape;1253;p10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4" name="Google Shape;1254;p10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5" name="Google Shape;1255;p10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6" name="Google Shape;1256;p10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7" name="Google Shape;1257;p10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8" name="Google Shape;1258;p10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9" name="Google Shape;1259;p10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0" name="Google Shape;1260;p10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1" name="Google Shape;1261;p10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2" name="Google Shape;1262;p10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3" name="Google Shape;1263;p10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4" name="Google Shape;1264;p10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5" name="Google Shape;1265;p10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6" name="Google Shape;1266;p10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7" name="Google Shape;1267;p10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8" name="Google Shape;1268;p10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9" name="Google Shape;1269;p10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0" name="Google Shape;1270;p10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0"/>
          <p:cNvSpPr/>
          <p:nvPr/>
        </p:nvSpPr>
        <p:spPr>
          <a:xfrm>
            <a:off x="11497397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11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2" name="Google Shape;1272;p10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0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0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0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0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0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0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0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0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0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0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0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0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2" name="Google Shape;1292;p10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3" name="Google Shape;1293;p10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4" name="Google Shape;1294;p10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Prompt 與操作流程</a:t>
            </a:r>
            <a:endParaRPr/>
          </a:p>
        </p:txBody>
      </p:sp>
      <p:sp>
        <p:nvSpPr>
          <p:cNvPr id="1295" name="Google Shape;1295;p10"/>
          <p:cNvSpPr txBox="1"/>
          <p:nvPr/>
        </p:nvSpPr>
        <p:spPr>
          <a:xfrm>
            <a:off x="566928" y="1849810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Fable 5 × draw.io MCP：產圖與渲染</a:t>
            </a:r>
            <a:endParaRPr sz="3200"/>
          </a:p>
        </p:txBody>
      </p:sp>
      <p:cxnSp>
        <p:nvCxnSpPr>
          <p:cNvPr id="1296" name="Google Shape;1296;p10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97" name="Google Shape;1297;p10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98" name="Google Shape;1298;p10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9" name="Google Shape;1299;p10"/>
          <p:cNvSpPr/>
          <p:nvPr/>
        </p:nvSpPr>
        <p:spPr>
          <a:xfrm>
            <a:off x="566925" y="2836788"/>
            <a:ext cx="5175600" cy="7773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0" name="Google Shape;1300;p10"/>
          <p:cNvSpPr txBox="1"/>
          <p:nvPr/>
        </p:nvSpPr>
        <p:spPr>
          <a:xfrm>
            <a:off x="749808" y="2928227"/>
            <a:ext cx="38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300"/>
          </a:p>
        </p:txBody>
      </p:sp>
      <p:sp>
        <p:nvSpPr>
          <p:cNvPr id="1301" name="Google Shape;1301;p10"/>
          <p:cNvSpPr txBox="1"/>
          <p:nvPr/>
        </p:nvSpPr>
        <p:spPr>
          <a:xfrm>
            <a:off x="1188720" y="2928227"/>
            <a:ext cx="43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 生成 draw.io XML</a:t>
            </a:r>
            <a:endParaRPr sz="1200"/>
          </a:p>
        </p:txBody>
      </p:sp>
      <p:sp>
        <p:nvSpPr>
          <p:cNvPr id="1302" name="Google Shape;1302;p10"/>
          <p:cNvSpPr txBox="1"/>
          <p:nvPr/>
        </p:nvSpPr>
        <p:spPr>
          <a:xfrm>
            <a:off x="1188720" y="3184259"/>
            <a:ext cx="438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Fable 5 依據自訂 Skill、drawing-spec.md 與 MCP 工具提供的 XML 規則，將使用者確認後的流程內容轉換為 draw.io XML</a:t>
            </a:r>
            <a:endParaRPr sz="1000"/>
          </a:p>
        </p:txBody>
      </p:sp>
      <p:sp>
        <p:nvSpPr>
          <p:cNvPr id="1303" name="Google Shape;1303;p10"/>
          <p:cNvSpPr/>
          <p:nvPr/>
        </p:nvSpPr>
        <p:spPr>
          <a:xfrm>
            <a:off x="566928" y="3778338"/>
            <a:ext cx="5175600" cy="7314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4" name="Google Shape;1304;p10"/>
          <p:cNvSpPr txBox="1"/>
          <p:nvPr/>
        </p:nvSpPr>
        <p:spPr>
          <a:xfrm>
            <a:off x="749808" y="3879399"/>
            <a:ext cx="38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300"/>
          </a:p>
        </p:txBody>
      </p:sp>
      <p:sp>
        <p:nvSpPr>
          <p:cNvPr id="1305" name="Google Shape;1305;p10"/>
          <p:cNvSpPr txBox="1"/>
          <p:nvPr/>
        </p:nvSpPr>
        <p:spPr>
          <a:xfrm>
            <a:off x="1188720" y="3869778"/>
            <a:ext cx="43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呼叫 draw.io MCP</a:t>
            </a:r>
            <a:endParaRPr sz="1200"/>
          </a:p>
        </p:txBody>
      </p:sp>
      <p:sp>
        <p:nvSpPr>
          <p:cNvPr id="1306" name="Google Shape;1306;p10"/>
          <p:cNvSpPr txBox="1"/>
          <p:nvPr/>
        </p:nvSpPr>
        <p:spPr>
          <a:xfrm>
            <a:off x="1188720" y="4106567"/>
            <a:ext cx="438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Fable 5 呼叫 open_drawio_xml 工具，自動開啟 draw.io 網頁版並將 XML 渲染至畫布</a:t>
            </a:r>
            <a:endParaRPr sz="1500"/>
          </a:p>
        </p:txBody>
      </p:sp>
      <p:sp>
        <p:nvSpPr>
          <p:cNvPr id="1307" name="Google Shape;1307;p10"/>
          <p:cNvSpPr/>
          <p:nvPr/>
        </p:nvSpPr>
        <p:spPr>
          <a:xfrm>
            <a:off x="566928" y="4679483"/>
            <a:ext cx="5175600" cy="7314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8" name="Google Shape;1308;p10"/>
          <p:cNvSpPr txBox="1"/>
          <p:nvPr/>
        </p:nvSpPr>
        <p:spPr>
          <a:xfrm>
            <a:off x="749808" y="4761851"/>
            <a:ext cx="38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300"/>
          </a:p>
        </p:txBody>
      </p:sp>
      <p:sp>
        <p:nvSpPr>
          <p:cNvPr id="1309" name="Google Shape;1309;p10"/>
          <p:cNvSpPr txBox="1"/>
          <p:nvPr/>
        </p:nvSpPr>
        <p:spPr>
          <a:xfrm>
            <a:off x="1188720" y="4761851"/>
            <a:ext cx="43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網頁版渲染</a:t>
            </a:r>
            <a:endParaRPr sz="1200"/>
          </a:p>
        </p:txBody>
      </p:sp>
      <p:sp>
        <p:nvSpPr>
          <p:cNvPr id="1310" name="Google Shape;1310;p10"/>
          <p:cNvSpPr txBox="1"/>
          <p:nvPr/>
        </p:nvSpPr>
        <p:spPr>
          <a:xfrm>
            <a:off x="1188725" y="5008802"/>
            <a:ext cx="446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draw.io 讀取圖形資料並將流程圖呈現於畫布，使用者可直接調整節點、文字、連線與版面配置</a:t>
            </a:r>
            <a:endParaRPr sz="1000"/>
          </a:p>
        </p:txBody>
      </p:sp>
      <p:cxnSp>
        <p:nvCxnSpPr>
          <p:cNvPr id="1311" name="Google Shape;1311;p10"/>
          <p:cNvCxnSpPr/>
          <p:nvPr/>
        </p:nvCxnSpPr>
        <p:spPr>
          <a:xfrm>
            <a:off x="3153550" y="5411225"/>
            <a:ext cx="1500" cy="1737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2" name="Google Shape;1312;p10"/>
          <p:cNvSpPr/>
          <p:nvPr/>
        </p:nvSpPr>
        <p:spPr>
          <a:xfrm>
            <a:off x="566925" y="5584525"/>
            <a:ext cx="5175600" cy="7314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3" name="Google Shape;1313;p10"/>
          <p:cNvSpPr txBox="1"/>
          <p:nvPr/>
        </p:nvSpPr>
        <p:spPr>
          <a:xfrm>
            <a:off x="749808" y="5706678"/>
            <a:ext cx="38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300"/>
          </a:p>
        </p:txBody>
      </p:sp>
      <p:sp>
        <p:nvSpPr>
          <p:cNvPr id="1314" name="Google Shape;1314;p10"/>
          <p:cNvSpPr txBox="1"/>
          <p:nvPr/>
        </p:nvSpPr>
        <p:spPr>
          <a:xfrm>
            <a:off x="1188720" y="5706678"/>
            <a:ext cx="43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使用者依原始流程文件逐項檢查</a:t>
            </a:r>
            <a:endParaRPr sz="1200"/>
          </a:p>
        </p:txBody>
      </p:sp>
      <p:sp>
        <p:nvSpPr>
          <p:cNvPr id="1315" name="Google Shape;1315;p10"/>
          <p:cNvSpPr txBox="1"/>
          <p:nvPr/>
        </p:nvSpPr>
        <p:spPr>
          <a:xfrm>
            <a:off x="1188725" y="5993442"/>
            <a:ext cx="473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核對角色與系統、子流程完整性、判斷分支、例外轉接、連線關係與圖面可讀性</a:t>
            </a:r>
            <a:endParaRPr sz="1500"/>
          </a:p>
        </p:txBody>
      </p:sp>
      <p:cxnSp>
        <p:nvCxnSpPr>
          <p:cNvPr id="1316" name="Google Shape;1316;p10"/>
          <p:cNvCxnSpPr/>
          <p:nvPr/>
        </p:nvCxnSpPr>
        <p:spPr>
          <a:xfrm>
            <a:off x="3153550" y="4503488"/>
            <a:ext cx="1500" cy="1737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17" name="Google Shape;1317;p10"/>
          <p:cNvCxnSpPr/>
          <p:nvPr/>
        </p:nvCxnSpPr>
        <p:spPr>
          <a:xfrm>
            <a:off x="3153550" y="3614000"/>
            <a:ext cx="1500" cy="173700"/>
          </a:xfrm>
          <a:prstGeom prst="straightConnector1">
            <a:avLst/>
          </a:prstGeom>
          <a:noFill/>
          <a:ln cap="flat" cmpd="sng" w="1777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8" name="Google Shape;1318;p10"/>
          <p:cNvSpPr/>
          <p:nvPr/>
        </p:nvSpPr>
        <p:spPr>
          <a:xfrm>
            <a:off x="5986800" y="2829025"/>
            <a:ext cx="2752200" cy="2959800"/>
          </a:xfrm>
          <a:prstGeom prst="roundRect">
            <a:avLst>
              <a:gd fmla="val 6250" name="adj"/>
            </a:avLst>
          </a:prstGeom>
          <a:solidFill>
            <a:srgbClr val="E7EDF6"/>
          </a:solidFill>
          <a:ln cap="flat" cmpd="sng" w="15225">
            <a:solidFill>
              <a:srgbClr val="A8B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9" name="Google Shape;1319;p10"/>
          <p:cNvSpPr txBox="1"/>
          <p:nvPr/>
        </p:nvSpPr>
        <p:spPr>
          <a:xfrm>
            <a:off x="6169686" y="2975317"/>
            <a:ext cx="242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💡 </a:t>
            </a:r>
            <a:r>
              <a:rPr b="1" lang="en-US" sz="1200">
                <a:solidFill>
                  <a:srgbClr val="2F4A6B"/>
                </a:solidFill>
                <a:latin typeface="Noto Sans"/>
                <a:ea typeface="Noto Sans"/>
                <a:cs typeface="Noto Sans"/>
                <a:sym typeface="Noto Sans"/>
              </a:rPr>
              <a:t>實際操作</a:t>
            </a:r>
            <a:endParaRPr sz="1200"/>
          </a:p>
        </p:txBody>
      </p:sp>
      <p:sp>
        <p:nvSpPr>
          <p:cNvPr id="1320" name="Google Shape;1320;p10"/>
          <p:cNvSpPr txBox="1"/>
          <p:nvPr/>
        </p:nvSpPr>
        <p:spPr>
          <a:xfrm>
            <a:off x="6169686" y="3304501"/>
            <a:ext cx="239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677E"/>
                </a:solidFill>
                <a:latin typeface="Noto Sans"/>
                <a:ea typeface="Noto Sans"/>
                <a:cs typeface="Noto Sans"/>
                <a:sym typeface="Noto Sans"/>
              </a:rPr>
              <a:t>五個子流程皆已錄製 Demo 影片，每支影片均涵蓋以下內容：</a:t>
            </a:r>
            <a:endParaRPr sz="1000"/>
          </a:p>
        </p:txBody>
      </p:sp>
      <p:sp>
        <p:nvSpPr>
          <p:cNvPr id="1321" name="Google Shape;1321;p10"/>
          <p:cNvSpPr/>
          <p:nvPr/>
        </p:nvSpPr>
        <p:spPr>
          <a:xfrm>
            <a:off x="6206262" y="3875482"/>
            <a:ext cx="41100" cy="41100"/>
          </a:xfrm>
          <a:prstGeom prst="rect">
            <a:avLst/>
          </a:prstGeom>
          <a:solidFill>
            <a:srgbClr val="2F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2" name="Google Shape;1322;p10"/>
          <p:cNvSpPr txBox="1"/>
          <p:nvPr/>
        </p:nvSpPr>
        <p:spPr>
          <a:xfrm>
            <a:off x="6352566" y="3825190"/>
            <a:ext cx="224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5677E"/>
                </a:solidFill>
                <a:latin typeface="Noto Sans"/>
                <a:ea typeface="Noto Sans"/>
                <a:cs typeface="Noto Sans"/>
                <a:sym typeface="Noto Sans"/>
              </a:rPr>
              <a:t>輸入 Task Prompt</a:t>
            </a:r>
            <a:endParaRPr sz="1000"/>
          </a:p>
        </p:txBody>
      </p:sp>
      <p:sp>
        <p:nvSpPr>
          <p:cNvPr id="1323" name="Google Shape;1323;p10"/>
          <p:cNvSpPr/>
          <p:nvPr/>
        </p:nvSpPr>
        <p:spPr>
          <a:xfrm>
            <a:off x="6206262" y="4168090"/>
            <a:ext cx="41100" cy="41100"/>
          </a:xfrm>
          <a:prstGeom prst="rect">
            <a:avLst/>
          </a:prstGeom>
          <a:solidFill>
            <a:srgbClr val="2F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4" name="Google Shape;1324;p10"/>
          <p:cNvSpPr txBox="1"/>
          <p:nvPr/>
        </p:nvSpPr>
        <p:spPr>
          <a:xfrm>
            <a:off x="6352566" y="4117799"/>
            <a:ext cx="224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5677E"/>
                </a:solidFill>
                <a:latin typeface="Noto Sans"/>
                <a:ea typeface="Noto Sans"/>
                <a:cs typeface="Noto Sans"/>
                <a:sym typeface="Noto Sans"/>
              </a:rPr>
              <a:t>呼叫自訂 Skill</a:t>
            </a:r>
            <a:endParaRPr sz="1000"/>
          </a:p>
        </p:txBody>
      </p:sp>
      <p:sp>
        <p:nvSpPr>
          <p:cNvPr id="1325" name="Google Shape;1325;p10"/>
          <p:cNvSpPr/>
          <p:nvPr/>
        </p:nvSpPr>
        <p:spPr>
          <a:xfrm>
            <a:off x="6206262" y="4460699"/>
            <a:ext cx="41100" cy="41100"/>
          </a:xfrm>
          <a:prstGeom prst="rect">
            <a:avLst/>
          </a:prstGeom>
          <a:solidFill>
            <a:srgbClr val="2F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6" name="Google Shape;1326;p10"/>
          <p:cNvSpPr txBox="1"/>
          <p:nvPr/>
        </p:nvSpPr>
        <p:spPr>
          <a:xfrm>
            <a:off x="6352566" y="4410407"/>
            <a:ext cx="224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5677E"/>
                </a:solidFill>
                <a:latin typeface="Noto Sans"/>
                <a:ea typeface="Noto Sans"/>
                <a:cs typeface="Noto Sans"/>
                <a:sym typeface="Noto Sans"/>
              </a:rPr>
              <a:t>確認流程內容</a:t>
            </a:r>
            <a:endParaRPr sz="1000"/>
          </a:p>
        </p:txBody>
      </p:sp>
      <p:sp>
        <p:nvSpPr>
          <p:cNvPr id="1327" name="Google Shape;1327;p10"/>
          <p:cNvSpPr/>
          <p:nvPr/>
        </p:nvSpPr>
        <p:spPr>
          <a:xfrm>
            <a:off x="6206262" y="4753307"/>
            <a:ext cx="41100" cy="41100"/>
          </a:xfrm>
          <a:prstGeom prst="rect">
            <a:avLst/>
          </a:prstGeom>
          <a:solidFill>
            <a:srgbClr val="2F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8" name="Google Shape;1328;p10"/>
          <p:cNvSpPr txBox="1"/>
          <p:nvPr/>
        </p:nvSpPr>
        <p:spPr>
          <a:xfrm>
            <a:off x="6352566" y="4703015"/>
            <a:ext cx="224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5677E"/>
                </a:solidFill>
                <a:latin typeface="Noto Sans"/>
                <a:ea typeface="Noto Sans"/>
                <a:cs typeface="Noto Sans"/>
                <a:sym typeface="Noto Sans"/>
              </a:rPr>
              <a:t>draw.io MCP 產圖渲染</a:t>
            </a:r>
            <a:endParaRPr sz="1000"/>
          </a:p>
        </p:txBody>
      </p:sp>
      <p:sp>
        <p:nvSpPr>
          <p:cNvPr id="1329" name="Google Shape;1329;p10"/>
          <p:cNvSpPr/>
          <p:nvPr/>
        </p:nvSpPr>
        <p:spPr>
          <a:xfrm>
            <a:off x="6206262" y="5045915"/>
            <a:ext cx="41100" cy="41100"/>
          </a:xfrm>
          <a:prstGeom prst="rect">
            <a:avLst/>
          </a:prstGeom>
          <a:solidFill>
            <a:srgbClr val="2F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0" name="Google Shape;1330;p10"/>
          <p:cNvSpPr txBox="1"/>
          <p:nvPr/>
        </p:nvSpPr>
        <p:spPr>
          <a:xfrm>
            <a:off x="6352566" y="4995623"/>
            <a:ext cx="224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5677E"/>
                </a:solidFill>
                <a:latin typeface="Noto Sans"/>
                <a:ea typeface="Noto Sans"/>
                <a:cs typeface="Noto Sans"/>
                <a:sym typeface="Noto Sans"/>
              </a:rPr>
              <a:t>檢查產圖結果</a:t>
            </a:r>
            <a:endParaRPr sz="1000"/>
          </a:p>
        </p:txBody>
      </p:sp>
      <p:cxnSp>
        <p:nvCxnSpPr>
          <p:cNvPr id="1331" name="Google Shape;1331;p10"/>
          <p:cNvCxnSpPr/>
          <p:nvPr/>
        </p:nvCxnSpPr>
        <p:spPr>
          <a:xfrm>
            <a:off x="6169686" y="5352135"/>
            <a:ext cx="2377500" cy="0"/>
          </a:xfrm>
          <a:prstGeom prst="straightConnector1">
            <a:avLst/>
          </a:prstGeom>
          <a:noFill/>
          <a:ln cap="flat" cmpd="sng" w="12700">
            <a:solidFill>
              <a:srgbClr val="A8BAD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2" name="Google Shape;1332;p10"/>
          <p:cNvSpPr txBox="1"/>
          <p:nvPr/>
        </p:nvSpPr>
        <p:spPr>
          <a:xfrm>
            <a:off x="6005123" y="5465680"/>
            <a:ext cx="275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F4A6B"/>
                </a:solidFill>
                <a:latin typeface="Noto Sans"/>
                <a:ea typeface="Noto Sans"/>
                <a:cs typeface="Noto Sans"/>
                <a:sym typeface="Noto Sans"/>
              </a:rPr>
              <a:t>影片保存於 Google Drive</a:t>
            </a:r>
            <a:r>
              <a:rPr b="1" lang="en-US" sz="800">
                <a:solidFill>
                  <a:srgbClr val="2F4A6B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b="1" lang="en-US" sz="800">
                <a:solidFill>
                  <a:srgbClr val="2F4A6B"/>
                </a:solidFill>
                <a:latin typeface="Noto Sans"/>
                <a:ea typeface="Noto Sans"/>
                <a:cs typeface="Noto Sans"/>
                <a:sym typeface="Noto Sans"/>
              </a:rPr>
              <a:t>02-demo-video</a:t>
            </a:r>
            <a:endParaRPr b="1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f81dd6e895_0_5"/>
          <p:cNvSpPr/>
          <p:nvPr/>
        </p:nvSpPr>
        <p:spPr>
          <a:xfrm>
            <a:off x="9235440" y="0"/>
            <a:ext cx="2953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g3f81dd6e895_0_5"/>
          <p:cNvSpPr/>
          <p:nvPr/>
        </p:nvSpPr>
        <p:spPr>
          <a:xfrm>
            <a:off x="9253728" y="0"/>
            <a:ext cx="29169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9" name="Google Shape;1339;g3f81dd6e895_0_5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0" name="Google Shape;1340;g3f81dd6e895_0_5"/>
          <p:cNvSpPr/>
          <p:nvPr/>
        </p:nvSpPr>
        <p:spPr>
          <a:xfrm>
            <a:off x="9125712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g3f81dd6e895_0_5"/>
          <p:cNvSpPr/>
          <p:nvPr/>
        </p:nvSpPr>
        <p:spPr>
          <a:xfrm>
            <a:off x="9180576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g3f81dd6e895_0_5"/>
          <p:cNvSpPr/>
          <p:nvPr/>
        </p:nvSpPr>
        <p:spPr>
          <a:xfrm>
            <a:off x="10195560" y="502920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3" name="Google Shape;1343;g3f81dd6e895_0_5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4" name="Google Shape;1344;g3f81dd6e895_0_5"/>
          <p:cNvSpPr/>
          <p:nvPr/>
        </p:nvSpPr>
        <p:spPr>
          <a:xfrm>
            <a:off x="9966960" y="1417320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5" name="Google Shape;1345;g3f81dd6e895_0_5"/>
          <p:cNvCxnSpPr/>
          <p:nvPr/>
        </p:nvCxnSpPr>
        <p:spPr>
          <a:xfrm>
            <a:off x="10305288" y="1856232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6" name="Google Shape;1346;g3f81dd6e895_0_5"/>
          <p:cNvSpPr/>
          <p:nvPr/>
        </p:nvSpPr>
        <p:spPr>
          <a:xfrm>
            <a:off x="10076688" y="2587752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7" name="Google Shape;1347;g3f81dd6e895_0_5"/>
          <p:cNvCxnSpPr/>
          <p:nvPr/>
        </p:nvCxnSpPr>
        <p:spPr>
          <a:xfrm>
            <a:off x="10314432" y="3063240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8" name="Google Shape;1348;g3f81dd6e895_0_5"/>
          <p:cNvSpPr/>
          <p:nvPr/>
        </p:nvSpPr>
        <p:spPr>
          <a:xfrm>
            <a:off x="9985248" y="3840480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9" name="Google Shape;1349;g3f81dd6e895_0_5"/>
          <p:cNvCxnSpPr/>
          <p:nvPr/>
        </p:nvCxnSpPr>
        <p:spPr>
          <a:xfrm>
            <a:off x="10323576" y="4352544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0" name="Google Shape;1350;g3f81dd6e895_0_5"/>
          <p:cNvSpPr/>
          <p:nvPr/>
        </p:nvSpPr>
        <p:spPr>
          <a:xfrm>
            <a:off x="10195560" y="5330952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1" name="Google Shape;1351;g3f81dd6e895_0_5"/>
          <p:cNvCxnSpPr/>
          <p:nvPr/>
        </p:nvCxnSpPr>
        <p:spPr>
          <a:xfrm>
            <a:off x="10561320" y="1636776"/>
            <a:ext cx="347400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2" name="Google Shape;1352;g3f81dd6e895_0_5"/>
          <p:cNvSpPr/>
          <p:nvPr/>
        </p:nvSpPr>
        <p:spPr>
          <a:xfrm>
            <a:off x="10579608" y="1636776"/>
            <a:ext cx="347400" cy="118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3" name="Google Shape;1353;g3f81dd6e895_0_5"/>
          <p:cNvCxnSpPr/>
          <p:nvPr/>
        </p:nvCxnSpPr>
        <p:spPr>
          <a:xfrm>
            <a:off x="10908792" y="2816352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g3f81dd6e895_0_5"/>
          <p:cNvSpPr/>
          <p:nvPr/>
        </p:nvSpPr>
        <p:spPr>
          <a:xfrm>
            <a:off x="11420856" y="2651760"/>
            <a:ext cx="146400" cy="1464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5" name="Google Shape;1355;g3f81dd6e895_0_5"/>
          <p:cNvSpPr/>
          <p:nvPr/>
        </p:nvSpPr>
        <p:spPr>
          <a:xfrm>
            <a:off x="11676888" y="2331720"/>
            <a:ext cx="438900" cy="512100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56" name="Google Shape;1356;g3f81dd6e895_0_5"/>
          <p:cNvCxnSpPr/>
          <p:nvPr/>
        </p:nvCxnSpPr>
        <p:spPr>
          <a:xfrm>
            <a:off x="11494008" y="2798064"/>
            <a:ext cx="0" cy="173730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g3f81dd6e895_0_5"/>
          <p:cNvCxnSpPr/>
          <p:nvPr/>
        </p:nvCxnSpPr>
        <p:spPr>
          <a:xfrm rot="10800000">
            <a:off x="10963608" y="4535424"/>
            <a:ext cx="530400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8" name="Google Shape;1358;g3f81dd6e895_0_5"/>
          <p:cNvSpPr/>
          <p:nvPr/>
        </p:nvSpPr>
        <p:spPr>
          <a:xfrm>
            <a:off x="10872216" y="4864608"/>
            <a:ext cx="54900" cy="54900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9" name="Google Shape;1359;g3f81dd6e895_0_5"/>
          <p:cNvCxnSpPr/>
          <p:nvPr/>
        </p:nvCxnSpPr>
        <p:spPr>
          <a:xfrm>
            <a:off x="10890504" y="4892040"/>
            <a:ext cx="0" cy="384000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0" name="Google Shape;1360;g3f81dd6e895_0_5"/>
          <p:cNvCxnSpPr/>
          <p:nvPr/>
        </p:nvCxnSpPr>
        <p:spPr>
          <a:xfrm>
            <a:off x="10890504" y="5276088"/>
            <a:ext cx="859500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1" name="Google Shape;1361;g3f81dd6e895_0_5"/>
          <p:cNvSpPr/>
          <p:nvPr/>
        </p:nvSpPr>
        <p:spPr>
          <a:xfrm>
            <a:off x="11713464" y="5157216"/>
            <a:ext cx="128100" cy="1281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2" name="Google Shape;1362;g3f81dd6e895_0_5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3" name="Google Shape;1363;g3f81dd6e895_0_5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4" name="Google Shape;1364;g3f81dd6e895_0_5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5" name="Google Shape;1365;g3f81dd6e895_0_5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6" name="Google Shape;1366;g3f81dd6e895_0_5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7" name="Google Shape;1367;g3f81dd6e895_0_5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8" name="Google Shape;1368;g3f81dd6e895_0_5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9" name="Google Shape;1369;g3f81dd6e895_0_5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0" name="Google Shape;1370;g3f81dd6e895_0_5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1" name="Google Shape;1371;g3f81dd6e895_0_5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2" name="Google Shape;1372;g3f81dd6e895_0_5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3" name="Google Shape;1373;g3f81dd6e895_0_5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4" name="Google Shape;1374;g3f81dd6e895_0_5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5" name="Google Shape;1375;g3f81dd6e895_0_5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6" name="Google Shape;1376;g3f81dd6e895_0_5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7" name="Google Shape;1377;g3f81dd6e895_0_5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8" name="Google Shape;1378;g3f81dd6e895_0_5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9" name="Google Shape;1379;g3f81dd6e895_0_5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0" name="Google Shape;1380;g3f81dd6e895_0_5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1" name="Google Shape;1381;g3f81dd6e895_0_5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2" name="Google Shape;1382;g3f81dd6e895_0_5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3" name="Google Shape;1383;g3f81dd6e895_0_5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4" name="Google Shape;1384;g3f81dd6e895_0_5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5" name="Google Shape;1385;g3f81dd6e895_0_5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6" name="Google Shape;1386;g3f81dd6e895_0_5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7" name="Google Shape;1387;g3f81dd6e895_0_5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8" name="Google Shape;1388;g3f81dd6e895_0_5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9" name="Google Shape;1389;g3f81dd6e895_0_5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0" name="Google Shape;1390;g3f81dd6e895_0_5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1" name="Google Shape;1391;g3f81dd6e895_0_5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2" name="Google Shape;1392;g3f81dd6e895_0_5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3" name="Google Shape;1393;g3f81dd6e895_0_5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4" name="Google Shape;1394;g3f81dd6e895_0_5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5" name="Google Shape;1395;g3f81dd6e895_0_5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6" name="Google Shape;1396;g3f81dd6e895_0_5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7" name="Google Shape;1397;g3f81dd6e895_0_5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8" name="Google Shape;1398;g3f81dd6e895_0_5"/>
          <p:cNvSpPr/>
          <p:nvPr/>
        </p:nvSpPr>
        <p:spPr>
          <a:xfrm>
            <a:off x="10936224" y="5303520"/>
            <a:ext cx="1079100" cy="1134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g3f81dd6e895_0_5"/>
          <p:cNvSpPr/>
          <p:nvPr/>
        </p:nvSpPr>
        <p:spPr>
          <a:xfrm>
            <a:off x="11497397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12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0" name="Google Shape;1400;g3f81dd6e895_0_5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g3f81dd6e895_0_5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f81dd6e895_0_5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g3f81dd6e895_0_5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g3f81dd6e895_0_5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g3f81dd6e895_0_5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g3f81dd6e895_0_5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g3f81dd6e895_0_5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g3f81dd6e895_0_5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g3f81dd6e895_0_5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g3f81dd6e895_0_5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g3f81dd6e895_0_5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g3f81dd6e895_0_5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g3f81dd6e895_0_5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g3f81dd6e895_0_5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f81dd6e895_0_5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g3f81dd6e895_0_5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g3f81dd6e895_0_5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g3f81dd6e895_0_5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g3f81dd6e895_0_5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0" name="Google Shape;1420;g3f81dd6e895_0_5"/>
          <p:cNvCxnSpPr/>
          <p:nvPr/>
        </p:nvCxnSpPr>
        <p:spPr>
          <a:xfrm>
            <a:off x="713232" y="566928"/>
            <a:ext cx="0" cy="255900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1" name="Google Shape;1421;g3f81dd6e895_0_5"/>
          <p:cNvSpPr/>
          <p:nvPr/>
        </p:nvSpPr>
        <p:spPr>
          <a:xfrm>
            <a:off x="950976" y="530352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2" name="Google Shape;1422;g3f81dd6e895_0_5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Prompt 與操作流程</a:t>
            </a:r>
            <a:endParaRPr/>
          </a:p>
        </p:txBody>
      </p:sp>
      <p:sp>
        <p:nvSpPr>
          <p:cNvPr id="1423" name="Google Shape;1423;g3f81dd6e895_0_5"/>
          <p:cNvSpPr txBox="1"/>
          <p:nvPr/>
        </p:nvSpPr>
        <p:spPr>
          <a:xfrm>
            <a:off x="566928" y="1849810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</a:rPr>
              <a:t>Demo 影片連結</a:t>
            </a:r>
            <a:endParaRPr sz="3200"/>
          </a:p>
        </p:txBody>
      </p:sp>
      <p:cxnSp>
        <p:nvCxnSpPr>
          <p:cNvPr id="1424" name="Google Shape;1424;g3f81dd6e895_0_5"/>
          <p:cNvCxnSpPr/>
          <p:nvPr/>
        </p:nvCxnSpPr>
        <p:spPr>
          <a:xfrm>
            <a:off x="566928" y="2487168"/>
            <a:ext cx="813810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25" name="Google Shape;1425;g3f81dd6e895_0_5"/>
          <p:cNvCxnSpPr/>
          <p:nvPr/>
        </p:nvCxnSpPr>
        <p:spPr>
          <a:xfrm>
            <a:off x="566928" y="24871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26" name="Google Shape;1426;g3f81dd6e895_0_5"/>
          <p:cNvSpPr/>
          <p:nvPr/>
        </p:nvSpPr>
        <p:spPr>
          <a:xfrm>
            <a:off x="8668512" y="2441448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7" name="Google Shape;1427;g3f81dd6e895_0_5"/>
          <p:cNvSpPr/>
          <p:nvPr/>
        </p:nvSpPr>
        <p:spPr>
          <a:xfrm>
            <a:off x="566925" y="2836800"/>
            <a:ext cx="8016900" cy="9600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8" name="Google Shape;1428;g3f81dd6e895_0_5"/>
          <p:cNvSpPr txBox="1"/>
          <p:nvPr/>
        </p:nvSpPr>
        <p:spPr>
          <a:xfrm>
            <a:off x="723809" y="3007601"/>
            <a:ext cx="438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Google Drive 連結：</a:t>
            </a:r>
            <a:endParaRPr sz="1600"/>
          </a:p>
        </p:txBody>
      </p:sp>
      <p:sp>
        <p:nvSpPr>
          <p:cNvPr id="1429" name="Google Shape;1429;g3f81dd6e895_0_5"/>
          <p:cNvSpPr txBox="1"/>
          <p:nvPr/>
        </p:nvSpPr>
        <p:spPr>
          <a:xfrm>
            <a:off x="791853" y="3405650"/>
            <a:ext cx="717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3"/>
              </a:rPr>
              <a:t>https://drive.google.com/drive/folders/1PaaYCb53JwOjzve6pR1yTJxxuM0CSEVu?usp=sharing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1"/>
          <p:cNvSpPr/>
          <p:nvPr/>
        </p:nvSpPr>
        <p:spPr>
          <a:xfrm>
            <a:off x="10903451" y="0"/>
            <a:ext cx="1285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11"/>
          <p:cNvSpPr/>
          <p:nvPr/>
        </p:nvSpPr>
        <p:spPr>
          <a:xfrm>
            <a:off x="10885269" y="0"/>
            <a:ext cx="1285500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6" name="Google Shape;1436;p11"/>
          <p:cNvCxnSpPr/>
          <p:nvPr/>
        </p:nvCxnSpPr>
        <p:spPr>
          <a:xfrm>
            <a:off x="10881263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7" name="Google Shape;1437;p11"/>
          <p:cNvSpPr/>
          <p:nvPr/>
        </p:nvSpPr>
        <p:spPr>
          <a:xfrm>
            <a:off x="10771535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1"/>
          <p:cNvSpPr/>
          <p:nvPr/>
        </p:nvSpPr>
        <p:spPr>
          <a:xfrm>
            <a:off x="10830067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11"/>
          <p:cNvSpPr/>
          <p:nvPr/>
        </p:nvSpPr>
        <p:spPr>
          <a:xfrm>
            <a:off x="11400085" y="695007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0" name="Google Shape;1440;p11"/>
          <p:cNvCxnSpPr/>
          <p:nvPr/>
        </p:nvCxnSpPr>
        <p:spPr>
          <a:xfrm>
            <a:off x="11509813" y="914463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1" name="Google Shape;1441;p11"/>
          <p:cNvSpPr/>
          <p:nvPr/>
        </p:nvSpPr>
        <p:spPr>
          <a:xfrm>
            <a:off x="11171485" y="1609408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2" name="Google Shape;1442;p11"/>
          <p:cNvCxnSpPr/>
          <p:nvPr/>
        </p:nvCxnSpPr>
        <p:spPr>
          <a:xfrm>
            <a:off x="11509813" y="2048320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3" name="Google Shape;1443;p11"/>
          <p:cNvSpPr/>
          <p:nvPr/>
        </p:nvSpPr>
        <p:spPr>
          <a:xfrm>
            <a:off x="11281213" y="2779840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11"/>
          <p:cNvCxnSpPr/>
          <p:nvPr/>
        </p:nvCxnSpPr>
        <p:spPr>
          <a:xfrm>
            <a:off x="11518957" y="3255328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5" name="Google Shape;1445;p11"/>
          <p:cNvSpPr/>
          <p:nvPr/>
        </p:nvSpPr>
        <p:spPr>
          <a:xfrm>
            <a:off x="11189773" y="4032568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6" name="Google Shape;1446;p11"/>
          <p:cNvCxnSpPr/>
          <p:nvPr/>
        </p:nvCxnSpPr>
        <p:spPr>
          <a:xfrm>
            <a:off x="11528101" y="4544632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7" name="Google Shape;1447;p11"/>
          <p:cNvSpPr/>
          <p:nvPr/>
        </p:nvSpPr>
        <p:spPr>
          <a:xfrm>
            <a:off x="11400085" y="5523040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9" name="Google Shape;1449;p11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0" name="Google Shape;1450;p11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1" name="Google Shape;1451;p11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2" name="Google Shape;1452;p11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3" name="Google Shape;1453;p11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4" name="Google Shape;1454;p11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5" name="Google Shape;1455;p11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6" name="Google Shape;1456;p11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7" name="Google Shape;1457;p11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8" name="Google Shape;1458;p11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9" name="Google Shape;1459;p11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0" name="Google Shape;1460;p11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1" name="Google Shape;1461;p11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2" name="Google Shape;1462;p11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3" name="Google Shape;1463;p11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4" name="Google Shape;1464;p11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5" name="Google Shape;1465;p11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6" name="Google Shape;1466;p11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7" name="Google Shape;1467;p11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8" name="Google Shape;1468;p11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9" name="Google Shape;1469;p11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0" name="Google Shape;1470;p11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1" name="Google Shape;1471;p11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2" name="Google Shape;1472;p11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3" name="Google Shape;1473;p11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4" name="Google Shape;1474;p11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5" name="Google Shape;1475;p11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6" name="Google Shape;1476;p11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7" name="Google Shape;1477;p11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8" name="Google Shape;1478;p11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9" name="Google Shape;1479;p11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0" name="Google Shape;1480;p11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1" name="Google Shape;1481;p11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2" name="Google Shape;1482;p11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3" name="Google Shape;1483;p11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4" name="Google Shape;1484;p11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13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5" name="Google Shape;1485;p11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1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1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1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1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1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1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1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1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1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1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1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1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1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1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1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1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11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1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1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11"/>
          <p:cNvSpPr txBox="1"/>
          <p:nvPr/>
        </p:nvSpPr>
        <p:spPr>
          <a:xfrm>
            <a:off x="768128" y="155450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原始輸出 vs. 人工修改（1／5）</a:t>
            </a:r>
            <a:endParaRPr sz="1300"/>
          </a:p>
        </p:txBody>
      </p:sp>
      <p:sp>
        <p:nvSpPr>
          <p:cNvPr id="1506" name="Google Shape;1506;p11"/>
          <p:cNvSpPr txBox="1"/>
          <p:nvPr/>
        </p:nvSpPr>
        <p:spPr>
          <a:xfrm>
            <a:off x="731528" y="423247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進入即時語音平台</a:t>
            </a:r>
            <a:endParaRPr sz="3000"/>
          </a:p>
        </p:txBody>
      </p:sp>
      <p:cxnSp>
        <p:nvCxnSpPr>
          <p:cNvPr id="1507" name="Google Shape;1507;p11"/>
          <p:cNvCxnSpPr/>
          <p:nvPr/>
        </p:nvCxnSpPr>
        <p:spPr>
          <a:xfrm flipH="1" rot="10800000">
            <a:off x="708640" y="964968"/>
            <a:ext cx="9706200" cy="330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08" name="Google Shape;1508;p11"/>
          <p:cNvCxnSpPr/>
          <p:nvPr/>
        </p:nvCxnSpPr>
        <p:spPr>
          <a:xfrm>
            <a:off x="708640" y="9682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09" name="Google Shape;1509;p11"/>
          <p:cNvSpPr/>
          <p:nvPr/>
        </p:nvSpPr>
        <p:spPr>
          <a:xfrm>
            <a:off x="10351771" y="935081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0" name="Google Shape;1510;p11"/>
          <p:cNvSpPr/>
          <p:nvPr/>
        </p:nvSpPr>
        <p:spPr>
          <a:xfrm>
            <a:off x="351125" y="1103175"/>
            <a:ext cx="4918800" cy="51549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1" name="Google Shape;1511;p11"/>
          <p:cNvSpPr/>
          <p:nvPr/>
        </p:nvSpPr>
        <p:spPr>
          <a:xfrm>
            <a:off x="530056" y="1196325"/>
            <a:ext cx="960000" cy="2376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2" name="Google Shape;1512;p11"/>
          <p:cNvSpPr txBox="1"/>
          <p:nvPr/>
        </p:nvSpPr>
        <p:spPr>
          <a:xfrm>
            <a:off x="530051" y="123053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AI 原始輸出</a:t>
            </a:r>
            <a:endParaRPr sz="1100"/>
          </a:p>
        </p:txBody>
      </p:sp>
      <p:sp>
        <p:nvSpPr>
          <p:cNvPr id="1513" name="Google Shape;1513;p11"/>
          <p:cNvSpPr/>
          <p:nvPr/>
        </p:nvSpPr>
        <p:spPr>
          <a:xfrm>
            <a:off x="5506850" y="1103125"/>
            <a:ext cx="5027700" cy="51549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4" name="Google Shape;1514;p11"/>
          <p:cNvSpPr/>
          <p:nvPr/>
        </p:nvSpPr>
        <p:spPr>
          <a:xfrm>
            <a:off x="5671450" y="1214474"/>
            <a:ext cx="960000" cy="2559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5" name="Google Shape;1515;p11"/>
          <p:cNvSpPr txBox="1"/>
          <p:nvPr/>
        </p:nvSpPr>
        <p:spPr>
          <a:xfrm>
            <a:off x="5659541" y="126507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人工修改後</a:t>
            </a:r>
            <a:endParaRPr sz="1100"/>
          </a:p>
        </p:txBody>
      </p:sp>
      <p:sp>
        <p:nvSpPr>
          <p:cNvPr id="1516" name="Google Shape;1516;p11"/>
          <p:cNvSpPr/>
          <p:nvPr/>
        </p:nvSpPr>
        <p:spPr>
          <a:xfrm>
            <a:off x="566925" y="6391525"/>
            <a:ext cx="9847800" cy="338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7" name="Google Shape;1517;p11"/>
          <p:cNvSpPr txBox="1"/>
          <p:nvPr/>
        </p:nvSpPr>
        <p:spPr>
          <a:xfrm>
            <a:off x="731520" y="6465862"/>
            <a:ext cx="781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人工修改處與修改原因：</a:t>
            </a:r>
            <a:r>
              <a:rPr lang="en-US" sz="12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節點內容與判斷邏輯未變，僅重新調整「是/否」分支走線，使整體版面更為清楚</a:t>
            </a:r>
            <a:endParaRPr sz="1200">
              <a:solidFill>
                <a:srgbClr val="434343"/>
              </a:solidFill>
            </a:endParaRPr>
          </a:p>
        </p:txBody>
      </p:sp>
      <p:pic>
        <p:nvPicPr>
          <p:cNvPr id="1518" name="Google Shape;1518;p11" title="equipment-repair-flow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275" y="1196325"/>
            <a:ext cx="2915051" cy="5016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1"/>
          <p:cNvSpPr txBox="1"/>
          <p:nvPr/>
        </p:nvSpPr>
        <p:spPr>
          <a:xfrm>
            <a:off x="5961475" y="627698"/>
            <a:ext cx="44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若圖片尺寸較小，可至 GitHub 的 </a:t>
            </a:r>
            <a:r>
              <a:rPr lang="en-U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05-output</a:t>
            </a:r>
            <a:r>
              <a:rPr lang="en-US" sz="1000">
                <a:solidFill>
                  <a:schemeClr val="dk1"/>
                </a:solidFill>
              </a:rPr>
              <a:t> 資料夾查看原始大圖</a:t>
            </a:r>
            <a:endParaRPr sz="1000"/>
          </a:p>
        </p:txBody>
      </p:sp>
      <p:pic>
        <p:nvPicPr>
          <p:cNvPr id="1520" name="Google Shape;1520;p11" title="人為-20260714-flow1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8600" y="1196325"/>
            <a:ext cx="2915051" cy="5016827"/>
          </a:xfrm>
          <a:prstGeom prst="rect">
            <a:avLst/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3f52123c504_1_1290"/>
          <p:cNvSpPr/>
          <p:nvPr/>
        </p:nvSpPr>
        <p:spPr>
          <a:xfrm>
            <a:off x="10903451" y="0"/>
            <a:ext cx="1285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g3f52123c504_1_1290"/>
          <p:cNvSpPr/>
          <p:nvPr/>
        </p:nvSpPr>
        <p:spPr>
          <a:xfrm>
            <a:off x="10885269" y="0"/>
            <a:ext cx="12855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7" name="Google Shape;1527;g3f52123c504_1_1290"/>
          <p:cNvCxnSpPr/>
          <p:nvPr/>
        </p:nvCxnSpPr>
        <p:spPr>
          <a:xfrm>
            <a:off x="10881263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8" name="Google Shape;1528;g3f52123c504_1_1290"/>
          <p:cNvSpPr/>
          <p:nvPr/>
        </p:nvSpPr>
        <p:spPr>
          <a:xfrm>
            <a:off x="10771535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g3f52123c504_1_1290"/>
          <p:cNvSpPr/>
          <p:nvPr/>
        </p:nvSpPr>
        <p:spPr>
          <a:xfrm>
            <a:off x="10830067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g3f52123c504_1_1290"/>
          <p:cNvSpPr/>
          <p:nvPr/>
        </p:nvSpPr>
        <p:spPr>
          <a:xfrm>
            <a:off x="11400085" y="695007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1" name="Google Shape;1531;g3f52123c504_1_1290"/>
          <p:cNvCxnSpPr/>
          <p:nvPr/>
        </p:nvCxnSpPr>
        <p:spPr>
          <a:xfrm>
            <a:off x="11509813" y="914463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2" name="Google Shape;1532;g3f52123c504_1_1290"/>
          <p:cNvSpPr/>
          <p:nvPr/>
        </p:nvSpPr>
        <p:spPr>
          <a:xfrm>
            <a:off x="11171485" y="1609408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3" name="Google Shape;1533;g3f52123c504_1_1290"/>
          <p:cNvCxnSpPr/>
          <p:nvPr/>
        </p:nvCxnSpPr>
        <p:spPr>
          <a:xfrm>
            <a:off x="11509813" y="2048320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4" name="Google Shape;1534;g3f52123c504_1_1290"/>
          <p:cNvSpPr/>
          <p:nvPr/>
        </p:nvSpPr>
        <p:spPr>
          <a:xfrm>
            <a:off x="11281213" y="2779840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5" name="Google Shape;1535;g3f52123c504_1_1290"/>
          <p:cNvCxnSpPr/>
          <p:nvPr/>
        </p:nvCxnSpPr>
        <p:spPr>
          <a:xfrm>
            <a:off x="11518957" y="3255328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6" name="Google Shape;1536;g3f52123c504_1_1290"/>
          <p:cNvSpPr/>
          <p:nvPr/>
        </p:nvSpPr>
        <p:spPr>
          <a:xfrm>
            <a:off x="11189773" y="4032568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7" name="Google Shape;1537;g3f52123c504_1_1290"/>
          <p:cNvCxnSpPr/>
          <p:nvPr/>
        </p:nvCxnSpPr>
        <p:spPr>
          <a:xfrm>
            <a:off x="11528101" y="4544632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8" name="Google Shape;1538;g3f52123c504_1_1290"/>
          <p:cNvSpPr/>
          <p:nvPr/>
        </p:nvSpPr>
        <p:spPr>
          <a:xfrm>
            <a:off x="11400085" y="5523040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g3f52123c504_1_1290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0" name="Google Shape;1540;g3f52123c504_1_1290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1" name="Google Shape;1541;g3f52123c504_1_1290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2" name="Google Shape;1542;g3f52123c504_1_1290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3" name="Google Shape;1543;g3f52123c504_1_1290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4" name="Google Shape;1544;g3f52123c504_1_1290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5" name="Google Shape;1545;g3f52123c504_1_1290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6" name="Google Shape;1546;g3f52123c504_1_1290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7" name="Google Shape;1547;g3f52123c504_1_1290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8" name="Google Shape;1548;g3f52123c504_1_1290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9" name="Google Shape;1549;g3f52123c504_1_1290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0" name="Google Shape;1550;g3f52123c504_1_1290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1" name="Google Shape;1551;g3f52123c504_1_1290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2" name="Google Shape;1552;g3f52123c504_1_1290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3" name="Google Shape;1553;g3f52123c504_1_1290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4" name="Google Shape;1554;g3f52123c504_1_1290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5" name="Google Shape;1555;g3f52123c504_1_1290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6" name="Google Shape;1556;g3f52123c504_1_1290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7" name="Google Shape;1557;g3f52123c504_1_1290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8" name="Google Shape;1558;g3f52123c504_1_1290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9" name="Google Shape;1559;g3f52123c504_1_1290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0" name="Google Shape;1560;g3f52123c504_1_1290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1" name="Google Shape;1561;g3f52123c504_1_1290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2" name="Google Shape;1562;g3f52123c504_1_1290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3" name="Google Shape;1563;g3f52123c504_1_1290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4" name="Google Shape;1564;g3f52123c504_1_1290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5" name="Google Shape;1565;g3f52123c504_1_1290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6" name="Google Shape;1566;g3f52123c504_1_1290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7" name="Google Shape;1567;g3f52123c504_1_1290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8" name="Google Shape;1568;g3f52123c504_1_1290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9" name="Google Shape;1569;g3f52123c504_1_1290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0" name="Google Shape;1570;g3f52123c504_1_1290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1" name="Google Shape;1571;g3f52123c504_1_1290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2" name="Google Shape;1572;g3f52123c504_1_1290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3" name="Google Shape;1573;g3f52123c504_1_1290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4" name="Google Shape;1574;g3f52123c504_1_1290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5" name="Google Shape;1575;g3f52123c504_1_1290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6" name="Google Shape;1576;g3f52123c504_1_1290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g3f52123c504_1_1290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g3f52123c504_1_1290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g3f52123c504_1_1290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g3f52123c504_1_1290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g3f52123c504_1_1290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g3f52123c504_1_1290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g3f52123c504_1_1290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g3f52123c504_1_1290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g3f52123c504_1_1290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g3f52123c504_1_1290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g3f52123c504_1_1290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g3f52123c504_1_1290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g3f52123c504_1_1290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g3f52123c504_1_1290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g3f52123c504_1_1290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g3f52123c504_1_1290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g3f52123c504_1_1290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g3f52123c504_1_1290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g3f52123c504_1_1290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g3f52123c504_1_1290"/>
          <p:cNvSpPr txBox="1"/>
          <p:nvPr/>
        </p:nvSpPr>
        <p:spPr>
          <a:xfrm>
            <a:off x="768128" y="155450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原始輸出 vs. 人工修改（2／5）</a:t>
            </a:r>
            <a:endParaRPr sz="1300"/>
          </a:p>
        </p:txBody>
      </p:sp>
      <p:sp>
        <p:nvSpPr>
          <p:cNvPr id="1597" name="Google Shape;1597;g3f52123c504_1_1290"/>
          <p:cNvSpPr txBox="1"/>
          <p:nvPr/>
        </p:nvSpPr>
        <p:spPr>
          <a:xfrm>
            <a:off x="731528" y="423247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32B"/>
                </a:solidFill>
              </a:rPr>
              <a:t>申報人身份資訊確認</a:t>
            </a:r>
            <a:endParaRPr sz="3000"/>
          </a:p>
        </p:txBody>
      </p:sp>
      <p:cxnSp>
        <p:nvCxnSpPr>
          <p:cNvPr id="1598" name="Google Shape;1598;g3f52123c504_1_1290"/>
          <p:cNvCxnSpPr/>
          <p:nvPr/>
        </p:nvCxnSpPr>
        <p:spPr>
          <a:xfrm flipH="1" rot="10800000">
            <a:off x="708640" y="964968"/>
            <a:ext cx="9706200" cy="330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99" name="Google Shape;1599;g3f52123c504_1_1290"/>
          <p:cNvCxnSpPr/>
          <p:nvPr/>
        </p:nvCxnSpPr>
        <p:spPr>
          <a:xfrm>
            <a:off x="708640" y="9682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0" name="Google Shape;1600;g3f52123c504_1_1290"/>
          <p:cNvSpPr/>
          <p:nvPr/>
        </p:nvSpPr>
        <p:spPr>
          <a:xfrm>
            <a:off x="10351771" y="935081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1" name="Google Shape;1601;g3f52123c504_1_1290"/>
          <p:cNvSpPr/>
          <p:nvPr/>
        </p:nvSpPr>
        <p:spPr>
          <a:xfrm>
            <a:off x="351125" y="1103176"/>
            <a:ext cx="4918800" cy="5167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2" name="Google Shape;1602;g3f52123c504_1_1290"/>
          <p:cNvSpPr/>
          <p:nvPr/>
        </p:nvSpPr>
        <p:spPr>
          <a:xfrm>
            <a:off x="530056" y="1196325"/>
            <a:ext cx="960000" cy="2376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3" name="Google Shape;1603;g3f52123c504_1_1290"/>
          <p:cNvSpPr txBox="1"/>
          <p:nvPr/>
        </p:nvSpPr>
        <p:spPr>
          <a:xfrm>
            <a:off x="530051" y="123053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AI 原始輸出</a:t>
            </a:r>
            <a:endParaRPr sz="1100"/>
          </a:p>
        </p:txBody>
      </p:sp>
      <p:sp>
        <p:nvSpPr>
          <p:cNvPr id="1604" name="Google Shape;1604;g3f52123c504_1_1290"/>
          <p:cNvSpPr/>
          <p:nvPr/>
        </p:nvSpPr>
        <p:spPr>
          <a:xfrm>
            <a:off x="5506850" y="1103125"/>
            <a:ext cx="5027700" cy="5167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5" name="Google Shape;1605;g3f52123c504_1_1290"/>
          <p:cNvSpPr/>
          <p:nvPr/>
        </p:nvSpPr>
        <p:spPr>
          <a:xfrm>
            <a:off x="5671450" y="1214474"/>
            <a:ext cx="960000" cy="2559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6" name="Google Shape;1606;g3f52123c504_1_1290"/>
          <p:cNvSpPr txBox="1"/>
          <p:nvPr/>
        </p:nvSpPr>
        <p:spPr>
          <a:xfrm>
            <a:off x="5659541" y="126507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人工修改後</a:t>
            </a:r>
            <a:endParaRPr sz="1100"/>
          </a:p>
        </p:txBody>
      </p:sp>
      <p:sp>
        <p:nvSpPr>
          <p:cNvPr id="1607" name="Google Shape;1607;g3f52123c504_1_1290"/>
          <p:cNvSpPr txBox="1"/>
          <p:nvPr/>
        </p:nvSpPr>
        <p:spPr>
          <a:xfrm>
            <a:off x="5961475" y="627698"/>
            <a:ext cx="44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若圖片尺寸較小，可至 GitHub 的 </a:t>
            </a:r>
            <a:r>
              <a:rPr lang="en-U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05-output</a:t>
            </a:r>
            <a:r>
              <a:rPr lang="en-US" sz="1000">
                <a:solidFill>
                  <a:schemeClr val="dk1"/>
                </a:solidFill>
              </a:rPr>
              <a:t> 資料夾查看原始大圖</a:t>
            </a:r>
            <a:endParaRPr sz="1000"/>
          </a:p>
        </p:txBody>
      </p:sp>
      <p:sp>
        <p:nvSpPr>
          <p:cNvPr id="1608" name="Google Shape;1608;g3f52123c504_1_1290"/>
          <p:cNvSpPr/>
          <p:nvPr/>
        </p:nvSpPr>
        <p:spPr>
          <a:xfrm>
            <a:off x="566925" y="6391525"/>
            <a:ext cx="9847800" cy="338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9" name="Google Shape;1609;g3f52123c504_1_1290"/>
          <p:cNvSpPr txBox="1"/>
          <p:nvPr/>
        </p:nvSpPr>
        <p:spPr>
          <a:xfrm>
            <a:off x="731526" y="6465850"/>
            <a:ext cx="96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人工修改處與修改原因：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節點內容與判斷邏輯未變，僅調整「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顯示失敗訊息到結束：流程中止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」分支走線，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避免該分支與原有客服協助流程的連線重疊</a:t>
            </a:r>
            <a:endParaRPr sz="1100">
              <a:solidFill>
                <a:srgbClr val="434343"/>
              </a:solidFill>
            </a:endParaRPr>
          </a:p>
        </p:txBody>
      </p:sp>
      <p:pic>
        <p:nvPicPr>
          <p:cNvPr id="1610" name="Google Shape;1610;g3f52123c504_1_1290" title="02-設備報修-子流程2-申報人身份資訊確認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650" y="1470374"/>
            <a:ext cx="3833362" cy="4709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1" name="Google Shape;1611;g3f52123c504_1_1290" title="02-人工修改-設備報修-子流程2-申報人身份資訊確認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2725" y="1577700"/>
            <a:ext cx="3833351" cy="457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3f52123c504_1_1377"/>
          <p:cNvSpPr/>
          <p:nvPr/>
        </p:nvSpPr>
        <p:spPr>
          <a:xfrm>
            <a:off x="10903451" y="0"/>
            <a:ext cx="1285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g3f52123c504_1_1377"/>
          <p:cNvSpPr/>
          <p:nvPr/>
        </p:nvSpPr>
        <p:spPr>
          <a:xfrm>
            <a:off x="10885269" y="0"/>
            <a:ext cx="12855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8" name="Google Shape;1618;g3f52123c504_1_1377"/>
          <p:cNvCxnSpPr/>
          <p:nvPr/>
        </p:nvCxnSpPr>
        <p:spPr>
          <a:xfrm>
            <a:off x="10881263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9" name="Google Shape;1619;g3f52123c504_1_1377"/>
          <p:cNvSpPr/>
          <p:nvPr/>
        </p:nvSpPr>
        <p:spPr>
          <a:xfrm>
            <a:off x="10771535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g3f52123c504_1_1377"/>
          <p:cNvSpPr/>
          <p:nvPr/>
        </p:nvSpPr>
        <p:spPr>
          <a:xfrm>
            <a:off x="10830067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g3f52123c504_1_1377"/>
          <p:cNvSpPr/>
          <p:nvPr/>
        </p:nvSpPr>
        <p:spPr>
          <a:xfrm>
            <a:off x="11400085" y="695007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2" name="Google Shape;1622;g3f52123c504_1_1377"/>
          <p:cNvCxnSpPr/>
          <p:nvPr/>
        </p:nvCxnSpPr>
        <p:spPr>
          <a:xfrm>
            <a:off x="11509813" y="914463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3" name="Google Shape;1623;g3f52123c504_1_1377"/>
          <p:cNvSpPr/>
          <p:nvPr/>
        </p:nvSpPr>
        <p:spPr>
          <a:xfrm>
            <a:off x="11171485" y="1609408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4" name="Google Shape;1624;g3f52123c504_1_1377"/>
          <p:cNvCxnSpPr/>
          <p:nvPr/>
        </p:nvCxnSpPr>
        <p:spPr>
          <a:xfrm>
            <a:off x="11509813" y="2048320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5" name="Google Shape;1625;g3f52123c504_1_1377"/>
          <p:cNvSpPr/>
          <p:nvPr/>
        </p:nvSpPr>
        <p:spPr>
          <a:xfrm>
            <a:off x="11281213" y="2779840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6" name="Google Shape;1626;g3f52123c504_1_1377"/>
          <p:cNvCxnSpPr/>
          <p:nvPr/>
        </p:nvCxnSpPr>
        <p:spPr>
          <a:xfrm>
            <a:off x="11518957" y="3255328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7" name="Google Shape;1627;g3f52123c504_1_1377"/>
          <p:cNvSpPr/>
          <p:nvPr/>
        </p:nvSpPr>
        <p:spPr>
          <a:xfrm>
            <a:off x="11189773" y="4032568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8" name="Google Shape;1628;g3f52123c504_1_1377"/>
          <p:cNvCxnSpPr/>
          <p:nvPr/>
        </p:nvCxnSpPr>
        <p:spPr>
          <a:xfrm>
            <a:off x="11528101" y="4544632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9" name="Google Shape;1629;g3f52123c504_1_1377"/>
          <p:cNvSpPr/>
          <p:nvPr/>
        </p:nvSpPr>
        <p:spPr>
          <a:xfrm>
            <a:off x="11400085" y="5523040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g3f52123c504_1_1377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1" name="Google Shape;1631;g3f52123c504_1_1377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2" name="Google Shape;1632;g3f52123c504_1_1377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3" name="Google Shape;1633;g3f52123c504_1_1377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4" name="Google Shape;1634;g3f52123c504_1_1377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5" name="Google Shape;1635;g3f52123c504_1_1377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6" name="Google Shape;1636;g3f52123c504_1_1377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7" name="Google Shape;1637;g3f52123c504_1_1377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8" name="Google Shape;1638;g3f52123c504_1_1377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9" name="Google Shape;1639;g3f52123c504_1_1377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0" name="Google Shape;1640;g3f52123c504_1_1377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1" name="Google Shape;1641;g3f52123c504_1_1377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2" name="Google Shape;1642;g3f52123c504_1_1377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3" name="Google Shape;1643;g3f52123c504_1_1377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4" name="Google Shape;1644;g3f52123c504_1_1377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5" name="Google Shape;1645;g3f52123c504_1_1377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6" name="Google Shape;1646;g3f52123c504_1_1377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7" name="Google Shape;1647;g3f52123c504_1_1377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8" name="Google Shape;1648;g3f52123c504_1_1377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9" name="Google Shape;1649;g3f52123c504_1_1377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0" name="Google Shape;1650;g3f52123c504_1_1377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1" name="Google Shape;1651;g3f52123c504_1_1377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2" name="Google Shape;1652;g3f52123c504_1_1377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3" name="Google Shape;1653;g3f52123c504_1_1377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4" name="Google Shape;1654;g3f52123c504_1_1377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5" name="Google Shape;1655;g3f52123c504_1_1377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6" name="Google Shape;1656;g3f52123c504_1_1377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7" name="Google Shape;1657;g3f52123c504_1_1377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8" name="Google Shape;1658;g3f52123c504_1_1377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9" name="Google Shape;1659;g3f52123c504_1_1377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0" name="Google Shape;1660;g3f52123c504_1_1377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1" name="Google Shape;1661;g3f52123c504_1_1377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2" name="Google Shape;1662;g3f52123c504_1_1377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3" name="Google Shape;1663;g3f52123c504_1_1377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4" name="Google Shape;1664;g3f52123c504_1_1377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5" name="Google Shape;1665;g3f52123c504_1_1377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6" name="Google Shape;1666;g3f52123c504_1_1377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850">
                <a:solidFill>
                  <a:srgbClr val="E0B64E"/>
                </a:solidFill>
              </a:rPr>
              <a:t>5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7" name="Google Shape;1667;g3f52123c504_1_1377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g3f52123c504_1_1377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g3f52123c504_1_1377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g3f52123c504_1_1377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g3f52123c504_1_1377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g3f52123c504_1_1377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g3f52123c504_1_1377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g3f52123c504_1_1377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g3f52123c504_1_1377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g3f52123c504_1_1377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g3f52123c504_1_1377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g3f52123c504_1_1377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g3f52123c504_1_1377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g3f52123c504_1_1377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g3f52123c504_1_1377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g3f52123c504_1_1377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g3f52123c504_1_1377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g3f52123c504_1_1377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g3f52123c504_1_1377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g3f52123c504_1_1377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g3f52123c504_1_1377"/>
          <p:cNvSpPr txBox="1"/>
          <p:nvPr/>
        </p:nvSpPr>
        <p:spPr>
          <a:xfrm>
            <a:off x="768128" y="155450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原始輸出 vs. 人工修改（3／5）</a:t>
            </a:r>
            <a:endParaRPr sz="1300"/>
          </a:p>
        </p:txBody>
      </p:sp>
      <p:sp>
        <p:nvSpPr>
          <p:cNvPr id="1688" name="Google Shape;1688;g3f52123c504_1_1377"/>
          <p:cNvSpPr txBox="1"/>
          <p:nvPr/>
        </p:nvSpPr>
        <p:spPr>
          <a:xfrm>
            <a:off x="731528" y="423247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32B"/>
                </a:solidFill>
              </a:rPr>
              <a:t>申報人名下設備顯示與選擇</a:t>
            </a:r>
            <a:endParaRPr b="1" sz="3000">
              <a:solidFill>
                <a:srgbClr val="1F232B"/>
              </a:solidFill>
            </a:endParaRPr>
          </a:p>
        </p:txBody>
      </p:sp>
      <p:cxnSp>
        <p:nvCxnSpPr>
          <p:cNvPr id="1689" name="Google Shape;1689;g3f52123c504_1_1377"/>
          <p:cNvCxnSpPr/>
          <p:nvPr/>
        </p:nvCxnSpPr>
        <p:spPr>
          <a:xfrm flipH="1" rot="10800000">
            <a:off x="708640" y="964968"/>
            <a:ext cx="9706200" cy="330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90" name="Google Shape;1690;g3f52123c504_1_1377"/>
          <p:cNvCxnSpPr/>
          <p:nvPr/>
        </p:nvCxnSpPr>
        <p:spPr>
          <a:xfrm>
            <a:off x="708640" y="9682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91" name="Google Shape;1691;g3f52123c504_1_1377"/>
          <p:cNvSpPr/>
          <p:nvPr/>
        </p:nvSpPr>
        <p:spPr>
          <a:xfrm>
            <a:off x="10351771" y="935081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2" name="Google Shape;1692;g3f52123c504_1_1377"/>
          <p:cNvSpPr/>
          <p:nvPr/>
        </p:nvSpPr>
        <p:spPr>
          <a:xfrm>
            <a:off x="351125" y="1103176"/>
            <a:ext cx="4918800" cy="51756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3" name="Google Shape;1693;g3f52123c504_1_1377"/>
          <p:cNvSpPr/>
          <p:nvPr/>
        </p:nvSpPr>
        <p:spPr>
          <a:xfrm>
            <a:off x="530056" y="1196325"/>
            <a:ext cx="960000" cy="2376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4" name="Google Shape;1694;g3f52123c504_1_1377"/>
          <p:cNvSpPr txBox="1"/>
          <p:nvPr/>
        </p:nvSpPr>
        <p:spPr>
          <a:xfrm>
            <a:off x="530051" y="123053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AI 原始輸出</a:t>
            </a:r>
            <a:endParaRPr sz="1100"/>
          </a:p>
        </p:txBody>
      </p:sp>
      <p:sp>
        <p:nvSpPr>
          <p:cNvPr id="1695" name="Google Shape;1695;g3f52123c504_1_1377"/>
          <p:cNvSpPr/>
          <p:nvPr/>
        </p:nvSpPr>
        <p:spPr>
          <a:xfrm>
            <a:off x="5506850" y="1103125"/>
            <a:ext cx="5027700" cy="51756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6" name="Google Shape;1696;g3f52123c504_1_1377"/>
          <p:cNvSpPr/>
          <p:nvPr/>
        </p:nvSpPr>
        <p:spPr>
          <a:xfrm>
            <a:off x="5671450" y="1214474"/>
            <a:ext cx="960000" cy="2559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7" name="Google Shape;1697;g3f52123c504_1_1377"/>
          <p:cNvSpPr txBox="1"/>
          <p:nvPr/>
        </p:nvSpPr>
        <p:spPr>
          <a:xfrm>
            <a:off x="5659541" y="126507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人工修改後</a:t>
            </a:r>
            <a:endParaRPr sz="1100"/>
          </a:p>
        </p:txBody>
      </p:sp>
      <p:sp>
        <p:nvSpPr>
          <p:cNvPr id="1698" name="Google Shape;1698;g3f52123c504_1_1377"/>
          <p:cNvSpPr txBox="1"/>
          <p:nvPr/>
        </p:nvSpPr>
        <p:spPr>
          <a:xfrm>
            <a:off x="5961475" y="627698"/>
            <a:ext cx="44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若圖片尺寸較小，可至 GitHub 的 </a:t>
            </a:r>
            <a:r>
              <a:rPr lang="en-U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05-output</a:t>
            </a:r>
            <a:r>
              <a:rPr lang="en-US" sz="1000">
                <a:solidFill>
                  <a:schemeClr val="dk1"/>
                </a:solidFill>
              </a:rPr>
              <a:t> 資料夾查看原始大圖</a:t>
            </a:r>
            <a:endParaRPr sz="1000"/>
          </a:p>
        </p:txBody>
      </p:sp>
      <p:sp>
        <p:nvSpPr>
          <p:cNvPr id="1699" name="Google Shape;1699;g3f52123c504_1_1377"/>
          <p:cNvSpPr/>
          <p:nvPr/>
        </p:nvSpPr>
        <p:spPr>
          <a:xfrm>
            <a:off x="566925" y="6391525"/>
            <a:ext cx="9847800" cy="338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0" name="Google Shape;1700;g3f52123c504_1_1377"/>
          <p:cNvSpPr txBox="1"/>
          <p:nvPr/>
        </p:nvSpPr>
        <p:spPr>
          <a:xfrm>
            <a:off x="731526" y="6465850"/>
            <a:ext cx="96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人工修改處與修改原因：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節點內容與判斷邏輯未變，僅調整「顯示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查詢失敗訊息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到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流程結束（失敗）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」分支走線，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避免與「無可報修設備」分支的連線重疊</a:t>
            </a:r>
            <a:endParaRPr sz="1100">
              <a:solidFill>
                <a:srgbClr val="434343"/>
              </a:solidFill>
            </a:endParaRPr>
          </a:p>
        </p:txBody>
      </p:sp>
      <p:pic>
        <p:nvPicPr>
          <p:cNvPr id="1701" name="Google Shape;1701;g3f52123c504_1_1377" title="03-設備報修-子流程3-申報人名下設備顯示與選擇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471" y="1470373"/>
            <a:ext cx="4169498" cy="471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g3f52123c504_1_1377" title="03-人工修改-設備報修-子流程3-申報人名下設備顯示與選擇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1608" y="1566200"/>
            <a:ext cx="4169502" cy="460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f52123c504_1_1464"/>
          <p:cNvSpPr/>
          <p:nvPr/>
        </p:nvSpPr>
        <p:spPr>
          <a:xfrm>
            <a:off x="10903451" y="0"/>
            <a:ext cx="1285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g3f52123c504_1_1464"/>
          <p:cNvSpPr/>
          <p:nvPr/>
        </p:nvSpPr>
        <p:spPr>
          <a:xfrm>
            <a:off x="10885269" y="0"/>
            <a:ext cx="12855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9" name="Google Shape;1709;g3f52123c504_1_1464"/>
          <p:cNvCxnSpPr/>
          <p:nvPr/>
        </p:nvCxnSpPr>
        <p:spPr>
          <a:xfrm>
            <a:off x="10881263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0" name="Google Shape;1710;g3f52123c504_1_1464"/>
          <p:cNvSpPr/>
          <p:nvPr/>
        </p:nvSpPr>
        <p:spPr>
          <a:xfrm>
            <a:off x="10771535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g3f52123c504_1_1464"/>
          <p:cNvSpPr/>
          <p:nvPr/>
        </p:nvSpPr>
        <p:spPr>
          <a:xfrm>
            <a:off x="10830067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g3f52123c504_1_1464"/>
          <p:cNvSpPr/>
          <p:nvPr/>
        </p:nvSpPr>
        <p:spPr>
          <a:xfrm>
            <a:off x="11400085" y="695007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3" name="Google Shape;1713;g3f52123c504_1_1464"/>
          <p:cNvCxnSpPr/>
          <p:nvPr/>
        </p:nvCxnSpPr>
        <p:spPr>
          <a:xfrm>
            <a:off x="11509813" y="914463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4" name="Google Shape;1714;g3f52123c504_1_1464"/>
          <p:cNvSpPr/>
          <p:nvPr/>
        </p:nvSpPr>
        <p:spPr>
          <a:xfrm>
            <a:off x="11171485" y="1609408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5" name="Google Shape;1715;g3f52123c504_1_1464"/>
          <p:cNvCxnSpPr/>
          <p:nvPr/>
        </p:nvCxnSpPr>
        <p:spPr>
          <a:xfrm>
            <a:off x="11509813" y="2048320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6" name="Google Shape;1716;g3f52123c504_1_1464"/>
          <p:cNvSpPr/>
          <p:nvPr/>
        </p:nvSpPr>
        <p:spPr>
          <a:xfrm>
            <a:off x="11281213" y="2779840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7" name="Google Shape;1717;g3f52123c504_1_1464"/>
          <p:cNvCxnSpPr/>
          <p:nvPr/>
        </p:nvCxnSpPr>
        <p:spPr>
          <a:xfrm>
            <a:off x="11518957" y="3255328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8" name="Google Shape;1718;g3f52123c504_1_1464"/>
          <p:cNvSpPr/>
          <p:nvPr/>
        </p:nvSpPr>
        <p:spPr>
          <a:xfrm>
            <a:off x="11189773" y="4032568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9" name="Google Shape;1719;g3f52123c504_1_1464"/>
          <p:cNvCxnSpPr/>
          <p:nvPr/>
        </p:nvCxnSpPr>
        <p:spPr>
          <a:xfrm>
            <a:off x="11528101" y="4544632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0" name="Google Shape;1720;g3f52123c504_1_1464"/>
          <p:cNvSpPr/>
          <p:nvPr/>
        </p:nvSpPr>
        <p:spPr>
          <a:xfrm>
            <a:off x="11400085" y="5523040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g3f52123c504_1_1464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2" name="Google Shape;1722;g3f52123c504_1_1464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3" name="Google Shape;1723;g3f52123c504_1_1464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4" name="Google Shape;1724;g3f52123c504_1_1464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5" name="Google Shape;1725;g3f52123c504_1_1464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6" name="Google Shape;1726;g3f52123c504_1_1464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7" name="Google Shape;1727;g3f52123c504_1_1464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8" name="Google Shape;1728;g3f52123c504_1_1464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9" name="Google Shape;1729;g3f52123c504_1_1464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0" name="Google Shape;1730;g3f52123c504_1_1464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1" name="Google Shape;1731;g3f52123c504_1_1464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2" name="Google Shape;1732;g3f52123c504_1_1464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3" name="Google Shape;1733;g3f52123c504_1_1464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4" name="Google Shape;1734;g3f52123c504_1_1464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5" name="Google Shape;1735;g3f52123c504_1_1464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6" name="Google Shape;1736;g3f52123c504_1_1464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7" name="Google Shape;1737;g3f52123c504_1_1464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8" name="Google Shape;1738;g3f52123c504_1_1464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9" name="Google Shape;1739;g3f52123c504_1_1464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0" name="Google Shape;1740;g3f52123c504_1_1464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1" name="Google Shape;1741;g3f52123c504_1_1464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2" name="Google Shape;1742;g3f52123c504_1_1464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3" name="Google Shape;1743;g3f52123c504_1_1464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4" name="Google Shape;1744;g3f52123c504_1_1464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5" name="Google Shape;1745;g3f52123c504_1_1464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6" name="Google Shape;1746;g3f52123c504_1_1464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7" name="Google Shape;1747;g3f52123c504_1_1464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8" name="Google Shape;1748;g3f52123c504_1_1464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9" name="Google Shape;1749;g3f52123c504_1_1464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0" name="Google Shape;1750;g3f52123c504_1_1464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1" name="Google Shape;1751;g3f52123c504_1_1464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2" name="Google Shape;1752;g3f52123c504_1_1464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3" name="Google Shape;1753;g3f52123c504_1_1464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4" name="Google Shape;1754;g3f52123c504_1_1464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5" name="Google Shape;1755;g3f52123c504_1_1464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6" name="Google Shape;1756;g3f52123c504_1_1464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7" name="Google Shape;1757;g3f52123c504_1_1464"/>
          <p:cNvSpPr/>
          <p:nvPr/>
        </p:nvSpPr>
        <p:spPr>
          <a:xfrm>
            <a:off x="11494485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850">
                <a:solidFill>
                  <a:srgbClr val="E0B64E"/>
                </a:solidFill>
              </a:rPr>
              <a:t>6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8" name="Google Shape;1758;g3f52123c504_1_1464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g3f52123c504_1_1464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g3f52123c504_1_1464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g3f52123c504_1_1464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g3f52123c504_1_1464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g3f52123c504_1_1464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g3f52123c504_1_1464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g3f52123c504_1_1464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g3f52123c504_1_1464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g3f52123c504_1_1464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g3f52123c504_1_1464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g3f52123c504_1_1464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g3f52123c504_1_1464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g3f52123c504_1_1464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g3f52123c504_1_1464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g3f52123c504_1_1464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g3f52123c504_1_1464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g3f52123c504_1_1464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g3f52123c504_1_1464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g3f52123c504_1_1464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g3f52123c504_1_1464"/>
          <p:cNvSpPr txBox="1"/>
          <p:nvPr/>
        </p:nvSpPr>
        <p:spPr>
          <a:xfrm>
            <a:off x="768128" y="155450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原始輸出 vs. 人工修改（4／5）</a:t>
            </a:r>
            <a:endParaRPr sz="1300"/>
          </a:p>
        </p:txBody>
      </p:sp>
      <p:sp>
        <p:nvSpPr>
          <p:cNvPr id="1779" name="Google Shape;1779;g3f52123c504_1_1464"/>
          <p:cNvSpPr txBox="1"/>
          <p:nvPr/>
        </p:nvSpPr>
        <p:spPr>
          <a:xfrm>
            <a:off x="731528" y="423247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32B"/>
                </a:solidFill>
              </a:rPr>
              <a:t>設備問題描述與確認</a:t>
            </a:r>
            <a:endParaRPr b="1" sz="3000">
              <a:solidFill>
                <a:srgbClr val="1F232B"/>
              </a:solidFill>
            </a:endParaRPr>
          </a:p>
        </p:txBody>
      </p:sp>
      <p:cxnSp>
        <p:nvCxnSpPr>
          <p:cNvPr id="1780" name="Google Shape;1780;g3f52123c504_1_1464"/>
          <p:cNvCxnSpPr/>
          <p:nvPr/>
        </p:nvCxnSpPr>
        <p:spPr>
          <a:xfrm flipH="1" rot="10800000">
            <a:off x="708640" y="964968"/>
            <a:ext cx="9706200" cy="330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81" name="Google Shape;1781;g3f52123c504_1_1464"/>
          <p:cNvCxnSpPr/>
          <p:nvPr/>
        </p:nvCxnSpPr>
        <p:spPr>
          <a:xfrm>
            <a:off x="708640" y="9682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82" name="Google Shape;1782;g3f52123c504_1_1464"/>
          <p:cNvSpPr/>
          <p:nvPr/>
        </p:nvSpPr>
        <p:spPr>
          <a:xfrm>
            <a:off x="10351771" y="935081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3" name="Google Shape;1783;g3f52123c504_1_1464"/>
          <p:cNvSpPr/>
          <p:nvPr/>
        </p:nvSpPr>
        <p:spPr>
          <a:xfrm>
            <a:off x="351125" y="1103176"/>
            <a:ext cx="4918800" cy="516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4" name="Google Shape;1784;g3f52123c504_1_1464"/>
          <p:cNvSpPr/>
          <p:nvPr/>
        </p:nvSpPr>
        <p:spPr>
          <a:xfrm>
            <a:off x="530056" y="1196325"/>
            <a:ext cx="960000" cy="2376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5" name="Google Shape;1785;g3f52123c504_1_1464"/>
          <p:cNvSpPr txBox="1"/>
          <p:nvPr/>
        </p:nvSpPr>
        <p:spPr>
          <a:xfrm>
            <a:off x="530051" y="123053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AI 原始輸出</a:t>
            </a:r>
            <a:endParaRPr sz="1100"/>
          </a:p>
        </p:txBody>
      </p:sp>
      <p:sp>
        <p:nvSpPr>
          <p:cNvPr id="1786" name="Google Shape;1786;g3f52123c504_1_1464"/>
          <p:cNvSpPr/>
          <p:nvPr/>
        </p:nvSpPr>
        <p:spPr>
          <a:xfrm>
            <a:off x="5506850" y="1103125"/>
            <a:ext cx="5027700" cy="51612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7" name="Google Shape;1787;g3f52123c504_1_1464"/>
          <p:cNvSpPr/>
          <p:nvPr/>
        </p:nvSpPr>
        <p:spPr>
          <a:xfrm>
            <a:off x="5671450" y="1214474"/>
            <a:ext cx="960000" cy="2559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8" name="Google Shape;1788;g3f52123c504_1_1464"/>
          <p:cNvSpPr txBox="1"/>
          <p:nvPr/>
        </p:nvSpPr>
        <p:spPr>
          <a:xfrm>
            <a:off x="5659541" y="126507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人工修改後</a:t>
            </a:r>
            <a:endParaRPr sz="1100"/>
          </a:p>
        </p:txBody>
      </p:sp>
      <p:sp>
        <p:nvSpPr>
          <p:cNvPr id="1789" name="Google Shape;1789;g3f52123c504_1_1464"/>
          <p:cNvSpPr txBox="1"/>
          <p:nvPr/>
        </p:nvSpPr>
        <p:spPr>
          <a:xfrm>
            <a:off x="5961475" y="627698"/>
            <a:ext cx="44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若圖片尺寸較小，可至 GitHub 的 </a:t>
            </a:r>
            <a:r>
              <a:rPr lang="en-U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05-output</a:t>
            </a:r>
            <a:r>
              <a:rPr lang="en-US" sz="1000">
                <a:solidFill>
                  <a:schemeClr val="dk1"/>
                </a:solidFill>
              </a:rPr>
              <a:t> 資料夾查看原始大圖</a:t>
            </a:r>
            <a:endParaRPr sz="1000"/>
          </a:p>
        </p:txBody>
      </p:sp>
      <p:sp>
        <p:nvSpPr>
          <p:cNvPr id="1790" name="Google Shape;1790;g3f52123c504_1_1464"/>
          <p:cNvSpPr/>
          <p:nvPr/>
        </p:nvSpPr>
        <p:spPr>
          <a:xfrm>
            <a:off x="566925" y="6391525"/>
            <a:ext cx="9847800" cy="338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1" name="Google Shape;1791;g3f52123c504_1_1464"/>
          <p:cNvSpPr txBox="1"/>
          <p:nvPr/>
        </p:nvSpPr>
        <p:spPr>
          <a:xfrm>
            <a:off x="731526" y="6465850"/>
            <a:ext cx="96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人工修改處與修改原因：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節點內容與判斷邏輯未變，僅調整兩處「否：請使用者重新說明問題」分支走線與文字間距，避免來回連線重疊及文字空間不足</a:t>
            </a:r>
            <a:endParaRPr sz="1100">
              <a:solidFill>
                <a:srgbClr val="434343"/>
              </a:solidFill>
            </a:endParaRPr>
          </a:p>
        </p:txBody>
      </p:sp>
      <p:pic>
        <p:nvPicPr>
          <p:cNvPr id="1792" name="Google Shape;1792;g3f52123c504_1_1464" title="04-設備報修-子流程4-設備問題描述與確認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150" y="1198992"/>
            <a:ext cx="3042125" cy="5000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g3f52123c504_1_1464" title="04-人工修改-設備報修-子流程4-設備問題描述與確認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9976" y="1179775"/>
            <a:ext cx="3042125" cy="5000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3f52123c504_1_1551"/>
          <p:cNvSpPr/>
          <p:nvPr/>
        </p:nvSpPr>
        <p:spPr>
          <a:xfrm>
            <a:off x="10903451" y="0"/>
            <a:ext cx="1285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g3f52123c504_1_1551"/>
          <p:cNvSpPr/>
          <p:nvPr/>
        </p:nvSpPr>
        <p:spPr>
          <a:xfrm>
            <a:off x="10885269" y="0"/>
            <a:ext cx="12855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0" name="Google Shape;1800;g3f52123c504_1_1551"/>
          <p:cNvCxnSpPr/>
          <p:nvPr/>
        </p:nvCxnSpPr>
        <p:spPr>
          <a:xfrm>
            <a:off x="10881263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1" name="Google Shape;1801;g3f52123c504_1_1551"/>
          <p:cNvSpPr/>
          <p:nvPr/>
        </p:nvSpPr>
        <p:spPr>
          <a:xfrm>
            <a:off x="10771535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g3f52123c504_1_1551"/>
          <p:cNvSpPr/>
          <p:nvPr/>
        </p:nvSpPr>
        <p:spPr>
          <a:xfrm>
            <a:off x="10830067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g3f52123c504_1_1551"/>
          <p:cNvSpPr/>
          <p:nvPr/>
        </p:nvSpPr>
        <p:spPr>
          <a:xfrm>
            <a:off x="11400085" y="695007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4" name="Google Shape;1804;g3f52123c504_1_1551"/>
          <p:cNvCxnSpPr/>
          <p:nvPr/>
        </p:nvCxnSpPr>
        <p:spPr>
          <a:xfrm>
            <a:off x="11509813" y="914463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5" name="Google Shape;1805;g3f52123c504_1_1551"/>
          <p:cNvSpPr/>
          <p:nvPr/>
        </p:nvSpPr>
        <p:spPr>
          <a:xfrm>
            <a:off x="11171485" y="1609408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6" name="Google Shape;1806;g3f52123c504_1_1551"/>
          <p:cNvCxnSpPr/>
          <p:nvPr/>
        </p:nvCxnSpPr>
        <p:spPr>
          <a:xfrm>
            <a:off x="11509813" y="2048320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7" name="Google Shape;1807;g3f52123c504_1_1551"/>
          <p:cNvSpPr/>
          <p:nvPr/>
        </p:nvSpPr>
        <p:spPr>
          <a:xfrm>
            <a:off x="11281213" y="2779840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8" name="Google Shape;1808;g3f52123c504_1_1551"/>
          <p:cNvCxnSpPr/>
          <p:nvPr/>
        </p:nvCxnSpPr>
        <p:spPr>
          <a:xfrm>
            <a:off x="11518957" y="3255328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9" name="Google Shape;1809;g3f52123c504_1_1551"/>
          <p:cNvSpPr/>
          <p:nvPr/>
        </p:nvSpPr>
        <p:spPr>
          <a:xfrm>
            <a:off x="11189773" y="4032568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0" name="Google Shape;1810;g3f52123c504_1_1551"/>
          <p:cNvCxnSpPr/>
          <p:nvPr/>
        </p:nvCxnSpPr>
        <p:spPr>
          <a:xfrm>
            <a:off x="11528101" y="4544632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1" name="Google Shape;1811;g3f52123c504_1_1551"/>
          <p:cNvSpPr/>
          <p:nvPr/>
        </p:nvSpPr>
        <p:spPr>
          <a:xfrm>
            <a:off x="11400085" y="5523040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g3f52123c504_1_1551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3" name="Google Shape;1813;g3f52123c504_1_1551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4" name="Google Shape;1814;g3f52123c504_1_1551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5" name="Google Shape;1815;g3f52123c504_1_1551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6" name="Google Shape;1816;g3f52123c504_1_1551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7" name="Google Shape;1817;g3f52123c504_1_1551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8" name="Google Shape;1818;g3f52123c504_1_1551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9" name="Google Shape;1819;g3f52123c504_1_1551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0" name="Google Shape;1820;g3f52123c504_1_1551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1" name="Google Shape;1821;g3f52123c504_1_1551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2" name="Google Shape;1822;g3f52123c504_1_1551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3" name="Google Shape;1823;g3f52123c504_1_1551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4" name="Google Shape;1824;g3f52123c504_1_1551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5" name="Google Shape;1825;g3f52123c504_1_1551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6" name="Google Shape;1826;g3f52123c504_1_1551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7" name="Google Shape;1827;g3f52123c504_1_1551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8" name="Google Shape;1828;g3f52123c504_1_1551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9" name="Google Shape;1829;g3f52123c504_1_1551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0" name="Google Shape;1830;g3f52123c504_1_1551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1" name="Google Shape;1831;g3f52123c504_1_1551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2" name="Google Shape;1832;g3f52123c504_1_1551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3" name="Google Shape;1833;g3f52123c504_1_1551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4" name="Google Shape;1834;g3f52123c504_1_1551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5" name="Google Shape;1835;g3f52123c504_1_1551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6" name="Google Shape;1836;g3f52123c504_1_1551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7" name="Google Shape;1837;g3f52123c504_1_1551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8" name="Google Shape;1838;g3f52123c504_1_1551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9" name="Google Shape;1839;g3f52123c504_1_1551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0" name="Google Shape;1840;g3f52123c504_1_1551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1" name="Google Shape;1841;g3f52123c504_1_1551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2" name="Google Shape;1842;g3f52123c504_1_1551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3" name="Google Shape;1843;g3f52123c504_1_1551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4" name="Google Shape;1844;g3f52123c504_1_1551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5" name="Google Shape;1845;g3f52123c504_1_1551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6" name="Google Shape;1846;g3f52123c504_1_1551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7" name="Google Shape;1847;g3f52123c504_1_1551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8" name="Google Shape;1848;g3f52123c504_1_1551"/>
          <p:cNvSpPr/>
          <p:nvPr/>
        </p:nvSpPr>
        <p:spPr>
          <a:xfrm>
            <a:off x="11504106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850">
                <a:solidFill>
                  <a:srgbClr val="E0B64E"/>
                </a:solidFill>
              </a:rPr>
              <a:t>7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9" name="Google Shape;1849;g3f52123c504_1_1551"/>
          <p:cNvSpPr/>
          <p:nvPr/>
        </p:nvSpPr>
        <p:spPr>
          <a:xfrm>
            <a:off x="36576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g3f52123c504_1_1551"/>
          <p:cNvSpPr/>
          <p:nvPr/>
        </p:nvSpPr>
        <p:spPr>
          <a:xfrm>
            <a:off x="182880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g3f52123c504_1_1551"/>
          <p:cNvSpPr/>
          <p:nvPr/>
        </p:nvSpPr>
        <p:spPr>
          <a:xfrm>
            <a:off x="329184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g3f52123c504_1_1551"/>
          <p:cNvSpPr/>
          <p:nvPr/>
        </p:nvSpPr>
        <p:spPr>
          <a:xfrm>
            <a:off x="475488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g3f52123c504_1_1551"/>
          <p:cNvSpPr/>
          <p:nvPr/>
        </p:nvSpPr>
        <p:spPr>
          <a:xfrm>
            <a:off x="621792" y="146304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g3f52123c504_1_1551"/>
          <p:cNvSpPr/>
          <p:nvPr/>
        </p:nvSpPr>
        <p:spPr>
          <a:xfrm>
            <a:off x="36576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g3f52123c504_1_1551"/>
          <p:cNvSpPr/>
          <p:nvPr/>
        </p:nvSpPr>
        <p:spPr>
          <a:xfrm>
            <a:off x="182880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g3f52123c504_1_1551"/>
          <p:cNvSpPr/>
          <p:nvPr/>
        </p:nvSpPr>
        <p:spPr>
          <a:xfrm>
            <a:off x="329184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g3f52123c504_1_1551"/>
          <p:cNvSpPr/>
          <p:nvPr/>
        </p:nvSpPr>
        <p:spPr>
          <a:xfrm>
            <a:off x="475488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g3f52123c504_1_1551"/>
          <p:cNvSpPr/>
          <p:nvPr/>
        </p:nvSpPr>
        <p:spPr>
          <a:xfrm>
            <a:off x="621792" y="292608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g3f52123c504_1_1551"/>
          <p:cNvSpPr/>
          <p:nvPr/>
        </p:nvSpPr>
        <p:spPr>
          <a:xfrm>
            <a:off x="36576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g3f52123c504_1_1551"/>
          <p:cNvSpPr/>
          <p:nvPr/>
        </p:nvSpPr>
        <p:spPr>
          <a:xfrm>
            <a:off x="182880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g3f52123c504_1_1551"/>
          <p:cNvSpPr/>
          <p:nvPr/>
        </p:nvSpPr>
        <p:spPr>
          <a:xfrm>
            <a:off x="329184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g3f52123c504_1_1551"/>
          <p:cNvSpPr/>
          <p:nvPr/>
        </p:nvSpPr>
        <p:spPr>
          <a:xfrm>
            <a:off x="475488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g3f52123c504_1_1551"/>
          <p:cNvSpPr/>
          <p:nvPr/>
        </p:nvSpPr>
        <p:spPr>
          <a:xfrm>
            <a:off x="621792" y="438912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g3f52123c504_1_1551"/>
          <p:cNvSpPr/>
          <p:nvPr/>
        </p:nvSpPr>
        <p:spPr>
          <a:xfrm>
            <a:off x="36576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g3f52123c504_1_1551"/>
          <p:cNvSpPr/>
          <p:nvPr/>
        </p:nvSpPr>
        <p:spPr>
          <a:xfrm>
            <a:off x="182880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g3f52123c504_1_1551"/>
          <p:cNvSpPr/>
          <p:nvPr/>
        </p:nvSpPr>
        <p:spPr>
          <a:xfrm>
            <a:off x="329184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g3f52123c504_1_1551"/>
          <p:cNvSpPr/>
          <p:nvPr/>
        </p:nvSpPr>
        <p:spPr>
          <a:xfrm>
            <a:off x="475488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g3f52123c504_1_1551"/>
          <p:cNvSpPr/>
          <p:nvPr/>
        </p:nvSpPr>
        <p:spPr>
          <a:xfrm>
            <a:off x="621792" y="585216"/>
            <a:ext cx="21900" cy="219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g3f52123c504_1_1551"/>
          <p:cNvSpPr txBox="1"/>
          <p:nvPr/>
        </p:nvSpPr>
        <p:spPr>
          <a:xfrm>
            <a:off x="768128" y="155450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原始輸出 vs. 人工修改（5／5）</a:t>
            </a:r>
            <a:endParaRPr sz="1300"/>
          </a:p>
        </p:txBody>
      </p:sp>
      <p:sp>
        <p:nvSpPr>
          <p:cNvPr id="1870" name="Google Shape;1870;g3f52123c504_1_1551"/>
          <p:cNvSpPr txBox="1"/>
          <p:nvPr/>
        </p:nvSpPr>
        <p:spPr>
          <a:xfrm>
            <a:off x="731528" y="423247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32B"/>
                </a:solidFill>
              </a:rPr>
              <a:t>建立設備報修單</a:t>
            </a:r>
            <a:endParaRPr b="1" sz="3000">
              <a:solidFill>
                <a:srgbClr val="1F232B"/>
              </a:solidFill>
            </a:endParaRPr>
          </a:p>
        </p:txBody>
      </p:sp>
      <p:cxnSp>
        <p:nvCxnSpPr>
          <p:cNvPr id="1871" name="Google Shape;1871;g3f52123c504_1_1551"/>
          <p:cNvCxnSpPr/>
          <p:nvPr/>
        </p:nvCxnSpPr>
        <p:spPr>
          <a:xfrm flipH="1" rot="10800000">
            <a:off x="708640" y="964968"/>
            <a:ext cx="9706200" cy="330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72" name="Google Shape;1872;g3f52123c504_1_1551"/>
          <p:cNvCxnSpPr/>
          <p:nvPr/>
        </p:nvCxnSpPr>
        <p:spPr>
          <a:xfrm>
            <a:off x="708640" y="96826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73" name="Google Shape;1873;g3f52123c504_1_1551"/>
          <p:cNvSpPr/>
          <p:nvPr/>
        </p:nvSpPr>
        <p:spPr>
          <a:xfrm>
            <a:off x="10351771" y="935081"/>
            <a:ext cx="82200" cy="822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4" name="Google Shape;1874;g3f52123c504_1_1551"/>
          <p:cNvSpPr/>
          <p:nvPr/>
        </p:nvSpPr>
        <p:spPr>
          <a:xfrm>
            <a:off x="351125" y="1103175"/>
            <a:ext cx="4918800" cy="49686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5" name="Google Shape;1875;g3f52123c504_1_1551"/>
          <p:cNvSpPr/>
          <p:nvPr/>
        </p:nvSpPr>
        <p:spPr>
          <a:xfrm>
            <a:off x="530056" y="1196325"/>
            <a:ext cx="960000" cy="2376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6" name="Google Shape;1876;g3f52123c504_1_1551"/>
          <p:cNvSpPr txBox="1"/>
          <p:nvPr/>
        </p:nvSpPr>
        <p:spPr>
          <a:xfrm>
            <a:off x="530051" y="123053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AI 原始輸出</a:t>
            </a:r>
            <a:endParaRPr sz="1100"/>
          </a:p>
        </p:txBody>
      </p:sp>
      <p:sp>
        <p:nvSpPr>
          <p:cNvPr id="1877" name="Google Shape;1877;g3f52123c504_1_1551"/>
          <p:cNvSpPr/>
          <p:nvPr/>
        </p:nvSpPr>
        <p:spPr>
          <a:xfrm>
            <a:off x="5506850" y="1103125"/>
            <a:ext cx="5027700" cy="49686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8" name="Google Shape;1878;g3f52123c504_1_1551"/>
          <p:cNvSpPr/>
          <p:nvPr/>
        </p:nvSpPr>
        <p:spPr>
          <a:xfrm>
            <a:off x="5671450" y="1214474"/>
            <a:ext cx="960000" cy="2559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9" name="Google Shape;1879;g3f52123c504_1_1551"/>
          <p:cNvSpPr txBox="1"/>
          <p:nvPr/>
        </p:nvSpPr>
        <p:spPr>
          <a:xfrm>
            <a:off x="5659541" y="1265070"/>
            <a:ext cx="96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人工修改後</a:t>
            </a:r>
            <a:endParaRPr sz="1100"/>
          </a:p>
        </p:txBody>
      </p:sp>
      <p:sp>
        <p:nvSpPr>
          <p:cNvPr id="1880" name="Google Shape;1880;g3f52123c504_1_1551"/>
          <p:cNvSpPr txBox="1"/>
          <p:nvPr/>
        </p:nvSpPr>
        <p:spPr>
          <a:xfrm>
            <a:off x="5961475" y="627698"/>
            <a:ext cx="44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若圖片尺寸較小，可至 GitHub 的 </a:t>
            </a:r>
            <a:r>
              <a:rPr lang="en-U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05-output</a:t>
            </a:r>
            <a:r>
              <a:rPr lang="en-US" sz="1000">
                <a:solidFill>
                  <a:schemeClr val="dk1"/>
                </a:solidFill>
              </a:rPr>
              <a:t> 資料夾查看原始大圖</a:t>
            </a:r>
            <a:endParaRPr sz="1000"/>
          </a:p>
        </p:txBody>
      </p:sp>
      <p:sp>
        <p:nvSpPr>
          <p:cNvPr id="1881" name="Google Shape;1881;g3f52123c504_1_1551"/>
          <p:cNvSpPr/>
          <p:nvPr/>
        </p:nvSpPr>
        <p:spPr>
          <a:xfrm>
            <a:off x="566925" y="6181350"/>
            <a:ext cx="9847800" cy="5490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2" name="Google Shape;1882;g3f52123c504_1_1551"/>
          <p:cNvSpPr txBox="1"/>
          <p:nvPr/>
        </p:nvSpPr>
        <p:spPr>
          <a:xfrm>
            <a:off x="731526" y="6275350"/>
            <a:ext cx="9620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人工修改處與修改原因：</a:t>
            </a:r>
            <a:r>
              <a:rPr lang="en-US" sz="11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節點內容與判斷邏輯未變，僅調整 API 呼叫、報修單建立結果回傳及「否」分支的走線與文字位置，避免連線重疊及文字遮擋，並清楚區分資料回傳與判斷分支</a:t>
            </a:r>
            <a:endParaRPr sz="1100">
              <a:solidFill>
                <a:srgbClr val="434343"/>
              </a:solidFill>
            </a:endParaRPr>
          </a:p>
        </p:txBody>
      </p:sp>
      <p:pic>
        <p:nvPicPr>
          <p:cNvPr id="1883" name="Google Shape;1883;g3f52123c504_1_1551" title="05-設備報修-子流程5-建立設備報修單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13" y="1621250"/>
            <a:ext cx="4538327" cy="4117295"/>
          </a:xfrm>
          <a:prstGeom prst="rect">
            <a:avLst/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884" name="Google Shape;1884;g3f52123c504_1_1551" title="05-人工修改-設備報修-子流程5-建立設備報修單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7375" y="1621250"/>
            <a:ext cx="4806702" cy="37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16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6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1" name="Google Shape;1891;p16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2" name="Google Shape;1892;p16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16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16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5" name="Google Shape;1895;p16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6" name="Google Shape;1896;p16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7" name="Google Shape;1897;p16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8" name="Google Shape;1898;p16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9" name="Google Shape;1899;p16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0" name="Google Shape;1900;p16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1" name="Google Shape;1901;p16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2" name="Google Shape;1902;p16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3" name="Google Shape;1903;p16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4" name="Google Shape;1904;p16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5" name="Google Shape;1905;p16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6" name="Google Shape;1906;p16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7" name="Google Shape;1907;p16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908" name="Google Shape;1908;p16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9" name="Google Shape;1909;p16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0" name="Google Shape;1910;p16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1" name="Google Shape;1911;p16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2" name="Google Shape;1912;p16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3" name="Google Shape;1913;p16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4" name="Google Shape;1914;p16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5" name="Google Shape;1915;p16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6" name="Google Shape;1916;p16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7" name="Google Shape;1917;p16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8" name="Google Shape;1918;p16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9" name="Google Shape;1919;p16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0" name="Google Shape;1920;p16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1" name="Google Shape;1921;p16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2" name="Google Shape;1922;p16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3" name="Google Shape;1923;p16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4" name="Google Shape;1924;p16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5" name="Google Shape;1925;p16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6" name="Google Shape;1926;p16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7" name="Google Shape;1927;p16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8" name="Google Shape;1928;p16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9" name="Google Shape;1929;p16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0" name="Google Shape;1930;p16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1" name="Google Shape;1931;p16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2" name="Google Shape;1932;p16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3" name="Google Shape;1933;p16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4" name="Google Shape;1934;p16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5" name="Google Shape;1935;p16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6" name="Google Shape;1936;p16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7" name="Google Shape;1937;p16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8" name="Google Shape;1938;p16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9" name="Google Shape;1939;p16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0" name="Google Shape;1940;p16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1" name="Google Shape;1941;p16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2" name="Google Shape;1942;p16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3" name="Google Shape;1943;p16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4" name="Google Shape;1944;p16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5" name="Google Shape;1945;p16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6" name="Google Shape;1946;p16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7" name="Google Shape;1947;p16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8" name="Google Shape;1948;p16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9" name="Google Shape;1949;p16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0" name="Google Shape;1950;p16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6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18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2" name="Google Shape;1952;p16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6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6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6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6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6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6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6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6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6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6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6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6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6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6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16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6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16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16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6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2" name="Google Shape;1972;p16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3" name="Google Shape;1973;p16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4" name="Google Shape;1974;p16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時間效益實測</a:t>
            </a:r>
            <a:endParaRPr/>
          </a:p>
        </p:txBody>
      </p:sp>
      <p:sp>
        <p:nvSpPr>
          <p:cNvPr id="1975" name="Google Shape;1975;p16"/>
          <p:cNvSpPr txBox="1"/>
          <p:nvPr/>
        </p:nvSpPr>
        <p:spPr>
          <a:xfrm>
            <a:off x="566928" y="1847596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實際節省多少時間</a:t>
            </a:r>
            <a:endParaRPr sz="3200"/>
          </a:p>
        </p:txBody>
      </p:sp>
      <p:cxnSp>
        <p:nvCxnSpPr>
          <p:cNvPr id="1976" name="Google Shape;1976;p16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77" name="Google Shape;1977;p16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78" name="Google Shape;1978;p16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9" name="Google Shape;1979;p16"/>
          <p:cNvSpPr/>
          <p:nvPr/>
        </p:nvSpPr>
        <p:spPr>
          <a:xfrm>
            <a:off x="566928" y="2653948"/>
            <a:ext cx="2615100" cy="9693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0" name="Google Shape;1980;p16"/>
          <p:cNvSpPr txBox="1"/>
          <p:nvPr/>
        </p:nvSpPr>
        <p:spPr>
          <a:xfrm>
            <a:off x="731520" y="2781964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837B73"/>
                </a:solidFill>
                <a:latin typeface="Arial"/>
                <a:ea typeface="Arial"/>
                <a:cs typeface="Arial"/>
                <a:sym typeface="Arial"/>
              </a:rPr>
              <a:t>300 分鐘</a:t>
            </a:r>
            <a:endParaRPr/>
          </a:p>
        </p:txBody>
      </p:sp>
      <p:sp>
        <p:nvSpPr>
          <p:cNvPr id="1981" name="Google Shape;1981;p16"/>
          <p:cNvSpPr txBox="1"/>
          <p:nvPr/>
        </p:nvSpPr>
        <p:spPr>
          <a:xfrm>
            <a:off x="731520" y="3202588"/>
            <a:ext cx="23316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人工繪製（60 分鐘 × 5 個子流程）</a:t>
            </a:r>
            <a:endParaRPr/>
          </a:p>
        </p:txBody>
      </p:sp>
      <p:sp>
        <p:nvSpPr>
          <p:cNvPr id="1982" name="Google Shape;1982;p16"/>
          <p:cNvSpPr/>
          <p:nvPr/>
        </p:nvSpPr>
        <p:spPr>
          <a:xfrm>
            <a:off x="3337560" y="2653948"/>
            <a:ext cx="2615100" cy="9693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3" name="Google Shape;1983;p16"/>
          <p:cNvSpPr txBox="1"/>
          <p:nvPr/>
        </p:nvSpPr>
        <p:spPr>
          <a:xfrm>
            <a:off x="3502152" y="2781964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135 分鐘</a:t>
            </a:r>
            <a:endParaRPr/>
          </a:p>
        </p:txBody>
      </p:sp>
      <p:sp>
        <p:nvSpPr>
          <p:cNvPr id="1984" name="Google Shape;1984;p16"/>
          <p:cNvSpPr txBox="1"/>
          <p:nvPr/>
        </p:nvSpPr>
        <p:spPr>
          <a:xfrm>
            <a:off x="3502152" y="3202588"/>
            <a:ext cx="23316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AI 工作流（含前置文件 30 分鐘）</a:t>
            </a:r>
            <a:endParaRPr/>
          </a:p>
        </p:txBody>
      </p:sp>
      <p:sp>
        <p:nvSpPr>
          <p:cNvPr id="1985" name="Google Shape;1985;p16"/>
          <p:cNvSpPr/>
          <p:nvPr/>
        </p:nvSpPr>
        <p:spPr>
          <a:xfrm>
            <a:off x="6108192" y="2653948"/>
            <a:ext cx="2615100" cy="9693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6" name="Google Shape;1986;p16"/>
          <p:cNvSpPr txBox="1"/>
          <p:nvPr/>
        </p:nvSpPr>
        <p:spPr>
          <a:xfrm>
            <a:off x="6272783" y="2781964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− 165 分鐘</a:t>
            </a:r>
            <a:endParaRPr/>
          </a:p>
        </p:txBody>
      </p:sp>
      <p:sp>
        <p:nvSpPr>
          <p:cNvPr id="1987" name="Google Shape;1987;p16"/>
          <p:cNvSpPr txBox="1"/>
          <p:nvPr/>
        </p:nvSpPr>
        <p:spPr>
          <a:xfrm>
            <a:off x="6272783" y="3202588"/>
            <a:ext cx="23316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推估節省（2 小時 45 分，約 55%）</a:t>
            </a:r>
            <a:endParaRPr/>
          </a:p>
        </p:txBody>
      </p:sp>
      <p:sp>
        <p:nvSpPr>
          <p:cNvPr id="1988" name="Google Shape;1988;p16"/>
          <p:cNvSpPr/>
          <p:nvPr/>
        </p:nvSpPr>
        <p:spPr>
          <a:xfrm>
            <a:off x="566925" y="3757900"/>
            <a:ext cx="8147400" cy="23136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9" name="Google Shape;1989;p16"/>
          <p:cNvSpPr txBox="1"/>
          <p:nvPr/>
        </p:nvSpPr>
        <p:spPr>
          <a:xfrm>
            <a:off x="769121" y="3881008"/>
            <a:ext cx="166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比較項目</a:t>
            </a:r>
            <a:endParaRPr sz="1200"/>
          </a:p>
        </p:txBody>
      </p:sp>
      <p:sp>
        <p:nvSpPr>
          <p:cNvPr id="1990" name="Google Shape;1990;p16"/>
          <p:cNvSpPr txBox="1"/>
          <p:nvPr/>
        </p:nvSpPr>
        <p:spPr>
          <a:xfrm>
            <a:off x="3255652" y="3879458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人工繪製</a:t>
            </a:r>
            <a:endParaRPr sz="1200"/>
          </a:p>
        </p:txBody>
      </p:sp>
      <p:sp>
        <p:nvSpPr>
          <p:cNvPr id="1991" name="Google Shape;1991;p16"/>
          <p:cNvSpPr txBox="1"/>
          <p:nvPr/>
        </p:nvSpPr>
        <p:spPr>
          <a:xfrm>
            <a:off x="5833742" y="3867533"/>
            <a:ext cx="196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 輔助繪圖</a:t>
            </a:r>
            <a:endParaRPr sz="1200"/>
          </a:p>
        </p:txBody>
      </p:sp>
      <p:cxnSp>
        <p:nvCxnSpPr>
          <p:cNvPr id="1992" name="Google Shape;1992;p16"/>
          <p:cNvCxnSpPr/>
          <p:nvPr/>
        </p:nvCxnSpPr>
        <p:spPr>
          <a:xfrm>
            <a:off x="731520" y="4165328"/>
            <a:ext cx="7818000" cy="0"/>
          </a:xfrm>
          <a:prstGeom prst="straightConnector1">
            <a:avLst/>
          </a:prstGeom>
          <a:noFill/>
          <a:ln cap="flat" cmpd="sng" w="15225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3" name="Google Shape;1993;p16"/>
          <p:cNvSpPr txBox="1"/>
          <p:nvPr/>
        </p:nvSpPr>
        <p:spPr>
          <a:xfrm>
            <a:off x="769119" y="4381094"/>
            <a:ext cx="384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前置構思與文件整理</a:t>
            </a:r>
            <a:endParaRPr sz="1100"/>
          </a:p>
        </p:txBody>
      </p:sp>
      <p:sp>
        <p:nvSpPr>
          <p:cNvPr id="1994" name="Google Shape;1994;p16"/>
          <p:cNvSpPr txBox="1"/>
          <p:nvPr/>
        </p:nvSpPr>
        <p:spPr>
          <a:xfrm>
            <a:off x="3255652" y="4379544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包含於各子流程繪製時間</a:t>
            </a:r>
            <a:endParaRPr sz="1100"/>
          </a:p>
        </p:txBody>
      </p:sp>
      <p:sp>
        <p:nvSpPr>
          <p:cNvPr id="1995" name="Google Shape;1995;p16"/>
          <p:cNvSpPr txBox="1"/>
          <p:nvPr/>
        </p:nvSpPr>
        <p:spPr>
          <a:xfrm>
            <a:off x="5846282" y="4334199"/>
            <a:ext cx="2715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約 30 分鐘</a:t>
            </a:r>
            <a:endParaRPr sz="800">
              <a:solidFill>
                <a:srgbClr val="1F232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（從零建立完整流程文件，含所有子流程與人工確認）</a:t>
            </a:r>
            <a:r>
              <a:rPr lang="en-US" sz="8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）</a:t>
            </a:r>
            <a:endParaRPr sz="800"/>
          </a:p>
        </p:txBody>
      </p:sp>
      <p:cxnSp>
        <p:nvCxnSpPr>
          <p:cNvPr id="1996" name="Google Shape;1996;p16"/>
          <p:cNvCxnSpPr/>
          <p:nvPr/>
        </p:nvCxnSpPr>
        <p:spPr>
          <a:xfrm>
            <a:off x="731520" y="4801381"/>
            <a:ext cx="78180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7" name="Google Shape;1997;p16"/>
          <p:cNvSpPr txBox="1"/>
          <p:nvPr/>
        </p:nvSpPr>
        <p:spPr>
          <a:xfrm>
            <a:off x="769119" y="4967336"/>
            <a:ext cx="384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單一子流程（產圖＋檢查修改）</a:t>
            </a:r>
            <a:endParaRPr sz="1100"/>
          </a:p>
        </p:txBody>
      </p:sp>
      <p:sp>
        <p:nvSpPr>
          <p:cNvPr id="1998" name="Google Shape;1998;p16"/>
          <p:cNvSpPr txBox="1"/>
          <p:nvPr/>
        </p:nvSpPr>
        <p:spPr>
          <a:xfrm>
            <a:off x="3255652" y="4965786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約 60 分鐘</a:t>
            </a:r>
            <a:endParaRPr sz="1100"/>
          </a:p>
        </p:txBody>
      </p:sp>
      <p:cxnSp>
        <p:nvCxnSpPr>
          <p:cNvPr id="1999" name="Google Shape;1999;p16"/>
          <p:cNvCxnSpPr/>
          <p:nvPr/>
        </p:nvCxnSpPr>
        <p:spPr>
          <a:xfrm>
            <a:off x="731520" y="5458546"/>
            <a:ext cx="78180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00" name="Google Shape;2000;p16"/>
          <p:cNvSpPr txBox="1"/>
          <p:nvPr/>
        </p:nvSpPr>
        <p:spPr>
          <a:xfrm>
            <a:off x="769119" y="5600892"/>
            <a:ext cx="384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五個子流程總時間</a:t>
            </a:r>
            <a:endParaRPr sz="1100"/>
          </a:p>
        </p:txBody>
      </p:sp>
      <p:sp>
        <p:nvSpPr>
          <p:cNvPr id="2001" name="Google Shape;2001;p16"/>
          <p:cNvSpPr txBox="1"/>
          <p:nvPr/>
        </p:nvSpPr>
        <p:spPr>
          <a:xfrm>
            <a:off x="3255652" y="5599342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約 300 分鐘</a:t>
            </a:r>
            <a:endParaRPr sz="1100"/>
          </a:p>
        </p:txBody>
      </p:sp>
      <p:sp>
        <p:nvSpPr>
          <p:cNvPr id="2002" name="Google Shape;2002;p16"/>
          <p:cNvSpPr txBox="1"/>
          <p:nvPr/>
        </p:nvSpPr>
        <p:spPr>
          <a:xfrm>
            <a:off x="5833673" y="5591650"/>
            <a:ext cx="2715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約 135 分鐘</a:t>
            </a:r>
            <a:b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8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（前置文件 30 分鐘＋5 個子流程 × 21 分鐘）</a:t>
            </a:r>
            <a:endParaRPr sz="800">
              <a:solidFill>
                <a:srgbClr val="434343"/>
              </a:solidFill>
            </a:endParaRPr>
          </a:p>
        </p:txBody>
      </p:sp>
      <p:sp>
        <p:nvSpPr>
          <p:cNvPr id="2003" name="Google Shape;2003;p16"/>
          <p:cNvSpPr/>
          <p:nvPr/>
        </p:nvSpPr>
        <p:spPr>
          <a:xfrm>
            <a:off x="566900" y="6371851"/>
            <a:ext cx="8147400" cy="329100"/>
          </a:xfrm>
          <a:prstGeom prst="roundRect">
            <a:avLst>
              <a:gd fmla="val 625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4" name="Google Shape;2004;p16"/>
          <p:cNvSpPr txBox="1"/>
          <p:nvPr/>
        </p:nvSpPr>
        <p:spPr>
          <a:xfrm>
            <a:off x="719999" y="6481779"/>
            <a:ext cx="7872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重試原則：節點位置、連線路徑等局部問題直接在 draw.io 人工修改；僅重大錯誤才重新產圖並另計時間</a:t>
            </a:r>
            <a:r>
              <a:rPr b="0" lang="en-US" sz="8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。首次 MCP 環境建置屬一次性成本，於失敗案例章節揭露。</a:t>
            </a:r>
            <a:endParaRPr sz="850"/>
          </a:p>
        </p:txBody>
      </p:sp>
      <p:sp>
        <p:nvSpPr>
          <p:cNvPr id="2005" name="Google Shape;2005;p16"/>
          <p:cNvSpPr txBox="1"/>
          <p:nvPr/>
        </p:nvSpPr>
        <p:spPr>
          <a:xfrm>
            <a:off x="5833675" y="4967324"/>
            <a:ext cx="2916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約 21 分鐘</a:t>
            </a:r>
            <a:br>
              <a:rPr b="1" lang="en-US" sz="11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lang="en-US" sz="8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（</a:t>
            </a:r>
            <a:r>
              <a:rPr lang="en-US" sz="80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AI 產圖平均 6 分鐘，由實測影片計算；人工檢查 15 分鐘）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17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17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2" name="Google Shape;2012;p17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3" name="Google Shape;2013;p17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7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7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6" name="Google Shape;2016;p17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7" name="Google Shape;2017;p17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8" name="Google Shape;2018;p17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9" name="Google Shape;2019;p17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0" name="Google Shape;2020;p17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1" name="Google Shape;2021;p17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2" name="Google Shape;2022;p17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3" name="Google Shape;2023;p17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4" name="Google Shape;2024;p17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5" name="Google Shape;2025;p17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6" name="Google Shape;2026;p17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7" name="Google Shape;2027;p17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8" name="Google Shape;2028;p17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29" name="Google Shape;2029;p17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0" name="Google Shape;2030;p17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1" name="Google Shape;2031;p17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2" name="Google Shape;2032;p17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3" name="Google Shape;2033;p17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4" name="Google Shape;2034;p17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5" name="Google Shape;2035;p17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6" name="Google Shape;2036;p17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7" name="Google Shape;2037;p17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8" name="Google Shape;2038;p17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9" name="Google Shape;2039;p17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0" name="Google Shape;2040;p17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1" name="Google Shape;2041;p17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2" name="Google Shape;2042;p17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3" name="Google Shape;2043;p17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4" name="Google Shape;2044;p17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5" name="Google Shape;2045;p17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6" name="Google Shape;2046;p17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7" name="Google Shape;2047;p17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8" name="Google Shape;2048;p17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9" name="Google Shape;2049;p17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0" name="Google Shape;2050;p17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1" name="Google Shape;2051;p17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2" name="Google Shape;2052;p17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3" name="Google Shape;2053;p17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4" name="Google Shape;2054;p17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5" name="Google Shape;2055;p17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6" name="Google Shape;2056;p17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7" name="Google Shape;2057;p17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8" name="Google Shape;2058;p17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9" name="Google Shape;2059;p17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0" name="Google Shape;2060;p17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1" name="Google Shape;2061;p17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2" name="Google Shape;2062;p17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3" name="Google Shape;2063;p17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4" name="Google Shape;2064;p17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5" name="Google Shape;2065;p17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6" name="Google Shape;2066;p17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7" name="Google Shape;2067;p17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8" name="Google Shape;2068;p17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9" name="Google Shape;2069;p17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0" name="Google Shape;2070;p17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1" name="Google Shape;2071;p17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17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850">
                <a:solidFill>
                  <a:srgbClr val="E0B64E"/>
                </a:solidFill>
              </a:rPr>
              <a:t>9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3" name="Google Shape;2073;p17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17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17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7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17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7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17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17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17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17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17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7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17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7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17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7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7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7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17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7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3" name="Google Shape;2093;p17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4" name="Google Shape;2094;p17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5" name="Google Shape;2095;p17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優點與</a:t>
            </a: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限制</a:t>
            </a:r>
            <a:endParaRPr/>
          </a:p>
        </p:txBody>
      </p:sp>
      <p:sp>
        <p:nvSpPr>
          <p:cNvPr id="2096" name="Google Shape;2096;p17"/>
          <p:cNvSpPr txBox="1"/>
          <p:nvPr/>
        </p:nvSpPr>
        <p:spPr>
          <a:xfrm>
            <a:off x="566928" y="1862110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Fable 5 的三項優點</a:t>
            </a:r>
            <a:endParaRPr sz="3200"/>
          </a:p>
        </p:txBody>
      </p:sp>
      <p:cxnSp>
        <p:nvCxnSpPr>
          <p:cNvPr id="2097" name="Google Shape;2097;p17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98" name="Google Shape;2098;p17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99" name="Google Shape;2099;p17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0" name="Google Shape;2100;p17"/>
          <p:cNvSpPr/>
          <p:nvPr/>
        </p:nvSpPr>
        <p:spPr>
          <a:xfrm>
            <a:off x="566928" y="2897559"/>
            <a:ext cx="2615100" cy="2651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1" name="Google Shape;2101;p17"/>
          <p:cNvSpPr txBox="1"/>
          <p:nvPr/>
        </p:nvSpPr>
        <p:spPr>
          <a:xfrm>
            <a:off x="731520" y="3043863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02" name="Google Shape;2102;p17"/>
          <p:cNvSpPr txBox="1"/>
          <p:nvPr/>
        </p:nvSpPr>
        <p:spPr>
          <a:xfrm>
            <a:off x="731520" y="3365113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圖表生成與工具呼叫速度快</a:t>
            </a:r>
            <a:endParaRPr sz="1200"/>
          </a:p>
        </p:txBody>
      </p:sp>
      <p:sp>
        <p:nvSpPr>
          <p:cNvPr id="2103" name="Google Shape;2103;p17"/>
          <p:cNvSpPr txBox="1"/>
          <p:nvPr/>
        </p:nvSpPr>
        <p:spPr>
          <a:xfrm>
            <a:off x="731525" y="3790770"/>
            <a:ext cx="22860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流程內容確認後，可快速生成 draw.io XML、呼叫 MCP，並在 draw.io 網頁版呈現流程圖；單一子流程平均約 6 分鐘即可完成初版產圖</a:t>
            </a:r>
            <a:endParaRPr sz="1100"/>
          </a:p>
        </p:txBody>
      </p:sp>
      <p:sp>
        <p:nvSpPr>
          <p:cNvPr id="2104" name="Google Shape;2104;p17"/>
          <p:cNvSpPr/>
          <p:nvPr/>
        </p:nvSpPr>
        <p:spPr>
          <a:xfrm>
            <a:off x="3337560" y="2897559"/>
            <a:ext cx="2615100" cy="2651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5" name="Google Shape;2105;p17"/>
          <p:cNvSpPr txBox="1"/>
          <p:nvPr/>
        </p:nvSpPr>
        <p:spPr>
          <a:xfrm>
            <a:off x="3502152" y="3043863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106" name="Google Shape;2106;p17"/>
          <p:cNvSpPr txBox="1"/>
          <p:nvPr/>
        </p:nvSpPr>
        <p:spPr>
          <a:xfrm>
            <a:off x="3502152" y="3354759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正確整合複雜的多子流程邏輯</a:t>
            </a:r>
            <a:endParaRPr sz="1200"/>
          </a:p>
        </p:txBody>
      </p:sp>
      <p:sp>
        <p:nvSpPr>
          <p:cNvPr id="2107" name="Google Shape;2107;p17"/>
          <p:cNvSpPr txBox="1"/>
          <p:nvPr/>
        </p:nvSpPr>
        <p:spPr>
          <a:xfrm>
            <a:off x="3502152" y="3744735"/>
            <a:ext cx="22860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實測將五個子流程合併為完整主流程時，Fable 5 能清楚標示各節點所屬的子流程名稱，並完整呈現流程順序、銜接關係、角色、系統、判斷點與例外分支，未出現明顯遺漏、錯置或無依據新增</a:t>
            </a:r>
            <a:endParaRPr sz="1100"/>
          </a:p>
        </p:txBody>
      </p:sp>
      <p:sp>
        <p:nvSpPr>
          <p:cNvPr id="2108" name="Google Shape;2108;p17"/>
          <p:cNvSpPr/>
          <p:nvPr/>
        </p:nvSpPr>
        <p:spPr>
          <a:xfrm>
            <a:off x="6108192" y="2897559"/>
            <a:ext cx="2615100" cy="2651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9" name="Google Shape;2109;p17"/>
          <p:cNvSpPr txBox="1"/>
          <p:nvPr/>
        </p:nvSpPr>
        <p:spPr>
          <a:xfrm>
            <a:off x="6272783" y="3043863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110" name="Google Shape;2110;p17"/>
          <p:cNvSpPr txBox="1"/>
          <p:nvPr/>
        </p:nvSpPr>
        <p:spPr>
          <a:xfrm>
            <a:off x="6272783" y="3354759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複雜產圖仍維持規格遵循與穩定</a:t>
            </a:r>
            <a:endParaRPr sz="1200"/>
          </a:p>
        </p:txBody>
      </p:sp>
      <p:sp>
        <p:nvSpPr>
          <p:cNvPr id="2111" name="Google Shape;2111;p17"/>
          <p:cNvSpPr txBox="1"/>
          <p:nvPr/>
        </p:nvSpPr>
        <p:spPr>
          <a:xfrm>
            <a:off x="6272783" y="3756636"/>
            <a:ext cx="22860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合併五個子流程時，Fable 5 能遵循自訂 Skill 與繪圖規格，產生的 XML 可一次成功解析並透過 MCP 開啟；節點樣式與連線規則亦維持一致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18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18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8" name="Google Shape;2118;p18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9" name="Google Shape;2119;p18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18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18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2" name="Google Shape;2122;p18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3" name="Google Shape;2123;p18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4" name="Google Shape;2124;p18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5" name="Google Shape;2125;p18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6" name="Google Shape;2126;p18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7" name="Google Shape;2127;p18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8" name="Google Shape;2128;p18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9" name="Google Shape;2129;p18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0" name="Google Shape;2130;p18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1" name="Google Shape;2131;p18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2" name="Google Shape;2132;p18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3" name="Google Shape;2133;p18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4" name="Google Shape;2134;p18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35" name="Google Shape;2135;p18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6" name="Google Shape;2136;p18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7" name="Google Shape;2137;p18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8" name="Google Shape;2138;p18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9" name="Google Shape;2139;p18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0" name="Google Shape;2140;p18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1" name="Google Shape;2141;p18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2" name="Google Shape;2142;p18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3" name="Google Shape;2143;p18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4" name="Google Shape;2144;p18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5" name="Google Shape;2145;p18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6" name="Google Shape;2146;p18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7" name="Google Shape;2147;p18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8" name="Google Shape;2148;p18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9" name="Google Shape;2149;p18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0" name="Google Shape;2150;p18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1" name="Google Shape;2151;p18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2" name="Google Shape;2152;p18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3" name="Google Shape;2153;p18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4" name="Google Shape;2154;p18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5" name="Google Shape;2155;p18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6" name="Google Shape;2156;p18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7" name="Google Shape;2157;p18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8" name="Google Shape;2158;p18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9" name="Google Shape;2159;p18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0" name="Google Shape;2160;p18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1" name="Google Shape;2161;p18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2" name="Google Shape;2162;p18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3" name="Google Shape;2163;p18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4" name="Google Shape;2164;p18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5" name="Google Shape;2165;p18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6" name="Google Shape;2166;p18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7" name="Google Shape;2167;p18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8" name="Google Shape;2168;p18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9" name="Google Shape;2169;p18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0" name="Google Shape;2170;p18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1" name="Google Shape;2171;p18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2" name="Google Shape;2172;p18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3" name="Google Shape;2173;p18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4" name="Google Shape;2174;p18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5" name="Google Shape;2175;p18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6" name="Google Shape;2176;p18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7" name="Google Shape;2177;p18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18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20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9" name="Google Shape;2179;p18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18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18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18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18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18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18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18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18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18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18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18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18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18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18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18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18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18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18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18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9" name="Google Shape;2199;p18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0" name="Google Shape;2200;p18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1" name="Google Shape;2201;p18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優點與限</a:t>
            </a: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制</a:t>
            </a:r>
            <a:endParaRPr/>
          </a:p>
        </p:txBody>
      </p:sp>
      <p:sp>
        <p:nvSpPr>
          <p:cNvPr id="2202" name="Google Shape;2202;p18"/>
          <p:cNvSpPr txBox="1"/>
          <p:nvPr/>
        </p:nvSpPr>
        <p:spPr>
          <a:xfrm>
            <a:off x="566928" y="1831324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Fable 5 的三項限制</a:t>
            </a:r>
            <a:endParaRPr sz="3200"/>
          </a:p>
        </p:txBody>
      </p:sp>
      <p:cxnSp>
        <p:nvCxnSpPr>
          <p:cNvPr id="2203" name="Google Shape;2203;p18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04" name="Google Shape;2204;p18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05" name="Google Shape;2205;p18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6" name="Google Shape;2206;p18"/>
          <p:cNvSpPr/>
          <p:nvPr/>
        </p:nvSpPr>
        <p:spPr>
          <a:xfrm>
            <a:off x="566928" y="2791726"/>
            <a:ext cx="2615100" cy="2651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7" name="Google Shape;2207;p18"/>
          <p:cNvSpPr txBox="1"/>
          <p:nvPr/>
        </p:nvSpPr>
        <p:spPr>
          <a:xfrm>
            <a:off x="731520" y="2938030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208" name="Google Shape;2208;p18"/>
          <p:cNvSpPr txBox="1"/>
          <p:nvPr/>
        </p:nvSpPr>
        <p:spPr>
          <a:xfrm>
            <a:off x="731520" y="3248926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單次產圖 Token 成本偏高</a:t>
            </a:r>
            <a:endParaRPr sz="1200"/>
          </a:p>
        </p:txBody>
      </p:sp>
      <p:sp>
        <p:nvSpPr>
          <p:cNvPr id="2209" name="Google Shape;2209;p18"/>
          <p:cNvSpPr txBox="1"/>
          <p:nvPr/>
        </p:nvSpPr>
        <p:spPr>
          <a:xfrm>
            <a:off x="731520" y="3673526"/>
            <a:ext cx="2286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官方 API 定價為輸入 $10、輸出 $50／百萬 Token。由於任務需讀取流程文件與繪圖規格，並產生較長的 draw.io XML，輸出 Token 成本可能隨圖面複雜度增加</a:t>
            </a:r>
            <a:endParaRPr sz="1100"/>
          </a:p>
        </p:txBody>
      </p:sp>
      <p:sp>
        <p:nvSpPr>
          <p:cNvPr id="2210" name="Google Shape;2210;p18"/>
          <p:cNvSpPr/>
          <p:nvPr/>
        </p:nvSpPr>
        <p:spPr>
          <a:xfrm>
            <a:off x="3337560" y="2791726"/>
            <a:ext cx="2615100" cy="2651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1" name="Google Shape;2211;p18"/>
          <p:cNvSpPr txBox="1"/>
          <p:nvPr/>
        </p:nvSpPr>
        <p:spPr>
          <a:xfrm>
            <a:off x="3502152" y="2938030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212" name="Google Shape;2212;p18"/>
          <p:cNvSpPr txBox="1"/>
          <p:nvPr/>
        </p:nvSpPr>
        <p:spPr>
          <a:xfrm>
            <a:off x="3502152" y="3248926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額度</a:t>
            </a: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不足將導致</a:t>
            </a: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中斷工作</a:t>
            </a: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流程</a:t>
            </a:r>
            <a:endParaRPr sz="1200"/>
          </a:p>
        </p:txBody>
      </p:sp>
      <p:sp>
        <p:nvSpPr>
          <p:cNvPr id="2213" name="Google Shape;2213;p18"/>
          <p:cNvSpPr txBox="1"/>
          <p:nvPr/>
        </p:nvSpPr>
        <p:spPr>
          <a:xfrm>
            <a:off x="3502152" y="3673526"/>
            <a:ext cx="2286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自 2026/07/07 起，Pro、Max、Team 與部分 Enterprise 方案使用 Fable 5 時會消耗 usage credits；若額度不足，需補購點數或改用其他模型，可能影響工作流程的連續性</a:t>
            </a:r>
            <a:endParaRPr sz="1100"/>
          </a:p>
        </p:txBody>
      </p:sp>
      <p:sp>
        <p:nvSpPr>
          <p:cNvPr id="2214" name="Google Shape;2214;p18"/>
          <p:cNvSpPr/>
          <p:nvPr/>
        </p:nvSpPr>
        <p:spPr>
          <a:xfrm>
            <a:off x="6108192" y="2791726"/>
            <a:ext cx="2615100" cy="2651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5" name="Google Shape;2215;p18"/>
          <p:cNvSpPr txBox="1"/>
          <p:nvPr/>
        </p:nvSpPr>
        <p:spPr>
          <a:xfrm>
            <a:off x="6272783" y="2938030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16" name="Google Shape;2216;p18"/>
          <p:cNvSpPr txBox="1"/>
          <p:nvPr/>
        </p:nvSpPr>
        <p:spPr>
          <a:xfrm>
            <a:off x="6272783" y="3248926"/>
            <a:ext cx="228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多人協作與迭代之成本將難以預估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232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7" name="Google Shape;2217;p18"/>
          <p:cNvSpPr txBox="1"/>
          <p:nvPr/>
        </p:nvSpPr>
        <p:spPr>
          <a:xfrm>
            <a:off x="6272783" y="3673526"/>
            <a:ext cx="2286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BU 訪談與需求調整通常需要多輪修改；當子流程數量、修改次數與使用人數增加時，Token 成本也會隨之累積，因此需事先制定額度分配、成本上限與模型選用原則</a:t>
            </a:r>
            <a:endParaRPr sz="1100"/>
          </a:p>
        </p:txBody>
      </p:sp>
      <p:sp>
        <p:nvSpPr>
          <p:cNvPr id="2218" name="Google Shape;2218;p18"/>
          <p:cNvSpPr txBox="1"/>
          <p:nvPr/>
        </p:nvSpPr>
        <p:spPr>
          <a:xfrm>
            <a:off x="204828" y="6483091"/>
            <a:ext cx="8138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資料來源：Anthropic Fable 5 定價與使用說明、usage credits 公告（2026/06/30）、Claude Help Center。</a:t>
            </a:r>
            <a:endParaRPr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9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9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5" name="Google Shape;2225;p19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6" name="Google Shape;2226;p19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19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19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9" name="Google Shape;2229;p19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0" name="Google Shape;2230;p19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1" name="Google Shape;2231;p19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2" name="Google Shape;2232;p19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3" name="Google Shape;2233;p19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4" name="Google Shape;2234;p19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5" name="Google Shape;2235;p19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6" name="Google Shape;2236;p19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7" name="Google Shape;2237;p19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8" name="Google Shape;2238;p19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9" name="Google Shape;2239;p19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0" name="Google Shape;2240;p19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1" name="Google Shape;2241;p19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242" name="Google Shape;2242;p19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3" name="Google Shape;2243;p19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4" name="Google Shape;2244;p19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5" name="Google Shape;2245;p19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6" name="Google Shape;2246;p19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7" name="Google Shape;2247;p19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8" name="Google Shape;2248;p19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9" name="Google Shape;2249;p19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0" name="Google Shape;2250;p19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1" name="Google Shape;2251;p19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2" name="Google Shape;2252;p19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3" name="Google Shape;2253;p19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4" name="Google Shape;2254;p19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5" name="Google Shape;2255;p19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6" name="Google Shape;2256;p19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7" name="Google Shape;2257;p19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8" name="Google Shape;2258;p19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9" name="Google Shape;2259;p19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0" name="Google Shape;2260;p19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1" name="Google Shape;2261;p19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2" name="Google Shape;2262;p19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3" name="Google Shape;2263;p19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4" name="Google Shape;2264;p19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5" name="Google Shape;2265;p19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6" name="Google Shape;2266;p19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7" name="Google Shape;2267;p19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8" name="Google Shape;2268;p19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9" name="Google Shape;2269;p19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0" name="Google Shape;2270;p19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1" name="Google Shape;2271;p19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2" name="Google Shape;2272;p19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3" name="Google Shape;2273;p19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4" name="Google Shape;2274;p19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5" name="Google Shape;2275;p19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6" name="Google Shape;2276;p19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7" name="Google Shape;2277;p19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8" name="Google Shape;2278;p19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9" name="Google Shape;2279;p19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0" name="Google Shape;2280;p19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1" name="Google Shape;2281;p19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2" name="Google Shape;2282;p19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3" name="Google Shape;2283;p19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4" name="Google Shape;2284;p19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19"/>
          <p:cNvSpPr/>
          <p:nvPr/>
        </p:nvSpPr>
        <p:spPr>
          <a:xfrm>
            <a:off x="11484864" y="6510528"/>
            <a:ext cx="347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21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6" name="Google Shape;2286;p19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19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19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19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19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19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9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19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19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19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19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19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19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19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19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19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19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19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19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19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6" name="Google Shape;2306;p19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7" name="Google Shape;2307;p19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8" name="Google Shape;2308;p19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適用邊界</a:t>
            </a:r>
            <a:endParaRPr/>
          </a:p>
        </p:txBody>
      </p:sp>
      <p:sp>
        <p:nvSpPr>
          <p:cNvPr id="2309" name="Google Shape;2309;p19"/>
          <p:cNvSpPr txBox="1"/>
          <p:nvPr/>
        </p:nvSpPr>
        <p:spPr>
          <a:xfrm>
            <a:off x="566928" y="1854475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我會推薦給誰、不推薦給誰</a:t>
            </a:r>
            <a:endParaRPr sz="3200"/>
          </a:p>
        </p:txBody>
      </p:sp>
      <p:cxnSp>
        <p:nvCxnSpPr>
          <p:cNvPr id="2310" name="Google Shape;2310;p19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11" name="Google Shape;2311;p19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12" name="Google Shape;2312;p19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3" name="Google Shape;2313;p19"/>
          <p:cNvSpPr txBox="1"/>
          <p:nvPr/>
        </p:nvSpPr>
        <p:spPr>
          <a:xfrm>
            <a:off x="566928" y="2698063"/>
            <a:ext cx="8138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評估前提：</a:t>
            </a:r>
            <a:r>
              <a:rPr b="0" lang="en-US" sz="9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Task Prompt → 流程說明文件 → 自訂 Skill → Fable 5 生成 XML → draw.io MCP → 人工檢查與定稿</a:t>
            </a:r>
            <a:endParaRPr/>
          </a:p>
        </p:txBody>
      </p:sp>
      <p:sp>
        <p:nvSpPr>
          <p:cNvPr id="2314" name="Google Shape;2314;p19"/>
          <p:cNvSpPr/>
          <p:nvPr/>
        </p:nvSpPr>
        <p:spPr>
          <a:xfrm>
            <a:off x="566928" y="3110125"/>
            <a:ext cx="3950100" cy="3035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5" name="Google Shape;2315;p19"/>
          <p:cNvSpPr/>
          <p:nvPr/>
        </p:nvSpPr>
        <p:spPr>
          <a:xfrm>
            <a:off x="731525" y="3201582"/>
            <a:ext cx="685800" cy="2559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6" name="Google Shape;2316;p19"/>
          <p:cNvSpPr txBox="1"/>
          <p:nvPr/>
        </p:nvSpPr>
        <p:spPr>
          <a:xfrm>
            <a:off x="724254" y="3248996"/>
            <a:ext cx="6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✓ 推薦</a:t>
            </a:r>
            <a:endParaRPr sz="1100"/>
          </a:p>
        </p:txBody>
      </p:sp>
      <p:sp>
        <p:nvSpPr>
          <p:cNvPr id="2317" name="Google Shape;2317;p19"/>
          <p:cNvSpPr txBox="1"/>
          <p:nvPr/>
        </p:nvSpPr>
        <p:spPr>
          <a:xfrm>
            <a:off x="789247" y="3659689"/>
            <a:ext cx="361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需要快速建立初稿</a:t>
            </a: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流程圖</a:t>
            </a: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的</a:t>
            </a:r>
            <a:r>
              <a:rPr lang="en-US"/>
              <a:t> </a:t>
            </a: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Senior PM 與 SA</a:t>
            </a:r>
            <a:endParaRPr/>
          </a:p>
        </p:txBody>
      </p:sp>
      <p:sp>
        <p:nvSpPr>
          <p:cNvPr id="2318" name="Google Shape;2318;p19"/>
          <p:cNvSpPr/>
          <p:nvPr/>
        </p:nvSpPr>
        <p:spPr>
          <a:xfrm>
            <a:off x="786384" y="4113141"/>
            <a:ext cx="41100" cy="411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9" name="Google Shape;2319;p19"/>
          <p:cNvSpPr txBox="1"/>
          <p:nvPr/>
        </p:nvSpPr>
        <p:spPr>
          <a:xfrm>
            <a:off x="914400" y="4058278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具備流程分析與 draw.io 編輯能力，能快速檢查 AI 產出，並完成必要的人工調整</a:t>
            </a:r>
            <a:endParaRPr sz="1000"/>
          </a:p>
        </p:txBody>
      </p:sp>
      <p:sp>
        <p:nvSpPr>
          <p:cNvPr id="2320" name="Google Shape;2320;p19"/>
          <p:cNvSpPr/>
          <p:nvPr/>
        </p:nvSpPr>
        <p:spPr>
          <a:xfrm>
            <a:off x="786384" y="4675780"/>
            <a:ext cx="41100" cy="411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1" name="Google Shape;2321;p19"/>
          <p:cNvSpPr txBox="1"/>
          <p:nvPr/>
        </p:nvSpPr>
        <p:spPr>
          <a:xfrm>
            <a:off x="914400" y="4620917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以初版流程圖作為與 BU 討論的共同基礎，將抽象需求轉化為可具體檢視的圖面</a:t>
            </a:r>
            <a:endParaRPr sz="1000"/>
          </a:p>
        </p:txBody>
      </p:sp>
      <p:sp>
        <p:nvSpPr>
          <p:cNvPr id="2322" name="Google Shape;2322;p19"/>
          <p:cNvSpPr/>
          <p:nvPr/>
        </p:nvSpPr>
        <p:spPr>
          <a:xfrm>
            <a:off x="786384" y="5213133"/>
            <a:ext cx="41100" cy="41100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3" name="Google Shape;2323;p19"/>
          <p:cNvSpPr txBox="1"/>
          <p:nvPr/>
        </p:nvSpPr>
        <p:spPr>
          <a:xfrm>
            <a:off x="914400" y="5158269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將時間從重複性的手動繪製，轉移至更具價值的需求判斷與溝通</a:t>
            </a:r>
            <a:endParaRPr sz="1000"/>
          </a:p>
        </p:txBody>
      </p:sp>
      <p:sp>
        <p:nvSpPr>
          <p:cNvPr id="2324" name="Google Shape;2324;p19"/>
          <p:cNvSpPr txBox="1"/>
          <p:nvPr/>
        </p:nvSpPr>
        <p:spPr>
          <a:xfrm>
            <a:off x="731520" y="5787330"/>
            <a:ext cx="3612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定位：第一版流程圖加速器，不取代業務判斷與定稿責任。</a:t>
            </a:r>
            <a:endParaRPr/>
          </a:p>
        </p:txBody>
      </p:sp>
      <p:sp>
        <p:nvSpPr>
          <p:cNvPr id="2325" name="Google Shape;2325;p19"/>
          <p:cNvSpPr/>
          <p:nvPr/>
        </p:nvSpPr>
        <p:spPr>
          <a:xfrm>
            <a:off x="4754875" y="3110134"/>
            <a:ext cx="3950100" cy="30357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6" name="Google Shape;2326;p19"/>
          <p:cNvSpPr/>
          <p:nvPr/>
        </p:nvSpPr>
        <p:spPr>
          <a:xfrm>
            <a:off x="4919475" y="3219880"/>
            <a:ext cx="777300" cy="2376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7" name="Google Shape;2327;p19"/>
          <p:cNvSpPr txBox="1"/>
          <p:nvPr/>
        </p:nvSpPr>
        <p:spPr>
          <a:xfrm>
            <a:off x="4913444" y="3254973"/>
            <a:ext cx="77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✕ 不推薦</a:t>
            </a:r>
            <a:endParaRPr sz="1100"/>
          </a:p>
        </p:txBody>
      </p:sp>
      <p:sp>
        <p:nvSpPr>
          <p:cNvPr id="2328" name="Google Shape;2328;p19"/>
          <p:cNvSpPr txBox="1"/>
          <p:nvPr/>
        </p:nvSpPr>
        <p:spPr>
          <a:xfrm>
            <a:off x="4919485" y="3646729"/>
            <a:ext cx="361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尚未熟悉流程圖的 Junior PM 與 SA</a:t>
            </a:r>
            <a:endParaRPr sz="1200"/>
          </a:p>
        </p:txBody>
      </p:sp>
      <p:sp>
        <p:nvSpPr>
          <p:cNvPr id="2329" name="Google Shape;2329;p19"/>
          <p:cNvSpPr txBox="1"/>
          <p:nvPr/>
        </p:nvSpPr>
        <p:spPr>
          <a:xfrm>
            <a:off x="4919497" y="3992038"/>
            <a:ext cx="362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不建議流程圖基礎尚未成熟者直接使用，因其可能難以辨識 AI 產出中的節點誤用、流程遺漏與連線錯誤，增加錯誤未被發現的風險</a:t>
            </a:r>
            <a:endParaRPr sz="1000"/>
          </a:p>
        </p:txBody>
      </p:sp>
      <p:sp>
        <p:nvSpPr>
          <p:cNvPr id="2330" name="Google Shape;2330;p19"/>
          <p:cNvSpPr txBox="1"/>
          <p:nvPr/>
        </p:nvSpPr>
        <p:spPr>
          <a:xfrm>
            <a:off x="4919485" y="4747107"/>
            <a:ext cx="361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高頻產圖但額度或預算有限的團隊</a:t>
            </a:r>
            <a:endParaRPr sz="1200"/>
          </a:p>
        </p:txBody>
      </p:sp>
      <p:sp>
        <p:nvSpPr>
          <p:cNvPr id="2331" name="Google Shape;2331;p19"/>
          <p:cNvSpPr txBox="1"/>
          <p:nvPr/>
        </p:nvSpPr>
        <p:spPr>
          <a:xfrm>
            <a:off x="4919485" y="5050291"/>
            <a:ext cx="3621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不適合需求尚未穩定、需要頻繁重畫的情境，因多次產圖會持續累積 Token 與 usage credits 成本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20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0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8" name="Google Shape;2338;p20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9" name="Google Shape;2339;p20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20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20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2" name="Google Shape;2342;p20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3" name="Google Shape;2343;p20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4" name="Google Shape;2344;p20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5" name="Google Shape;2345;p20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6" name="Google Shape;2346;p20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7" name="Google Shape;2347;p20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8" name="Google Shape;2348;p20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9" name="Google Shape;2349;p20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0" name="Google Shape;2350;p20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1" name="Google Shape;2351;p20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2" name="Google Shape;2352;p20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3" name="Google Shape;2353;p20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4" name="Google Shape;2354;p20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55" name="Google Shape;2355;p20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6" name="Google Shape;2356;p20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7" name="Google Shape;2357;p20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8" name="Google Shape;2358;p20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9" name="Google Shape;2359;p20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0" name="Google Shape;2360;p20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1" name="Google Shape;2361;p20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2" name="Google Shape;2362;p20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3" name="Google Shape;2363;p20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4" name="Google Shape;2364;p20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5" name="Google Shape;2365;p20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6" name="Google Shape;2366;p20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7" name="Google Shape;2367;p20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8" name="Google Shape;2368;p20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9" name="Google Shape;2369;p20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0" name="Google Shape;2370;p20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1" name="Google Shape;2371;p20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2" name="Google Shape;2372;p20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3" name="Google Shape;2373;p20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4" name="Google Shape;2374;p20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5" name="Google Shape;2375;p20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6" name="Google Shape;2376;p20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7" name="Google Shape;2377;p20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8" name="Google Shape;2378;p20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9" name="Google Shape;2379;p20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0" name="Google Shape;2380;p20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1" name="Google Shape;2381;p20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2" name="Google Shape;2382;p20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3" name="Google Shape;2383;p20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4" name="Google Shape;2384;p20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5" name="Google Shape;2385;p20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6" name="Google Shape;2386;p20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7" name="Google Shape;2387;p20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8" name="Google Shape;2388;p20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9" name="Google Shape;2389;p20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0" name="Google Shape;2390;p20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1" name="Google Shape;2391;p20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2" name="Google Shape;2392;p20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3" name="Google Shape;2393;p20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4" name="Google Shape;2394;p20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5" name="Google Shape;2395;p20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6" name="Google Shape;2396;p20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7" name="Google Shape;2397;p20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20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22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9" name="Google Shape;2399;p20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20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20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20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20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20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20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20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20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20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20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20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20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20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20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20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20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20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20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20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9" name="Google Shape;2419;p20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0" name="Google Shape;2420;p20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1" name="Google Shape;2421;p20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失敗/</a:t>
            </a: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卡住過程</a:t>
            </a:r>
            <a:endParaRPr/>
          </a:p>
        </p:txBody>
      </p:sp>
      <p:sp>
        <p:nvSpPr>
          <p:cNvPr id="2422" name="Google Shape;2422;p20"/>
          <p:cNvSpPr txBox="1"/>
          <p:nvPr/>
        </p:nvSpPr>
        <p:spPr>
          <a:xfrm>
            <a:off x="566928" y="1854635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draw.io MCP 未在新專案生效</a:t>
            </a:r>
            <a:endParaRPr sz="3200"/>
          </a:p>
        </p:txBody>
      </p:sp>
      <p:cxnSp>
        <p:nvCxnSpPr>
          <p:cNvPr id="2423" name="Google Shape;2423;p20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24" name="Google Shape;2424;p20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25" name="Google Shape;2425;p20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6" name="Google Shape;2426;p20"/>
          <p:cNvSpPr/>
          <p:nvPr/>
        </p:nvSpPr>
        <p:spPr>
          <a:xfrm>
            <a:off x="566928" y="2743200"/>
            <a:ext cx="3950208" cy="1060704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7" name="Google Shape;2427;p20"/>
          <p:cNvSpPr txBox="1"/>
          <p:nvPr/>
        </p:nvSpPr>
        <p:spPr>
          <a:xfrm>
            <a:off x="731520" y="2852928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原本預期</a:t>
            </a:r>
            <a:endParaRPr sz="1300"/>
          </a:p>
        </p:txBody>
      </p:sp>
      <p:sp>
        <p:nvSpPr>
          <p:cNvPr id="2428" name="Google Shape;2428;p20"/>
          <p:cNvSpPr txBox="1"/>
          <p:nvPr/>
        </p:nvSpPr>
        <p:spPr>
          <a:xfrm>
            <a:off x="731520" y="3213015"/>
            <a:ext cx="3621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流程確認後，Fable 5 呼叫 draw.io MCP 的 open_drawio_xml 工具，自動開啟 draw.io 網頁版並渲染流程圖。</a:t>
            </a:r>
            <a:endParaRPr sz="1000"/>
          </a:p>
        </p:txBody>
      </p:sp>
      <p:sp>
        <p:nvSpPr>
          <p:cNvPr id="2429" name="Google Shape;2429;p20"/>
          <p:cNvSpPr/>
          <p:nvPr/>
        </p:nvSpPr>
        <p:spPr>
          <a:xfrm>
            <a:off x="4754880" y="2743200"/>
            <a:ext cx="3950208" cy="1060704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0" name="Google Shape;2430;p20"/>
          <p:cNvSpPr txBox="1"/>
          <p:nvPr/>
        </p:nvSpPr>
        <p:spPr>
          <a:xfrm>
            <a:off x="4919472" y="2852928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實際發生的狀況</a:t>
            </a:r>
            <a:endParaRPr sz="1300"/>
          </a:p>
        </p:txBody>
      </p:sp>
      <p:sp>
        <p:nvSpPr>
          <p:cNvPr id="2431" name="Google Shape;2431;p20"/>
          <p:cNvSpPr txBox="1"/>
          <p:nvPr/>
        </p:nvSpPr>
        <p:spPr>
          <a:xfrm>
            <a:off x="4919472" y="3213015"/>
            <a:ext cx="36210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Claude Code 找不到 open_drawio_xml 工具，只能先存成 .drawio 檔改用桌面版開啟；容易誤認為安裝失敗或 Skill 未執行。</a:t>
            </a:r>
            <a:endParaRPr/>
          </a:p>
        </p:txBody>
      </p:sp>
      <p:sp>
        <p:nvSpPr>
          <p:cNvPr id="2432" name="Google Shape;2432;p20"/>
          <p:cNvSpPr txBox="1"/>
          <p:nvPr/>
        </p:nvSpPr>
        <p:spPr>
          <a:xfrm>
            <a:off x="637731" y="4093806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問題排除時間軸</a:t>
            </a:r>
            <a:endParaRPr sz="1200"/>
          </a:p>
        </p:txBody>
      </p:sp>
      <p:sp>
        <p:nvSpPr>
          <p:cNvPr id="2433" name="Google Shape;2433;p20"/>
          <p:cNvSpPr txBox="1"/>
          <p:nvPr/>
        </p:nvSpPr>
        <p:spPr>
          <a:xfrm>
            <a:off x="674602" y="4473311"/>
            <a:ext cx="14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第一次產圖</a:t>
            </a:r>
            <a:endParaRPr sz="1000"/>
          </a:p>
        </p:txBody>
      </p:sp>
      <p:sp>
        <p:nvSpPr>
          <p:cNvPr id="2434" name="Google Shape;2434;p20"/>
          <p:cNvSpPr/>
          <p:nvPr/>
        </p:nvSpPr>
        <p:spPr>
          <a:xfrm>
            <a:off x="2155930" y="4452186"/>
            <a:ext cx="1024200" cy="1920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5" name="Google Shape;2435;p20"/>
          <p:cNvSpPr txBox="1"/>
          <p:nvPr/>
        </p:nvSpPr>
        <p:spPr>
          <a:xfrm>
            <a:off x="2155930" y="4485798"/>
            <a:ext cx="102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無法開啟網頁版</a:t>
            </a:r>
            <a:endParaRPr sz="800"/>
          </a:p>
        </p:txBody>
      </p:sp>
      <p:sp>
        <p:nvSpPr>
          <p:cNvPr id="2436" name="Google Shape;2436;p20"/>
          <p:cNvSpPr txBox="1"/>
          <p:nvPr/>
        </p:nvSpPr>
        <p:spPr>
          <a:xfrm>
            <a:off x="3326362" y="4461330"/>
            <a:ext cx="54864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專案內沒有可用的 draw.io MCP 設定，工具不存在；先改存檔以桌面版開啟</a:t>
            </a:r>
            <a:endParaRPr/>
          </a:p>
        </p:txBody>
      </p:sp>
      <p:cxnSp>
        <p:nvCxnSpPr>
          <p:cNvPr id="2437" name="Google Shape;2437;p20"/>
          <p:cNvCxnSpPr/>
          <p:nvPr/>
        </p:nvCxnSpPr>
        <p:spPr>
          <a:xfrm>
            <a:off x="674602" y="4744794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38" name="Google Shape;2438;p20"/>
          <p:cNvSpPr txBox="1"/>
          <p:nvPr/>
        </p:nvSpPr>
        <p:spPr>
          <a:xfrm>
            <a:off x="674602" y="4845974"/>
            <a:ext cx="14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檢查既有設定</a:t>
            </a:r>
            <a:endParaRPr sz="1000"/>
          </a:p>
        </p:txBody>
      </p:sp>
      <p:sp>
        <p:nvSpPr>
          <p:cNvPr id="2439" name="Google Shape;2439;p20"/>
          <p:cNvSpPr/>
          <p:nvPr/>
        </p:nvSpPr>
        <p:spPr>
          <a:xfrm>
            <a:off x="2155930" y="4817946"/>
            <a:ext cx="1024200" cy="1920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0" name="Google Shape;2440;p20"/>
          <p:cNvSpPr txBox="1"/>
          <p:nvPr/>
        </p:nvSpPr>
        <p:spPr>
          <a:xfrm>
            <a:off x="2155930" y="4855459"/>
            <a:ext cx="102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定位問題</a:t>
            </a:r>
            <a:endParaRPr sz="800"/>
          </a:p>
        </p:txBody>
      </p:sp>
      <p:sp>
        <p:nvSpPr>
          <p:cNvPr id="2441" name="Google Shape;2441;p20"/>
          <p:cNvSpPr txBox="1"/>
          <p:nvPr/>
        </p:nvSpPr>
        <p:spPr>
          <a:xfrm>
            <a:off x="3326362" y="4827090"/>
            <a:ext cx="54864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曾在其他專案使用 draw.io MCP，但該設定沒有套用至目前專案</a:t>
            </a:r>
            <a:endParaRPr/>
          </a:p>
        </p:txBody>
      </p:sp>
      <p:cxnSp>
        <p:nvCxnSpPr>
          <p:cNvPr id="2442" name="Google Shape;2442;p20"/>
          <p:cNvCxnSpPr/>
          <p:nvPr/>
        </p:nvCxnSpPr>
        <p:spPr>
          <a:xfrm>
            <a:off x="674602" y="5110554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43" name="Google Shape;2443;p20"/>
          <p:cNvSpPr txBox="1"/>
          <p:nvPr/>
        </p:nvSpPr>
        <p:spPr>
          <a:xfrm>
            <a:off x="674602" y="5213557"/>
            <a:ext cx="14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重新註冊 MCP</a:t>
            </a:r>
            <a:endParaRPr sz="1000"/>
          </a:p>
        </p:txBody>
      </p:sp>
      <p:sp>
        <p:nvSpPr>
          <p:cNvPr id="2444" name="Google Shape;2444;p20"/>
          <p:cNvSpPr/>
          <p:nvPr/>
        </p:nvSpPr>
        <p:spPr>
          <a:xfrm>
            <a:off x="2155930" y="5183706"/>
            <a:ext cx="1024200" cy="1920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5" name="Google Shape;2445;p20"/>
          <p:cNvSpPr txBox="1"/>
          <p:nvPr/>
        </p:nvSpPr>
        <p:spPr>
          <a:xfrm>
            <a:off x="2155930" y="5213698"/>
            <a:ext cx="102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設定完成</a:t>
            </a:r>
            <a:endParaRPr sz="800"/>
          </a:p>
        </p:txBody>
      </p:sp>
      <p:sp>
        <p:nvSpPr>
          <p:cNvPr id="2446" name="Google Shape;2446;p20"/>
          <p:cNvSpPr txBox="1"/>
          <p:nvPr/>
        </p:nvSpPr>
        <p:spPr>
          <a:xfrm>
            <a:off x="3326362" y="5192850"/>
            <a:ext cx="54864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將官方 @drawio/mcp 註冊至 Claude Code，確認可啟動並提供工具清單</a:t>
            </a:r>
            <a:endParaRPr/>
          </a:p>
        </p:txBody>
      </p:sp>
      <p:cxnSp>
        <p:nvCxnSpPr>
          <p:cNvPr id="2447" name="Google Shape;2447;p20"/>
          <p:cNvCxnSpPr/>
          <p:nvPr/>
        </p:nvCxnSpPr>
        <p:spPr>
          <a:xfrm>
            <a:off x="674602" y="5476314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48" name="Google Shape;2448;p20"/>
          <p:cNvSpPr txBox="1"/>
          <p:nvPr/>
        </p:nvSpPr>
        <p:spPr>
          <a:xfrm>
            <a:off x="674602" y="5572415"/>
            <a:ext cx="14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註冊後原 Session</a:t>
            </a:r>
            <a:endParaRPr sz="1000"/>
          </a:p>
        </p:txBody>
      </p:sp>
      <p:sp>
        <p:nvSpPr>
          <p:cNvPr id="2449" name="Google Shape;2449;p20"/>
          <p:cNvSpPr/>
          <p:nvPr/>
        </p:nvSpPr>
        <p:spPr>
          <a:xfrm>
            <a:off x="2155930" y="5549466"/>
            <a:ext cx="1024200" cy="192000"/>
          </a:xfrm>
          <a:prstGeom prst="roundRect">
            <a:avLst>
              <a:gd fmla="val 25000" name="adj"/>
            </a:avLst>
          </a:prstGeom>
          <a:solidFill>
            <a:srgbClr val="F8E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0" name="Google Shape;2450;p20"/>
          <p:cNvSpPr txBox="1"/>
          <p:nvPr/>
        </p:nvSpPr>
        <p:spPr>
          <a:xfrm>
            <a:off x="2155930" y="5572556"/>
            <a:ext cx="102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工具仍未出現</a:t>
            </a:r>
            <a:endParaRPr sz="800"/>
          </a:p>
        </p:txBody>
      </p:sp>
      <p:sp>
        <p:nvSpPr>
          <p:cNvPr id="2451" name="Google Shape;2451;p20"/>
          <p:cNvSpPr txBox="1"/>
          <p:nvPr/>
        </p:nvSpPr>
        <p:spPr>
          <a:xfrm>
            <a:off x="3326362" y="5558610"/>
            <a:ext cx="54864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當下 Session 尚未重建 MCP 連線，仍無法呼叫新工具</a:t>
            </a:r>
            <a:endParaRPr/>
          </a:p>
        </p:txBody>
      </p:sp>
      <p:cxnSp>
        <p:nvCxnSpPr>
          <p:cNvPr id="2452" name="Google Shape;2452;p20"/>
          <p:cNvCxnSpPr/>
          <p:nvPr/>
        </p:nvCxnSpPr>
        <p:spPr>
          <a:xfrm>
            <a:off x="674602" y="5842074"/>
            <a:ext cx="8147400" cy="0"/>
          </a:xfrm>
          <a:prstGeom prst="straightConnector1">
            <a:avLst/>
          </a:prstGeom>
          <a:noFill/>
          <a:ln cap="flat" cmpd="sng" w="12700">
            <a:solidFill>
              <a:srgbClr val="E5E0D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53" name="Google Shape;2453;p20"/>
          <p:cNvSpPr txBox="1"/>
          <p:nvPr/>
        </p:nvSpPr>
        <p:spPr>
          <a:xfrm>
            <a:off x="674602" y="5932374"/>
            <a:ext cx="14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重新啟動 Session</a:t>
            </a:r>
            <a:endParaRPr sz="1000"/>
          </a:p>
        </p:txBody>
      </p:sp>
      <p:sp>
        <p:nvSpPr>
          <p:cNvPr id="2454" name="Google Shape;2454;p20"/>
          <p:cNvSpPr/>
          <p:nvPr/>
        </p:nvSpPr>
        <p:spPr>
          <a:xfrm>
            <a:off x="2155930" y="5915226"/>
            <a:ext cx="1024200" cy="192000"/>
          </a:xfrm>
          <a:prstGeom prst="roundRect">
            <a:avLst>
              <a:gd fmla="val 25000" name="adj"/>
            </a:avLst>
          </a:prstGeom>
          <a:solidFill>
            <a:srgbClr val="F9EB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5" name="Google Shape;2455;p20"/>
          <p:cNvSpPr txBox="1"/>
          <p:nvPr/>
        </p:nvSpPr>
        <p:spPr>
          <a:xfrm>
            <a:off x="2155930" y="5947422"/>
            <a:ext cx="102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A87B1E"/>
                </a:solidFill>
                <a:latin typeface="Noto Sans"/>
                <a:ea typeface="Noto Sans"/>
                <a:cs typeface="Noto Sans"/>
                <a:sym typeface="Noto Sans"/>
              </a:rPr>
              <a:t>呼叫成功</a:t>
            </a:r>
            <a:endParaRPr sz="800"/>
          </a:p>
        </p:txBody>
      </p:sp>
      <p:sp>
        <p:nvSpPr>
          <p:cNvPr id="2456" name="Google Shape;2456;p20"/>
          <p:cNvSpPr txBox="1"/>
          <p:nvPr/>
        </p:nvSpPr>
        <p:spPr>
          <a:xfrm>
            <a:off x="3326362" y="5924370"/>
            <a:ext cx="54864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open_drawio_xml 成功載入，開啟網頁版並以 libavoid 自動繞線渲染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1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21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3" name="Google Shape;2463;p21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4" name="Google Shape;2464;p21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21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21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7" name="Google Shape;2467;p21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8" name="Google Shape;2468;p21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9" name="Google Shape;2469;p21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0" name="Google Shape;2470;p21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1" name="Google Shape;2471;p21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2" name="Google Shape;2472;p21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3" name="Google Shape;2473;p21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4" name="Google Shape;2474;p21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5" name="Google Shape;2475;p21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6" name="Google Shape;2476;p21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7" name="Google Shape;2477;p21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8" name="Google Shape;2478;p21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9" name="Google Shape;2479;p21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80" name="Google Shape;2480;p21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1" name="Google Shape;2481;p21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2" name="Google Shape;2482;p21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3" name="Google Shape;2483;p21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4" name="Google Shape;2484;p21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5" name="Google Shape;2485;p21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6" name="Google Shape;2486;p21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7" name="Google Shape;2487;p21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8" name="Google Shape;2488;p21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9" name="Google Shape;2489;p21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0" name="Google Shape;2490;p21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1" name="Google Shape;2491;p21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2" name="Google Shape;2492;p21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3" name="Google Shape;2493;p21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4" name="Google Shape;2494;p21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5" name="Google Shape;2495;p21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6" name="Google Shape;2496;p21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7" name="Google Shape;2497;p21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8" name="Google Shape;2498;p21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9" name="Google Shape;2499;p21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0" name="Google Shape;2500;p21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1" name="Google Shape;2501;p21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2" name="Google Shape;2502;p21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3" name="Google Shape;2503;p21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4" name="Google Shape;2504;p21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5" name="Google Shape;2505;p21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6" name="Google Shape;2506;p21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7" name="Google Shape;2507;p21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8" name="Google Shape;2508;p21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9" name="Google Shape;2509;p21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0" name="Google Shape;2510;p21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1" name="Google Shape;2511;p21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2" name="Google Shape;2512;p21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3" name="Google Shape;2513;p21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4" name="Google Shape;2514;p21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5" name="Google Shape;2515;p21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6" name="Google Shape;2516;p21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7" name="Google Shape;2517;p21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8" name="Google Shape;2518;p21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9" name="Google Shape;2519;p21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0" name="Google Shape;2520;p21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1" name="Google Shape;2521;p21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2" name="Google Shape;2522;p21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21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850">
                <a:solidFill>
                  <a:srgbClr val="E0B64E"/>
                </a:solidFill>
              </a:rPr>
              <a:t>3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4" name="Google Shape;2524;p21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21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21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21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21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21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21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21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21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21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21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21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21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1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21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21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21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21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21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21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4" name="Google Shape;2544;p21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5" name="Google Shape;2545;p21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6" name="Google Shape;2546;p21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失敗/</a:t>
            </a: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卡住過程</a:t>
            </a:r>
            <a:endParaRPr/>
          </a:p>
        </p:txBody>
      </p:sp>
      <p:sp>
        <p:nvSpPr>
          <p:cNvPr id="2547" name="Google Shape;2547;p21"/>
          <p:cNvSpPr txBox="1"/>
          <p:nvPr/>
        </p:nvSpPr>
        <p:spPr>
          <a:xfrm>
            <a:off x="566928" y="1849969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根本原因、修正方式與學習</a:t>
            </a:r>
            <a:endParaRPr sz="3200"/>
          </a:p>
        </p:txBody>
      </p:sp>
      <p:cxnSp>
        <p:nvCxnSpPr>
          <p:cNvPr id="2548" name="Google Shape;2548;p21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49" name="Google Shape;2549;p21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50" name="Google Shape;2550;p21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1" name="Google Shape;2551;p21"/>
          <p:cNvSpPr/>
          <p:nvPr/>
        </p:nvSpPr>
        <p:spPr>
          <a:xfrm>
            <a:off x="566928" y="2761488"/>
            <a:ext cx="3950100" cy="24690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2" name="Google Shape;2552;p21"/>
          <p:cNvSpPr txBox="1"/>
          <p:nvPr/>
        </p:nvSpPr>
        <p:spPr>
          <a:xfrm>
            <a:off x="731520" y="2889504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根本原因：MCP 設定的作用範圍</a:t>
            </a:r>
            <a:endParaRPr sz="1300"/>
          </a:p>
        </p:txBody>
      </p:sp>
      <p:sp>
        <p:nvSpPr>
          <p:cNvPr id="2553" name="Google Shape;2553;p21"/>
          <p:cNvSpPr txBox="1"/>
          <p:nvPr/>
        </p:nvSpPr>
        <p:spPr>
          <a:xfrm>
            <a:off x="731525" y="3190168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「電腦上已有 MCP 套件」≠「目前專案已註冊並載入 MCP Server」。</a:t>
            </a:r>
            <a:endParaRPr sz="900"/>
          </a:p>
        </p:txBody>
      </p:sp>
      <p:sp>
        <p:nvSpPr>
          <p:cNvPr id="2554" name="Google Shape;2554;p21"/>
          <p:cNvSpPr/>
          <p:nvPr/>
        </p:nvSpPr>
        <p:spPr>
          <a:xfrm>
            <a:off x="731520" y="3601986"/>
            <a:ext cx="658500" cy="201300"/>
          </a:xfrm>
          <a:prstGeom prst="roundRect">
            <a:avLst>
              <a:gd fmla="val 25000" name="adj"/>
            </a:avLst>
          </a:prstGeom>
          <a:solidFill>
            <a:srgbClr val="F0ED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5" name="Google Shape;2555;p21"/>
          <p:cNvSpPr txBox="1"/>
          <p:nvPr/>
        </p:nvSpPr>
        <p:spPr>
          <a:xfrm>
            <a:off x="731520" y="3622981"/>
            <a:ext cx="658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local</a:t>
            </a:r>
            <a:endParaRPr sz="1000"/>
          </a:p>
        </p:txBody>
      </p:sp>
      <p:sp>
        <p:nvSpPr>
          <p:cNvPr id="2556" name="Google Shape;2556;p21"/>
          <p:cNvSpPr txBox="1"/>
          <p:nvPr/>
        </p:nvSpPr>
        <p:spPr>
          <a:xfrm>
            <a:off x="1499616" y="3627553"/>
            <a:ext cx="288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預設範圍，只供目前使用者在目前專案使用</a:t>
            </a:r>
            <a:endParaRPr sz="900"/>
          </a:p>
        </p:txBody>
      </p:sp>
      <p:sp>
        <p:nvSpPr>
          <p:cNvPr id="2557" name="Google Shape;2557;p21"/>
          <p:cNvSpPr/>
          <p:nvPr/>
        </p:nvSpPr>
        <p:spPr>
          <a:xfrm>
            <a:off x="731520" y="4028957"/>
            <a:ext cx="658500" cy="201300"/>
          </a:xfrm>
          <a:prstGeom prst="roundRect">
            <a:avLst>
              <a:gd fmla="val 25000" name="adj"/>
            </a:avLst>
          </a:prstGeom>
          <a:solidFill>
            <a:srgbClr val="F0ED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8" name="Google Shape;2558;p21"/>
          <p:cNvSpPr txBox="1"/>
          <p:nvPr/>
        </p:nvSpPr>
        <p:spPr>
          <a:xfrm>
            <a:off x="731520" y="4041740"/>
            <a:ext cx="658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project</a:t>
            </a:r>
            <a:endParaRPr sz="1000"/>
          </a:p>
        </p:txBody>
      </p:sp>
      <p:sp>
        <p:nvSpPr>
          <p:cNvPr id="2559" name="Google Shape;2559;p21"/>
          <p:cNvSpPr txBox="1"/>
          <p:nvPr/>
        </p:nvSpPr>
        <p:spPr>
          <a:xfrm>
            <a:off x="1499616" y="4062734"/>
            <a:ext cx="288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透過專案根目錄 .mcp.json 與成員共用</a:t>
            </a:r>
            <a:endParaRPr sz="900"/>
          </a:p>
        </p:txBody>
      </p:sp>
      <p:sp>
        <p:nvSpPr>
          <p:cNvPr id="2560" name="Google Shape;2560;p21"/>
          <p:cNvSpPr/>
          <p:nvPr/>
        </p:nvSpPr>
        <p:spPr>
          <a:xfrm>
            <a:off x="731520" y="4439504"/>
            <a:ext cx="658500" cy="201300"/>
          </a:xfrm>
          <a:prstGeom prst="roundRect">
            <a:avLst>
              <a:gd fmla="val 25000" name="adj"/>
            </a:avLst>
          </a:prstGeom>
          <a:solidFill>
            <a:srgbClr val="F0ED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1" name="Google Shape;2561;p21"/>
          <p:cNvSpPr txBox="1"/>
          <p:nvPr/>
        </p:nvSpPr>
        <p:spPr>
          <a:xfrm>
            <a:off x="731520" y="4452287"/>
            <a:ext cx="658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user</a:t>
            </a:r>
            <a:endParaRPr sz="1000"/>
          </a:p>
        </p:txBody>
      </p:sp>
      <p:sp>
        <p:nvSpPr>
          <p:cNvPr id="2562" name="Google Shape;2562;p21"/>
          <p:cNvSpPr txBox="1"/>
          <p:nvPr/>
        </p:nvSpPr>
        <p:spPr>
          <a:xfrm>
            <a:off x="1499616" y="4465070"/>
            <a:ext cx="288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同一使用者跨所有專案使用</a:t>
            </a:r>
            <a:endParaRPr sz="900"/>
          </a:p>
        </p:txBody>
      </p:sp>
      <p:sp>
        <p:nvSpPr>
          <p:cNvPr id="2563" name="Google Shape;2563;p21"/>
          <p:cNvSpPr txBox="1"/>
          <p:nvPr/>
        </p:nvSpPr>
        <p:spPr>
          <a:xfrm>
            <a:off x="731520" y="4901184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先前以 local 範圍註冊於其他專案，因此本專案看不到該工具。</a:t>
            </a:r>
            <a:endParaRPr/>
          </a:p>
        </p:txBody>
      </p:sp>
      <p:sp>
        <p:nvSpPr>
          <p:cNvPr id="2564" name="Google Shape;2564;p21"/>
          <p:cNvSpPr/>
          <p:nvPr/>
        </p:nvSpPr>
        <p:spPr>
          <a:xfrm>
            <a:off x="4754880" y="2761488"/>
            <a:ext cx="3950208" cy="246888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5" name="Google Shape;2565;p21"/>
          <p:cNvSpPr txBox="1"/>
          <p:nvPr/>
        </p:nvSpPr>
        <p:spPr>
          <a:xfrm>
            <a:off x="4919472" y="2889504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修正方式</a:t>
            </a:r>
            <a:endParaRPr sz="1300"/>
          </a:p>
        </p:txBody>
      </p:sp>
      <p:sp>
        <p:nvSpPr>
          <p:cNvPr id="2566" name="Google Shape;2566;p21"/>
          <p:cNvSpPr txBox="1"/>
          <p:nvPr/>
        </p:nvSpPr>
        <p:spPr>
          <a:xfrm>
            <a:off x="4961994" y="3200400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/>
          </a:p>
        </p:txBody>
      </p:sp>
      <p:sp>
        <p:nvSpPr>
          <p:cNvPr id="2567" name="Google Shape;2567;p21"/>
          <p:cNvSpPr txBox="1"/>
          <p:nvPr/>
        </p:nvSpPr>
        <p:spPr>
          <a:xfrm>
            <a:off x="5230368" y="3200400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確認官方 @drawio/mcp Server 可正常啟動</a:t>
            </a:r>
            <a:endParaRPr/>
          </a:p>
        </p:txBody>
      </p:sp>
      <p:sp>
        <p:nvSpPr>
          <p:cNvPr id="2568" name="Google Shape;2568;p21"/>
          <p:cNvSpPr txBox="1"/>
          <p:nvPr/>
        </p:nvSpPr>
        <p:spPr>
          <a:xfrm>
            <a:off x="4961994" y="3584448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/>
          </a:p>
        </p:txBody>
      </p:sp>
      <p:sp>
        <p:nvSpPr>
          <p:cNvPr id="2569" name="Google Shape;2569;p21"/>
          <p:cNvSpPr txBox="1"/>
          <p:nvPr/>
        </p:nvSpPr>
        <p:spPr>
          <a:xfrm>
            <a:off x="5230368" y="3584448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註冊於目前專案，或設為跨專案的 user 範圍</a:t>
            </a:r>
            <a:endParaRPr/>
          </a:p>
        </p:txBody>
      </p:sp>
      <p:sp>
        <p:nvSpPr>
          <p:cNvPr id="2570" name="Google Shape;2570;p21"/>
          <p:cNvSpPr txBox="1"/>
          <p:nvPr/>
        </p:nvSpPr>
        <p:spPr>
          <a:xfrm>
            <a:off x="4961994" y="3968496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/>
          </a:p>
        </p:txBody>
      </p:sp>
      <p:sp>
        <p:nvSpPr>
          <p:cNvPr id="2571" name="Google Shape;2571;p21"/>
          <p:cNvSpPr txBox="1"/>
          <p:nvPr/>
        </p:nvSpPr>
        <p:spPr>
          <a:xfrm>
            <a:off x="5230368" y="3968496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以 claude mcp list／/mcp 確認狀態與工具清單</a:t>
            </a:r>
            <a:endParaRPr/>
          </a:p>
        </p:txBody>
      </p:sp>
      <p:sp>
        <p:nvSpPr>
          <p:cNvPr id="2572" name="Google Shape;2572;p21"/>
          <p:cNvSpPr txBox="1"/>
          <p:nvPr/>
        </p:nvSpPr>
        <p:spPr>
          <a:xfrm>
            <a:off x="4961994" y="4352544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8A53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/>
          </a:p>
        </p:txBody>
      </p:sp>
      <p:sp>
        <p:nvSpPr>
          <p:cNvPr id="2573" name="Google Shape;2573;p21"/>
          <p:cNvSpPr txBox="1"/>
          <p:nvPr/>
        </p:nvSpPr>
        <p:spPr>
          <a:xfrm>
            <a:off x="5230368" y="4352544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重新建立 Session，載入新的 MCP 連線</a:t>
            </a:r>
            <a:endParaRPr/>
          </a:p>
        </p:txBody>
      </p:sp>
      <p:sp>
        <p:nvSpPr>
          <p:cNvPr id="2574" name="Google Shape;2574;p21"/>
          <p:cNvSpPr txBox="1"/>
          <p:nvPr/>
        </p:nvSpPr>
        <p:spPr>
          <a:xfrm>
            <a:off x="4961994" y="4736592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C446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/>
          </a:p>
        </p:txBody>
      </p:sp>
      <p:sp>
        <p:nvSpPr>
          <p:cNvPr id="2575" name="Google Shape;2575;p21"/>
          <p:cNvSpPr txBox="1"/>
          <p:nvPr/>
        </p:nvSpPr>
        <p:spPr>
          <a:xfrm>
            <a:off x="5230368" y="4736592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再次呼叫 open_drawio_xml 驗證渲染成功</a:t>
            </a:r>
            <a:endParaRPr/>
          </a:p>
        </p:txBody>
      </p:sp>
      <p:sp>
        <p:nvSpPr>
          <p:cNvPr id="2576" name="Google Shape;2576;p21"/>
          <p:cNvSpPr/>
          <p:nvPr/>
        </p:nvSpPr>
        <p:spPr>
          <a:xfrm>
            <a:off x="566925" y="5563525"/>
            <a:ext cx="8147400" cy="1011900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7" name="Google Shape;2577;p21"/>
          <p:cNvSpPr txBox="1"/>
          <p:nvPr/>
        </p:nvSpPr>
        <p:spPr>
          <a:xfrm>
            <a:off x="731520" y="5677129"/>
            <a:ext cx="781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A530"/>
                </a:solidFill>
                <a:latin typeface="Noto Sans"/>
                <a:ea typeface="Noto Sans"/>
                <a:cs typeface="Noto Sans"/>
                <a:sym typeface="Noto Sans"/>
              </a:rPr>
              <a:t>本次學習與後續預防</a:t>
            </a:r>
            <a:endParaRPr sz="1300"/>
          </a:p>
        </p:txBody>
      </p:sp>
      <p:sp>
        <p:nvSpPr>
          <p:cNvPr id="2578" name="Google Shape;2578;p21"/>
          <p:cNvSpPr txBox="1"/>
          <p:nvPr/>
        </p:nvSpPr>
        <p:spPr>
          <a:xfrm>
            <a:off x="731520" y="6001810"/>
            <a:ext cx="781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「Skill 指示 AI 使用工具」不代表工具已存在於目前環境。正式 Demo 前：確認專案可見 draw.io MCP、工具清單含 open_drawio_xml、先以測試 XML 渲染一次、重啟 Session 後再</a:t>
            </a:r>
            <a:r>
              <a:rPr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進行後續操作</a:t>
            </a:r>
            <a:r>
              <a:rPr b="0" lang="en-US" sz="10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22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22"/>
          <p:cNvSpPr/>
          <p:nvPr/>
        </p:nvSpPr>
        <p:spPr>
          <a:xfrm>
            <a:off x="9253728" y="0"/>
            <a:ext cx="2916936" cy="6858000"/>
          </a:xfrm>
          <a:prstGeom prst="rect">
            <a:avLst/>
          </a:prstGeom>
          <a:solidFill>
            <a:srgbClr val="47423C">
              <a:alpha val="65098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5" name="Google Shape;2585;p22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6" name="Google Shape;2586;p22"/>
          <p:cNvSpPr/>
          <p:nvPr/>
        </p:nvSpPr>
        <p:spPr>
          <a:xfrm>
            <a:off x="9125712" y="2907792"/>
            <a:ext cx="237744" cy="237744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2"/>
          <p:cNvSpPr/>
          <p:nvPr/>
        </p:nvSpPr>
        <p:spPr>
          <a:xfrm>
            <a:off x="9180576" y="2962656"/>
            <a:ext cx="128016" cy="128016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2"/>
          <p:cNvSpPr/>
          <p:nvPr/>
        </p:nvSpPr>
        <p:spPr>
          <a:xfrm>
            <a:off x="10195560" y="502920"/>
            <a:ext cx="219456" cy="219456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9" name="Google Shape;2589;p22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0" name="Google Shape;2590;p22"/>
          <p:cNvSpPr/>
          <p:nvPr/>
        </p:nvSpPr>
        <p:spPr>
          <a:xfrm>
            <a:off x="9966960" y="1417320"/>
            <a:ext cx="713232" cy="438912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1" name="Google Shape;2591;p22"/>
          <p:cNvCxnSpPr/>
          <p:nvPr/>
        </p:nvCxnSpPr>
        <p:spPr>
          <a:xfrm>
            <a:off x="10305288" y="1856232"/>
            <a:ext cx="0" cy="73152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2" name="Google Shape;2592;p22"/>
          <p:cNvSpPr/>
          <p:nvPr/>
        </p:nvSpPr>
        <p:spPr>
          <a:xfrm>
            <a:off x="10076688" y="2587752"/>
            <a:ext cx="475488" cy="475488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3" name="Google Shape;2593;p22"/>
          <p:cNvCxnSpPr/>
          <p:nvPr/>
        </p:nvCxnSpPr>
        <p:spPr>
          <a:xfrm>
            <a:off x="10314432" y="306324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4" name="Google Shape;2594;p22"/>
          <p:cNvSpPr/>
          <p:nvPr/>
        </p:nvSpPr>
        <p:spPr>
          <a:xfrm>
            <a:off x="9985248" y="3840480"/>
            <a:ext cx="676656" cy="512064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5" name="Google Shape;2595;p22"/>
          <p:cNvCxnSpPr/>
          <p:nvPr/>
        </p:nvCxnSpPr>
        <p:spPr>
          <a:xfrm>
            <a:off x="10323576" y="4352544"/>
            <a:ext cx="0" cy="96012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6" name="Google Shape;2596;p22"/>
          <p:cNvSpPr/>
          <p:nvPr/>
        </p:nvSpPr>
        <p:spPr>
          <a:xfrm>
            <a:off x="10195560" y="5330952"/>
            <a:ext cx="256032" cy="256032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7" name="Google Shape;2597;p22"/>
          <p:cNvCxnSpPr/>
          <p:nvPr/>
        </p:nvCxnSpPr>
        <p:spPr>
          <a:xfrm>
            <a:off x="10561320" y="1636776"/>
            <a:ext cx="347472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8" name="Google Shape;2598;p22"/>
          <p:cNvSpPr/>
          <p:nvPr/>
        </p:nvSpPr>
        <p:spPr>
          <a:xfrm>
            <a:off x="10579608" y="1636776"/>
            <a:ext cx="347472" cy="11887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9" name="Google Shape;2599;p22"/>
          <p:cNvCxnSpPr/>
          <p:nvPr/>
        </p:nvCxnSpPr>
        <p:spPr>
          <a:xfrm>
            <a:off x="10908792" y="2816352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0" name="Google Shape;2600;p22"/>
          <p:cNvSpPr/>
          <p:nvPr/>
        </p:nvSpPr>
        <p:spPr>
          <a:xfrm>
            <a:off x="11420856" y="2651760"/>
            <a:ext cx="146304" cy="146304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1" name="Google Shape;2601;p22"/>
          <p:cNvSpPr/>
          <p:nvPr/>
        </p:nvSpPr>
        <p:spPr>
          <a:xfrm>
            <a:off x="11676888" y="2331720"/>
            <a:ext cx="438912" cy="512064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02" name="Google Shape;2602;p22"/>
          <p:cNvCxnSpPr/>
          <p:nvPr/>
        </p:nvCxnSpPr>
        <p:spPr>
          <a:xfrm>
            <a:off x="11494008" y="2798064"/>
            <a:ext cx="0" cy="173736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3" name="Google Shape;2603;p22"/>
          <p:cNvCxnSpPr/>
          <p:nvPr/>
        </p:nvCxnSpPr>
        <p:spPr>
          <a:xfrm rot="10800000">
            <a:off x="10963656" y="4535424"/>
            <a:ext cx="530352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4" name="Google Shape;2604;p22"/>
          <p:cNvSpPr/>
          <p:nvPr/>
        </p:nvSpPr>
        <p:spPr>
          <a:xfrm>
            <a:off x="10872216" y="4864608"/>
            <a:ext cx="54864" cy="54864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5" name="Google Shape;2605;p22"/>
          <p:cNvCxnSpPr/>
          <p:nvPr/>
        </p:nvCxnSpPr>
        <p:spPr>
          <a:xfrm>
            <a:off x="10890504" y="4892040"/>
            <a:ext cx="0" cy="384048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6" name="Google Shape;2606;p22"/>
          <p:cNvCxnSpPr/>
          <p:nvPr/>
        </p:nvCxnSpPr>
        <p:spPr>
          <a:xfrm>
            <a:off x="10890504" y="5276088"/>
            <a:ext cx="859536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7" name="Google Shape;2607;p22"/>
          <p:cNvSpPr/>
          <p:nvPr/>
        </p:nvSpPr>
        <p:spPr>
          <a:xfrm>
            <a:off x="11713464" y="5157216"/>
            <a:ext cx="128016" cy="128016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8" name="Google Shape;2608;p22"/>
          <p:cNvSpPr/>
          <p:nvPr/>
        </p:nvSpPr>
        <p:spPr>
          <a:xfrm>
            <a:off x="11375136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9" name="Google Shape;2609;p22"/>
          <p:cNvSpPr/>
          <p:nvPr/>
        </p:nvSpPr>
        <p:spPr>
          <a:xfrm>
            <a:off x="11484864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0" name="Google Shape;2610;p22"/>
          <p:cNvSpPr/>
          <p:nvPr/>
        </p:nvSpPr>
        <p:spPr>
          <a:xfrm>
            <a:off x="11594592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1" name="Google Shape;2611;p22"/>
          <p:cNvSpPr/>
          <p:nvPr/>
        </p:nvSpPr>
        <p:spPr>
          <a:xfrm>
            <a:off x="11704320" y="274320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2" name="Google Shape;2612;p22"/>
          <p:cNvSpPr/>
          <p:nvPr/>
        </p:nvSpPr>
        <p:spPr>
          <a:xfrm>
            <a:off x="11375136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3" name="Google Shape;2613;p22"/>
          <p:cNvSpPr/>
          <p:nvPr/>
        </p:nvSpPr>
        <p:spPr>
          <a:xfrm>
            <a:off x="11484864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4" name="Google Shape;2614;p22"/>
          <p:cNvSpPr/>
          <p:nvPr/>
        </p:nvSpPr>
        <p:spPr>
          <a:xfrm>
            <a:off x="11594592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5" name="Google Shape;2615;p22"/>
          <p:cNvSpPr/>
          <p:nvPr/>
        </p:nvSpPr>
        <p:spPr>
          <a:xfrm>
            <a:off x="11704320" y="384048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6" name="Google Shape;2616;p22"/>
          <p:cNvSpPr/>
          <p:nvPr/>
        </p:nvSpPr>
        <p:spPr>
          <a:xfrm>
            <a:off x="11375136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7" name="Google Shape;2617;p22"/>
          <p:cNvSpPr/>
          <p:nvPr/>
        </p:nvSpPr>
        <p:spPr>
          <a:xfrm>
            <a:off x="11484864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8" name="Google Shape;2618;p22"/>
          <p:cNvSpPr/>
          <p:nvPr/>
        </p:nvSpPr>
        <p:spPr>
          <a:xfrm>
            <a:off x="11594592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9" name="Google Shape;2619;p22"/>
          <p:cNvSpPr/>
          <p:nvPr/>
        </p:nvSpPr>
        <p:spPr>
          <a:xfrm>
            <a:off x="11704320" y="493776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0" name="Google Shape;2620;p22"/>
          <p:cNvSpPr/>
          <p:nvPr/>
        </p:nvSpPr>
        <p:spPr>
          <a:xfrm>
            <a:off x="11375136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1" name="Google Shape;2621;p22"/>
          <p:cNvSpPr/>
          <p:nvPr/>
        </p:nvSpPr>
        <p:spPr>
          <a:xfrm>
            <a:off x="11484864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2" name="Google Shape;2622;p22"/>
          <p:cNvSpPr/>
          <p:nvPr/>
        </p:nvSpPr>
        <p:spPr>
          <a:xfrm>
            <a:off x="11594592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3" name="Google Shape;2623;p22"/>
          <p:cNvSpPr/>
          <p:nvPr/>
        </p:nvSpPr>
        <p:spPr>
          <a:xfrm>
            <a:off x="11704320" y="603504"/>
            <a:ext cx="18288" cy="18288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4" name="Google Shape;2624;p22"/>
          <p:cNvSpPr/>
          <p:nvPr/>
        </p:nvSpPr>
        <p:spPr>
          <a:xfrm>
            <a:off x="11265408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5" name="Google Shape;2625;p22"/>
          <p:cNvSpPr/>
          <p:nvPr/>
        </p:nvSpPr>
        <p:spPr>
          <a:xfrm>
            <a:off x="11375136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6" name="Google Shape;2626;p22"/>
          <p:cNvSpPr/>
          <p:nvPr/>
        </p:nvSpPr>
        <p:spPr>
          <a:xfrm>
            <a:off x="11484864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7" name="Google Shape;2627;p22"/>
          <p:cNvSpPr/>
          <p:nvPr/>
        </p:nvSpPr>
        <p:spPr>
          <a:xfrm>
            <a:off x="11594592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8" name="Google Shape;2628;p22"/>
          <p:cNvSpPr/>
          <p:nvPr/>
        </p:nvSpPr>
        <p:spPr>
          <a:xfrm>
            <a:off x="11704320" y="5852160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9" name="Google Shape;2629;p22"/>
          <p:cNvSpPr/>
          <p:nvPr/>
        </p:nvSpPr>
        <p:spPr>
          <a:xfrm>
            <a:off x="11265408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0" name="Google Shape;2630;p22"/>
          <p:cNvSpPr/>
          <p:nvPr/>
        </p:nvSpPr>
        <p:spPr>
          <a:xfrm>
            <a:off x="11375136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1" name="Google Shape;2631;p22"/>
          <p:cNvSpPr/>
          <p:nvPr/>
        </p:nvSpPr>
        <p:spPr>
          <a:xfrm>
            <a:off x="11484864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2" name="Google Shape;2632;p22"/>
          <p:cNvSpPr/>
          <p:nvPr/>
        </p:nvSpPr>
        <p:spPr>
          <a:xfrm>
            <a:off x="11594592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3" name="Google Shape;2633;p22"/>
          <p:cNvSpPr/>
          <p:nvPr/>
        </p:nvSpPr>
        <p:spPr>
          <a:xfrm>
            <a:off x="11704320" y="5961888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4" name="Google Shape;2634;p22"/>
          <p:cNvSpPr/>
          <p:nvPr/>
        </p:nvSpPr>
        <p:spPr>
          <a:xfrm>
            <a:off x="11265408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5" name="Google Shape;2635;p22"/>
          <p:cNvSpPr/>
          <p:nvPr/>
        </p:nvSpPr>
        <p:spPr>
          <a:xfrm>
            <a:off x="11375136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6" name="Google Shape;2636;p22"/>
          <p:cNvSpPr/>
          <p:nvPr/>
        </p:nvSpPr>
        <p:spPr>
          <a:xfrm>
            <a:off x="11484864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7" name="Google Shape;2637;p22"/>
          <p:cNvSpPr/>
          <p:nvPr/>
        </p:nvSpPr>
        <p:spPr>
          <a:xfrm>
            <a:off x="11594592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8" name="Google Shape;2638;p22"/>
          <p:cNvSpPr/>
          <p:nvPr/>
        </p:nvSpPr>
        <p:spPr>
          <a:xfrm>
            <a:off x="11704320" y="6071616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9" name="Google Shape;2639;p22"/>
          <p:cNvSpPr/>
          <p:nvPr/>
        </p:nvSpPr>
        <p:spPr>
          <a:xfrm>
            <a:off x="11265408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0" name="Google Shape;2640;p22"/>
          <p:cNvSpPr/>
          <p:nvPr/>
        </p:nvSpPr>
        <p:spPr>
          <a:xfrm>
            <a:off x="11375136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1" name="Google Shape;2641;p22"/>
          <p:cNvSpPr/>
          <p:nvPr/>
        </p:nvSpPr>
        <p:spPr>
          <a:xfrm>
            <a:off x="11484864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2" name="Google Shape;2642;p22"/>
          <p:cNvSpPr/>
          <p:nvPr/>
        </p:nvSpPr>
        <p:spPr>
          <a:xfrm>
            <a:off x="11594592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3" name="Google Shape;2643;p22"/>
          <p:cNvSpPr/>
          <p:nvPr/>
        </p:nvSpPr>
        <p:spPr>
          <a:xfrm>
            <a:off x="11704320" y="6181344"/>
            <a:ext cx="18288" cy="18288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4" name="Google Shape;2644;p22"/>
          <p:cNvSpPr/>
          <p:nvPr/>
        </p:nvSpPr>
        <p:spPr>
          <a:xfrm>
            <a:off x="10936224" y="5303520"/>
            <a:ext cx="1078992" cy="113385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22"/>
          <p:cNvSpPr/>
          <p:nvPr/>
        </p:nvSpPr>
        <p:spPr>
          <a:xfrm>
            <a:off x="11497076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850">
                <a:solidFill>
                  <a:srgbClr val="E0B64E"/>
                </a:solidFill>
              </a:rPr>
              <a:t>4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6" name="Google Shape;2646;p22"/>
          <p:cNvSpPr/>
          <p:nvPr/>
        </p:nvSpPr>
        <p:spPr>
          <a:xfrm>
            <a:off x="36576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2"/>
          <p:cNvSpPr/>
          <p:nvPr/>
        </p:nvSpPr>
        <p:spPr>
          <a:xfrm>
            <a:off x="182880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22"/>
          <p:cNvSpPr/>
          <p:nvPr/>
        </p:nvSpPr>
        <p:spPr>
          <a:xfrm>
            <a:off x="329184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22"/>
          <p:cNvSpPr/>
          <p:nvPr/>
        </p:nvSpPr>
        <p:spPr>
          <a:xfrm>
            <a:off x="475488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22"/>
          <p:cNvSpPr/>
          <p:nvPr/>
        </p:nvSpPr>
        <p:spPr>
          <a:xfrm>
            <a:off x="621792" y="146304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22"/>
          <p:cNvSpPr/>
          <p:nvPr/>
        </p:nvSpPr>
        <p:spPr>
          <a:xfrm>
            <a:off x="36576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22"/>
          <p:cNvSpPr/>
          <p:nvPr/>
        </p:nvSpPr>
        <p:spPr>
          <a:xfrm>
            <a:off x="182880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22"/>
          <p:cNvSpPr/>
          <p:nvPr/>
        </p:nvSpPr>
        <p:spPr>
          <a:xfrm>
            <a:off x="329184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22"/>
          <p:cNvSpPr/>
          <p:nvPr/>
        </p:nvSpPr>
        <p:spPr>
          <a:xfrm>
            <a:off x="475488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22"/>
          <p:cNvSpPr/>
          <p:nvPr/>
        </p:nvSpPr>
        <p:spPr>
          <a:xfrm>
            <a:off x="621792" y="292608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22"/>
          <p:cNvSpPr/>
          <p:nvPr/>
        </p:nvSpPr>
        <p:spPr>
          <a:xfrm>
            <a:off x="36576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22"/>
          <p:cNvSpPr/>
          <p:nvPr/>
        </p:nvSpPr>
        <p:spPr>
          <a:xfrm>
            <a:off x="182880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22"/>
          <p:cNvSpPr/>
          <p:nvPr/>
        </p:nvSpPr>
        <p:spPr>
          <a:xfrm>
            <a:off x="329184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22"/>
          <p:cNvSpPr/>
          <p:nvPr/>
        </p:nvSpPr>
        <p:spPr>
          <a:xfrm>
            <a:off x="475488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22"/>
          <p:cNvSpPr/>
          <p:nvPr/>
        </p:nvSpPr>
        <p:spPr>
          <a:xfrm>
            <a:off x="621792" y="438912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22"/>
          <p:cNvSpPr/>
          <p:nvPr/>
        </p:nvSpPr>
        <p:spPr>
          <a:xfrm>
            <a:off x="36576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22"/>
          <p:cNvSpPr/>
          <p:nvPr/>
        </p:nvSpPr>
        <p:spPr>
          <a:xfrm>
            <a:off x="182880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22"/>
          <p:cNvSpPr/>
          <p:nvPr/>
        </p:nvSpPr>
        <p:spPr>
          <a:xfrm>
            <a:off x="329184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22"/>
          <p:cNvSpPr/>
          <p:nvPr/>
        </p:nvSpPr>
        <p:spPr>
          <a:xfrm>
            <a:off x="475488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22"/>
          <p:cNvSpPr/>
          <p:nvPr/>
        </p:nvSpPr>
        <p:spPr>
          <a:xfrm>
            <a:off x="621792" y="585216"/>
            <a:ext cx="21946" cy="21946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6" name="Google Shape;2666;p22"/>
          <p:cNvCxnSpPr/>
          <p:nvPr/>
        </p:nvCxnSpPr>
        <p:spPr>
          <a:xfrm>
            <a:off x="713232" y="566928"/>
            <a:ext cx="0" cy="256032"/>
          </a:xfrm>
          <a:prstGeom prst="straightConnector1">
            <a:avLst/>
          </a:prstGeom>
          <a:noFill/>
          <a:ln cap="flat" cmpd="sng" w="27925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7" name="Google Shape;2667;p22"/>
          <p:cNvSpPr/>
          <p:nvPr/>
        </p:nvSpPr>
        <p:spPr>
          <a:xfrm>
            <a:off x="950976" y="53035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B"/>
              </a:buClr>
              <a:buSzPts val="1120"/>
              <a:buFont typeface="Noto Sans"/>
              <a:buNone/>
            </a:pPr>
            <a:r>
              <a:rPr lang="en-US" sz="1120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AIPost Future Circle · Cohort 01 微型任務 A1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8" name="Google Shape;2668;p22"/>
          <p:cNvSpPr txBox="1"/>
          <p:nvPr/>
        </p:nvSpPr>
        <p:spPr>
          <a:xfrm>
            <a:off x="566928" y="1353312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4463D"/>
                </a:solidFill>
                <a:latin typeface="Noto Sans"/>
                <a:ea typeface="Noto Sans"/>
                <a:cs typeface="Noto Sans"/>
                <a:sym typeface="Noto Sans"/>
              </a:rPr>
              <a:t>結語</a:t>
            </a:r>
            <a:endParaRPr/>
          </a:p>
        </p:txBody>
      </p:sp>
      <p:sp>
        <p:nvSpPr>
          <p:cNvPr id="2669" name="Google Shape;2669;p22"/>
          <p:cNvSpPr txBox="1"/>
          <p:nvPr/>
        </p:nvSpPr>
        <p:spPr>
          <a:xfrm>
            <a:off x="566928" y="1854635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可複用資產：把這套工作流帶回去用</a:t>
            </a:r>
            <a:endParaRPr sz="3200"/>
          </a:p>
        </p:txBody>
      </p:sp>
      <p:cxnSp>
        <p:nvCxnSpPr>
          <p:cNvPr id="2670" name="Google Shape;2670;p22"/>
          <p:cNvCxnSpPr/>
          <p:nvPr/>
        </p:nvCxnSpPr>
        <p:spPr>
          <a:xfrm>
            <a:off x="566928" y="2487168"/>
            <a:ext cx="813816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71" name="Google Shape;2671;p22"/>
          <p:cNvCxnSpPr/>
          <p:nvPr/>
        </p:nvCxnSpPr>
        <p:spPr>
          <a:xfrm>
            <a:off x="566928" y="2487168"/>
            <a:ext cx="214884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72" name="Google Shape;2672;p22"/>
          <p:cNvSpPr/>
          <p:nvPr/>
        </p:nvSpPr>
        <p:spPr>
          <a:xfrm>
            <a:off x="8668512" y="2441448"/>
            <a:ext cx="82296" cy="82296"/>
          </a:xfrm>
          <a:prstGeom prst="rect">
            <a:avLst/>
          </a:prstGeom>
          <a:solidFill>
            <a:srgbClr val="D8A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3" name="Google Shape;2673;p22"/>
          <p:cNvSpPr/>
          <p:nvPr/>
        </p:nvSpPr>
        <p:spPr>
          <a:xfrm>
            <a:off x="566928" y="2761488"/>
            <a:ext cx="3950208" cy="102412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4" name="Google Shape;2674;p22"/>
          <p:cNvSpPr txBox="1"/>
          <p:nvPr/>
        </p:nvSpPr>
        <p:spPr>
          <a:xfrm>
            <a:off x="731520" y="2871216"/>
            <a:ext cx="361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Task Prompt</a:t>
            </a:r>
            <a:endParaRPr/>
          </a:p>
        </p:txBody>
      </p:sp>
      <p:sp>
        <p:nvSpPr>
          <p:cNvPr id="2675" name="Google Shape;2675;p22"/>
          <p:cNvSpPr txBox="1"/>
          <p:nvPr/>
        </p:nvSpPr>
        <p:spPr>
          <a:xfrm>
            <a:off x="731520" y="3175845"/>
            <a:ext cx="361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一句話啟動整個產圖任務</a:t>
            </a:r>
            <a:endParaRPr sz="1100"/>
          </a:p>
        </p:txBody>
      </p:sp>
      <p:sp>
        <p:nvSpPr>
          <p:cNvPr id="2676" name="Google Shape;2676;p22"/>
          <p:cNvSpPr txBox="1"/>
          <p:nvPr/>
        </p:nvSpPr>
        <p:spPr>
          <a:xfrm>
            <a:off x="731520" y="3413589"/>
            <a:ext cx="361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03-prompt/task-prompt.md</a:t>
            </a:r>
            <a:endParaRPr sz="900"/>
          </a:p>
        </p:txBody>
      </p:sp>
      <p:sp>
        <p:nvSpPr>
          <p:cNvPr id="2677" name="Google Shape;2677;p22"/>
          <p:cNvSpPr/>
          <p:nvPr/>
        </p:nvSpPr>
        <p:spPr>
          <a:xfrm>
            <a:off x="4754880" y="2761488"/>
            <a:ext cx="3950208" cy="102412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8" name="Google Shape;2678;p22"/>
          <p:cNvSpPr txBox="1"/>
          <p:nvPr/>
        </p:nvSpPr>
        <p:spPr>
          <a:xfrm>
            <a:off x="4919472" y="2871216"/>
            <a:ext cx="361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SKILL.md</a:t>
            </a:r>
            <a:endParaRPr/>
          </a:p>
        </p:txBody>
      </p:sp>
      <p:sp>
        <p:nvSpPr>
          <p:cNvPr id="2679" name="Google Shape;2679;p22"/>
          <p:cNvSpPr txBox="1"/>
          <p:nvPr/>
        </p:nvSpPr>
        <p:spPr>
          <a:xfrm>
            <a:off x="4919472" y="3175845"/>
            <a:ext cx="361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任務流程與檢查步驟的編排</a:t>
            </a:r>
            <a:endParaRPr sz="1100"/>
          </a:p>
        </p:txBody>
      </p:sp>
      <p:sp>
        <p:nvSpPr>
          <p:cNvPr id="2680" name="Google Shape;2680;p22"/>
          <p:cNvSpPr txBox="1"/>
          <p:nvPr/>
        </p:nvSpPr>
        <p:spPr>
          <a:xfrm>
            <a:off x="4919472" y="3413589"/>
            <a:ext cx="361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06-.claude/skills/flow-chart-creator/SKILL.md</a:t>
            </a:r>
            <a:endParaRPr sz="900"/>
          </a:p>
        </p:txBody>
      </p:sp>
      <p:sp>
        <p:nvSpPr>
          <p:cNvPr id="2681" name="Google Shape;2681;p22"/>
          <p:cNvSpPr/>
          <p:nvPr/>
        </p:nvSpPr>
        <p:spPr>
          <a:xfrm>
            <a:off x="566928" y="3950208"/>
            <a:ext cx="3950208" cy="102412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2" name="Google Shape;2682;p22"/>
          <p:cNvSpPr txBox="1"/>
          <p:nvPr/>
        </p:nvSpPr>
        <p:spPr>
          <a:xfrm>
            <a:off x="731520" y="4059936"/>
            <a:ext cx="361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流程說明文件模板</a:t>
            </a:r>
            <a:endParaRPr/>
          </a:p>
        </p:txBody>
      </p:sp>
      <p:sp>
        <p:nvSpPr>
          <p:cNvPr id="2683" name="Google Shape;2683;p22"/>
          <p:cNvSpPr txBox="1"/>
          <p:nvPr/>
        </p:nvSpPr>
        <p:spPr>
          <a:xfrm>
            <a:off x="731520" y="4384004"/>
            <a:ext cx="361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沒有文件時的引導欄位</a:t>
            </a:r>
            <a:endParaRPr sz="1100"/>
          </a:p>
        </p:txBody>
      </p:sp>
      <p:sp>
        <p:nvSpPr>
          <p:cNvPr id="2684" name="Google Shape;2684;p22"/>
          <p:cNvSpPr txBox="1"/>
          <p:nvPr/>
        </p:nvSpPr>
        <p:spPr>
          <a:xfrm>
            <a:off x="731520" y="4621748"/>
            <a:ext cx="361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references/flow-desc-template.md</a:t>
            </a:r>
            <a:endParaRPr sz="900"/>
          </a:p>
        </p:txBody>
      </p:sp>
      <p:sp>
        <p:nvSpPr>
          <p:cNvPr id="2685" name="Google Shape;2685;p22"/>
          <p:cNvSpPr/>
          <p:nvPr/>
        </p:nvSpPr>
        <p:spPr>
          <a:xfrm>
            <a:off x="4754880" y="3950208"/>
            <a:ext cx="3950208" cy="1024128"/>
          </a:xfrm>
          <a:prstGeom prst="roundRect">
            <a:avLst>
              <a:gd fmla="val 6250" name="adj"/>
            </a:avLst>
          </a:prstGeom>
          <a:solidFill>
            <a:srgbClr val="FBF9F4"/>
          </a:solidFill>
          <a:ln cap="flat" cmpd="sng" w="12700">
            <a:solidFill>
              <a:srgbClr val="DDD8C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6" name="Google Shape;2686;p22"/>
          <p:cNvSpPr txBox="1"/>
          <p:nvPr/>
        </p:nvSpPr>
        <p:spPr>
          <a:xfrm>
            <a:off x="4919472" y="4059936"/>
            <a:ext cx="361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繪圖規格</a:t>
            </a:r>
            <a:endParaRPr/>
          </a:p>
        </p:txBody>
      </p:sp>
      <p:sp>
        <p:nvSpPr>
          <p:cNvPr id="2687" name="Google Shape;2687;p22"/>
          <p:cNvSpPr txBox="1"/>
          <p:nvPr/>
        </p:nvSpPr>
        <p:spPr>
          <a:xfrm>
            <a:off x="4919472" y="4384004"/>
            <a:ext cx="361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節點樣式、色彩與版面規則</a:t>
            </a:r>
            <a:endParaRPr sz="1100"/>
          </a:p>
        </p:txBody>
      </p:sp>
      <p:sp>
        <p:nvSpPr>
          <p:cNvPr id="2688" name="Google Shape;2688;p22"/>
          <p:cNvSpPr txBox="1"/>
          <p:nvPr/>
        </p:nvSpPr>
        <p:spPr>
          <a:xfrm>
            <a:off x="4919472" y="4621748"/>
            <a:ext cx="361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4463D"/>
                </a:solidFill>
                <a:latin typeface="Consolas"/>
                <a:ea typeface="Consolas"/>
                <a:cs typeface="Consolas"/>
                <a:sym typeface="Consolas"/>
              </a:rPr>
              <a:t>references/drawing-spec.md</a:t>
            </a:r>
            <a:endParaRPr sz="900"/>
          </a:p>
        </p:txBody>
      </p:sp>
      <p:sp>
        <p:nvSpPr>
          <p:cNvPr id="2689" name="Google Shape;2689;p22"/>
          <p:cNvSpPr/>
          <p:nvPr/>
        </p:nvSpPr>
        <p:spPr>
          <a:xfrm>
            <a:off x="621800" y="5372325"/>
            <a:ext cx="8147400" cy="699300"/>
          </a:xfrm>
          <a:prstGeom prst="roundRect">
            <a:avLst>
              <a:gd fmla="val 6250" name="adj"/>
            </a:avLst>
          </a:prstGeom>
          <a:solidFill>
            <a:srgbClr val="2E2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0" name="Google Shape;2690;p22"/>
          <p:cNvSpPr txBox="1"/>
          <p:nvPr/>
        </p:nvSpPr>
        <p:spPr>
          <a:xfrm>
            <a:off x="621803" y="5585821"/>
            <a:ext cx="814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6F2EA"/>
                </a:solidFill>
                <a:latin typeface="Noto Sans"/>
                <a:ea typeface="Noto Sans"/>
                <a:cs typeface="Noto Sans"/>
                <a:sym typeface="Noto Sans"/>
              </a:rPr>
              <a:t>讓 AI 成為第一版流程圖的加速器，把人的時間留給判斷與溝通。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3f52123c504_1_1180"/>
          <p:cNvSpPr/>
          <p:nvPr/>
        </p:nvSpPr>
        <p:spPr>
          <a:xfrm>
            <a:off x="9235440" y="0"/>
            <a:ext cx="2953500" cy="6858000"/>
          </a:xfrm>
          <a:prstGeom prst="rect">
            <a:avLst/>
          </a:prstGeom>
          <a:solidFill>
            <a:srgbClr val="2E2B28"/>
          </a:solidFill>
          <a:ln cap="flat" cmpd="sng" w="12700">
            <a:solidFill>
              <a:srgbClr val="2E2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g3f52123c504_1_1180"/>
          <p:cNvSpPr/>
          <p:nvPr/>
        </p:nvSpPr>
        <p:spPr>
          <a:xfrm>
            <a:off x="9253728" y="0"/>
            <a:ext cx="2916900" cy="6858000"/>
          </a:xfrm>
          <a:prstGeom prst="rect">
            <a:avLst/>
          </a:prstGeom>
          <a:solidFill>
            <a:srgbClr val="47423C">
              <a:alpha val="65100"/>
            </a:srgbClr>
          </a:solidFill>
          <a:ln cap="flat" cmpd="sng" w="12700">
            <a:solidFill>
              <a:srgbClr val="4742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8" name="Google Shape;2698;g3f52123c504_1_1180"/>
          <p:cNvCxnSpPr/>
          <p:nvPr/>
        </p:nvCxnSpPr>
        <p:spPr>
          <a:xfrm>
            <a:off x="9235440" y="0"/>
            <a:ext cx="0" cy="6858000"/>
          </a:xfrm>
          <a:prstGeom prst="straightConnector1">
            <a:avLst/>
          </a:prstGeom>
          <a:noFill/>
          <a:ln cap="flat" cmpd="sng" w="2285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9" name="Google Shape;2699;g3f52123c504_1_1180"/>
          <p:cNvSpPr/>
          <p:nvPr/>
        </p:nvSpPr>
        <p:spPr>
          <a:xfrm>
            <a:off x="9125712" y="2907792"/>
            <a:ext cx="237600" cy="237600"/>
          </a:xfrm>
          <a:prstGeom prst="ellipse">
            <a:avLst/>
          </a:prstGeom>
          <a:solidFill>
            <a:srgbClr val="FBF9F4"/>
          </a:solidFill>
          <a:ln cap="flat" cmpd="sng" w="254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g3f52123c504_1_1180"/>
          <p:cNvSpPr/>
          <p:nvPr/>
        </p:nvSpPr>
        <p:spPr>
          <a:xfrm>
            <a:off x="9180576" y="2962656"/>
            <a:ext cx="128100" cy="128100"/>
          </a:xfrm>
          <a:prstGeom prst="ellipse">
            <a:avLst/>
          </a:prstGeom>
          <a:solidFill>
            <a:srgbClr val="D8A530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g3f52123c504_1_1180"/>
          <p:cNvSpPr/>
          <p:nvPr/>
        </p:nvSpPr>
        <p:spPr>
          <a:xfrm>
            <a:off x="10195560" y="502920"/>
            <a:ext cx="219600" cy="2196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2" name="Google Shape;2702;g3f52123c504_1_1180"/>
          <p:cNvCxnSpPr/>
          <p:nvPr/>
        </p:nvCxnSpPr>
        <p:spPr>
          <a:xfrm>
            <a:off x="10305288" y="722376"/>
            <a:ext cx="0" cy="914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3" name="Google Shape;2703;g3f52123c504_1_1180"/>
          <p:cNvSpPr/>
          <p:nvPr/>
        </p:nvSpPr>
        <p:spPr>
          <a:xfrm>
            <a:off x="9966960" y="1417320"/>
            <a:ext cx="713100" cy="438900"/>
          </a:xfrm>
          <a:prstGeom prst="roundRect">
            <a:avLst>
              <a:gd fmla="val 10417" name="adj"/>
            </a:avLst>
          </a:prstGeom>
          <a:solidFill>
            <a:srgbClr val="2E2B28"/>
          </a:solidFill>
          <a:ln cap="flat" cmpd="sng" w="12700">
            <a:solidFill>
              <a:srgbClr val="D8A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4" name="Google Shape;2704;g3f52123c504_1_1180"/>
          <p:cNvCxnSpPr/>
          <p:nvPr/>
        </p:nvCxnSpPr>
        <p:spPr>
          <a:xfrm>
            <a:off x="10305288" y="1856232"/>
            <a:ext cx="0" cy="731400"/>
          </a:xfrm>
          <a:prstGeom prst="straightConnector1">
            <a:avLst/>
          </a:prstGeom>
          <a:noFill/>
          <a:ln cap="flat" cmpd="sng" w="13950">
            <a:solidFill>
              <a:srgbClr val="8F87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5" name="Google Shape;2705;g3f52123c504_1_1180"/>
          <p:cNvSpPr/>
          <p:nvPr/>
        </p:nvSpPr>
        <p:spPr>
          <a:xfrm>
            <a:off x="10076688" y="2587752"/>
            <a:ext cx="475500" cy="475500"/>
          </a:xfrm>
          <a:prstGeom prst="diamond">
            <a:avLst/>
          </a:prstGeom>
          <a:solidFill>
            <a:srgbClr val="2E2B28"/>
          </a:solidFill>
          <a:ln cap="flat" cmpd="sng" w="17775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6" name="Google Shape;2706;g3f52123c504_1_1180"/>
          <p:cNvCxnSpPr/>
          <p:nvPr/>
        </p:nvCxnSpPr>
        <p:spPr>
          <a:xfrm>
            <a:off x="10314432" y="3063240"/>
            <a:ext cx="0" cy="777300"/>
          </a:xfrm>
          <a:prstGeom prst="straightConnector1">
            <a:avLst/>
          </a:prstGeom>
          <a:noFill/>
          <a:ln cap="flat" cmpd="sng" w="1395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7" name="Google Shape;2707;g3f52123c504_1_1180"/>
          <p:cNvSpPr/>
          <p:nvPr/>
        </p:nvSpPr>
        <p:spPr>
          <a:xfrm>
            <a:off x="9985248" y="3840480"/>
            <a:ext cx="676800" cy="512100"/>
          </a:xfrm>
          <a:prstGeom prst="roundRect">
            <a:avLst>
              <a:gd fmla="val 8929" name="adj"/>
            </a:avLst>
          </a:prstGeom>
          <a:solidFill>
            <a:srgbClr val="2E2B28"/>
          </a:solidFill>
          <a:ln cap="flat" cmpd="sng" w="12700">
            <a:solidFill>
              <a:srgbClr val="A99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8" name="Google Shape;2708;g3f52123c504_1_1180"/>
          <p:cNvCxnSpPr/>
          <p:nvPr/>
        </p:nvCxnSpPr>
        <p:spPr>
          <a:xfrm>
            <a:off x="10323576" y="4352544"/>
            <a:ext cx="0" cy="960000"/>
          </a:xfrm>
          <a:prstGeom prst="straightConnector1">
            <a:avLst/>
          </a:prstGeom>
          <a:noFill/>
          <a:ln cap="flat" cmpd="sng" w="12700">
            <a:solidFill>
              <a:srgbClr val="A39B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9" name="Google Shape;2709;g3f52123c504_1_1180"/>
          <p:cNvSpPr/>
          <p:nvPr/>
        </p:nvSpPr>
        <p:spPr>
          <a:xfrm>
            <a:off x="10195560" y="5330952"/>
            <a:ext cx="255900" cy="255900"/>
          </a:xfrm>
          <a:prstGeom prst="ellipse">
            <a:avLst/>
          </a:prstGeom>
          <a:solidFill>
            <a:srgbClr val="2E2B28"/>
          </a:solidFill>
          <a:ln cap="flat" cmpd="sng" w="15225">
            <a:solidFill>
              <a:srgbClr val="DE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0" name="Google Shape;2710;g3f52123c504_1_1180"/>
          <p:cNvCxnSpPr/>
          <p:nvPr/>
        </p:nvCxnSpPr>
        <p:spPr>
          <a:xfrm>
            <a:off x="10561320" y="1636776"/>
            <a:ext cx="347400" cy="0"/>
          </a:xfrm>
          <a:prstGeom prst="straightConnector1">
            <a:avLst/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1" name="Google Shape;2711;g3f52123c504_1_1180"/>
          <p:cNvSpPr/>
          <p:nvPr/>
        </p:nvSpPr>
        <p:spPr>
          <a:xfrm>
            <a:off x="10579608" y="1636776"/>
            <a:ext cx="347400" cy="118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837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2" name="Google Shape;2712;g3f52123c504_1_1180"/>
          <p:cNvCxnSpPr/>
          <p:nvPr/>
        </p:nvCxnSpPr>
        <p:spPr>
          <a:xfrm>
            <a:off x="10908792" y="2816352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B9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3" name="Google Shape;2713;g3f52123c504_1_1180"/>
          <p:cNvSpPr/>
          <p:nvPr/>
        </p:nvSpPr>
        <p:spPr>
          <a:xfrm>
            <a:off x="11420856" y="2651760"/>
            <a:ext cx="146400" cy="1464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E0B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14" name="Google Shape;2714;g3f52123c504_1_1180"/>
          <p:cNvSpPr/>
          <p:nvPr/>
        </p:nvSpPr>
        <p:spPr>
          <a:xfrm>
            <a:off x="11676888" y="2331720"/>
            <a:ext cx="438900" cy="512100"/>
          </a:xfrm>
          <a:prstGeom prst="roundRect">
            <a:avLst>
              <a:gd fmla="val 8333" name="adj"/>
            </a:avLst>
          </a:prstGeom>
          <a:solidFill>
            <a:srgbClr val="2E2B28"/>
          </a:solidFill>
          <a:ln cap="flat" cmpd="sng" w="12700">
            <a:solidFill>
              <a:srgbClr val="8F8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15" name="Google Shape;2715;g3f52123c504_1_1180"/>
          <p:cNvCxnSpPr/>
          <p:nvPr/>
        </p:nvCxnSpPr>
        <p:spPr>
          <a:xfrm>
            <a:off x="11494008" y="2798064"/>
            <a:ext cx="0" cy="173730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6" name="Google Shape;2716;g3f52123c504_1_1180"/>
          <p:cNvCxnSpPr/>
          <p:nvPr/>
        </p:nvCxnSpPr>
        <p:spPr>
          <a:xfrm rot="10800000">
            <a:off x="10963608" y="4535424"/>
            <a:ext cx="530400" cy="0"/>
          </a:xfrm>
          <a:prstGeom prst="straightConnector1">
            <a:avLst/>
          </a:prstGeom>
          <a:noFill/>
          <a:ln cap="flat" cmpd="sng" w="11425">
            <a:solidFill>
              <a:srgbClr val="7F7B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7" name="Google Shape;2717;g3f52123c504_1_1180"/>
          <p:cNvSpPr/>
          <p:nvPr/>
        </p:nvSpPr>
        <p:spPr>
          <a:xfrm>
            <a:off x="10872216" y="4864608"/>
            <a:ext cx="54900" cy="54900"/>
          </a:xfrm>
          <a:prstGeom prst="ellipse">
            <a:avLst/>
          </a:prstGeom>
          <a:solidFill>
            <a:srgbClr val="E5E1D7"/>
          </a:solidFill>
          <a:ln cap="flat" cmpd="sng" w="9525">
            <a:solidFill>
              <a:srgbClr val="E5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8" name="Google Shape;2718;g3f52123c504_1_1180"/>
          <p:cNvCxnSpPr/>
          <p:nvPr/>
        </p:nvCxnSpPr>
        <p:spPr>
          <a:xfrm>
            <a:off x="10890504" y="4892040"/>
            <a:ext cx="0" cy="384000"/>
          </a:xfrm>
          <a:prstGeom prst="straightConnector1">
            <a:avLst/>
          </a:prstGeom>
          <a:noFill/>
          <a:ln cap="flat" cmpd="sng" w="10150">
            <a:solidFill>
              <a:srgbClr val="A39B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9" name="Google Shape;2719;g3f52123c504_1_1180"/>
          <p:cNvCxnSpPr/>
          <p:nvPr/>
        </p:nvCxnSpPr>
        <p:spPr>
          <a:xfrm>
            <a:off x="10890504" y="5276088"/>
            <a:ext cx="859500" cy="0"/>
          </a:xfrm>
          <a:prstGeom prst="straightConnector1">
            <a:avLst/>
          </a:prstGeom>
          <a:noFill/>
          <a:ln cap="flat" cmpd="sng" w="1015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0" name="Google Shape;2720;g3f52123c504_1_1180"/>
          <p:cNvSpPr/>
          <p:nvPr/>
        </p:nvSpPr>
        <p:spPr>
          <a:xfrm>
            <a:off x="11713464" y="5157216"/>
            <a:ext cx="128100" cy="128100"/>
          </a:xfrm>
          <a:prstGeom prst="ellipse">
            <a:avLst/>
          </a:prstGeom>
          <a:solidFill>
            <a:srgbClr val="2E2B28"/>
          </a:solidFill>
          <a:ln cap="flat" cmpd="sng" w="12700">
            <a:solidFill>
              <a:srgbClr val="7F7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1" name="Google Shape;2721;g3f52123c504_1_1180"/>
          <p:cNvSpPr/>
          <p:nvPr/>
        </p:nvSpPr>
        <p:spPr>
          <a:xfrm>
            <a:off x="11375136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2" name="Google Shape;2722;g3f52123c504_1_1180"/>
          <p:cNvSpPr/>
          <p:nvPr/>
        </p:nvSpPr>
        <p:spPr>
          <a:xfrm>
            <a:off x="11484864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3" name="Google Shape;2723;g3f52123c504_1_1180"/>
          <p:cNvSpPr/>
          <p:nvPr/>
        </p:nvSpPr>
        <p:spPr>
          <a:xfrm>
            <a:off x="11594592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4" name="Google Shape;2724;g3f52123c504_1_1180"/>
          <p:cNvSpPr/>
          <p:nvPr/>
        </p:nvSpPr>
        <p:spPr>
          <a:xfrm>
            <a:off x="11704320" y="274320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5" name="Google Shape;2725;g3f52123c504_1_1180"/>
          <p:cNvSpPr/>
          <p:nvPr/>
        </p:nvSpPr>
        <p:spPr>
          <a:xfrm>
            <a:off x="11375136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6" name="Google Shape;2726;g3f52123c504_1_1180"/>
          <p:cNvSpPr/>
          <p:nvPr/>
        </p:nvSpPr>
        <p:spPr>
          <a:xfrm>
            <a:off x="11484864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7" name="Google Shape;2727;g3f52123c504_1_1180"/>
          <p:cNvSpPr/>
          <p:nvPr/>
        </p:nvSpPr>
        <p:spPr>
          <a:xfrm>
            <a:off x="11594592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8" name="Google Shape;2728;g3f52123c504_1_1180"/>
          <p:cNvSpPr/>
          <p:nvPr/>
        </p:nvSpPr>
        <p:spPr>
          <a:xfrm>
            <a:off x="11704320" y="384048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9" name="Google Shape;2729;g3f52123c504_1_1180"/>
          <p:cNvSpPr/>
          <p:nvPr/>
        </p:nvSpPr>
        <p:spPr>
          <a:xfrm>
            <a:off x="11375136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0" name="Google Shape;2730;g3f52123c504_1_1180"/>
          <p:cNvSpPr/>
          <p:nvPr/>
        </p:nvSpPr>
        <p:spPr>
          <a:xfrm>
            <a:off x="11484864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1" name="Google Shape;2731;g3f52123c504_1_1180"/>
          <p:cNvSpPr/>
          <p:nvPr/>
        </p:nvSpPr>
        <p:spPr>
          <a:xfrm>
            <a:off x="11594592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2" name="Google Shape;2732;g3f52123c504_1_1180"/>
          <p:cNvSpPr/>
          <p:nvPr/>
        </p:nvSpPr>
        <p:spPr>
          <a:xfrm>
            <a:off x="11704320" y="493776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3" name="Google Shape;2733;g3f52123c504_1_1180"/>
          <p:cNvSpPr/>
          <p:nvPr/>
        </p:nvSpPr>
        <p:spPr>
          <a:xfrm>
            <a:off x="11375136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4" name="Google Shape;2734;g3f52123c504_1_1180"/>
          <p:cNvSpPr/>
          <p:nvPr/>
        </p:nvSpPr>
        <p:spPr>
          <a:xfrm>
            <a:off x="11484864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5" name="Google Shape;2735;g3f52123c504_1_1180"/>
          <p:cNvSpPr/>
          <p:nvPr/>
        </p:nvSpPr>
        <p:spPr>
          <a:xfrm>
            <a:off x="11594592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6" name="Google Shape;2736;g3f52123c504_1_1180"/>
          <p:cNvSpPr/>
          <p:nvPr/>
        </p:nvSpPr>
        <p:spPr>
          <a:xfrm>
            <a:off x="11704320" y="603504"/>
            <a:ext cx="18300" cy="18300"/>
          </a:xfrm>
          <a:prstGeom prst="ellipse">
            <a:avLst/>
          </a:prstGeom>
          <a:solidFill>
            <a:srgbClr val="6F665D"/>
          </a:solidFill>
          <a:ln cap="flat" cmpd="sng" w="9525">
            <a:solidFill>
              <a:srgbClr val="6F6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7" name="Google Shape;2737;g3f52123c504_1_1180"/>
          <p:cNvSpPr/>
          <p:nvPr/>
        </p:nvSpPr>
        <p:spPr>
          <a:xfrm>
            <a:off x="11265408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8" name="Google Shape;2738;g3f52123c504_1_1180"/>
          <p:cNvSpPr/>
          <p:nvPr/>
        </p:nvSpPr>
        <p:spPr>
          <a:xfrm>
            <a:off x="11375136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9" name="Google Shape;2739;g3f52123c504_1_1180"/>
          <p:cNvSpPr/>
          <p:nvPr/>
        </p:nvSpPr>
        <p:spPr>
          <a:xfrm>
            <a:off x="11484864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0" name="Google Shape;2740;g3f52123c504_1_1180"/>
          <p:cNvSpPr/>
          <p:nvPr/>
        </p:nvSpPr>
        <p:spPr>
          <a:xfrm>
            <a:off x="11594592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1" name="Google Shape;2741;g3f52123c504_1_1180"/>
          <p:cNvSpPr/>
          <p:nvPr/>
        </p:nvSpPr>
        <p:spPr>
          <a:xfrm>
            <a:off x="11704320" y="5852160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2" name="Google Shape;2742;g3f52123c504_1_1180"/>
          <p:cNvSpPr/>
          <p:nvPr/>
        </p:nvSpPr>
        <p:spPr>
          <a:xfrm>
            <a:off x="11265408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3" name="Google Shape;2743;g3f52123c504_1_1180"/>
          <p:cNvSpPr/>
          <p:nvPr/>
        </p:nvSpPr>
        <p:spPr>
          <a:xfrm>
            <a:off x="11375136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4" name="Google Shape;2744;g3f52123c504_1_1180"/>
          <p:cNvSpPr/>
          <p:nvPr/>
        </p:nvSpPr>
        <p:spPr>
          <a:xfrm>
            <a:off x="11484864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5" name="Google Shape;2745;g3f52123c504_1_1180"/>
          <p:cNvSpPr/>
          <p:nvPr/>
        </p:nvSpPr>
        <p:spPr>
          <a:xfrm>
            <a:off x="11594592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6" name="Google Shape;2746;g3f52123c504_1_1180"/>
          <p:cNvSpPr/>
          <p:nvPr/>
        </p:nvSpPr>
        <p:spPr>
          <a:xfrm>
            <a:off x="11704320" y="5961888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7" name="Google Shape;2747;g3f52123c504_1_1180"/>
          <p:cNvSpPr/>
          <p:nvPr/>
        </p:nvSpPr>
        <p:spPr>
          <a:xfrm>
            <a:off x="11265408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8" name="Google Shape;2748;g3f52123c504_1_1180"/>
          <p:cNvSpPr/>
          <p:nvPr/>
        </p:nvSpPr>
        <p:spPr>
          <a:xfrm>
            <a:off x="11375136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9" name="Google Shape;2749;g3f52123c504_1_1180"/>
          <p:cNvSpPr/>
          <p:nvPr/>
        </p:nvSpPr>
        <p:spPr>
          <a:xfrm>
            <a:off x="11484864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0" name="Google Shape;2750;g3f52123c504_1_1180"/>
          <p:cNvSpPr/>
          <p:nvPr/>
        </p:nvSpPr>
        <p:spPr>
          <a:xfrm>
            <a:off x="11594592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1" name="Google Shape;2751;g3f52123c504_1_1180"/>
          <p:cNvSpPr/>
          <p:nvPr/>
        </p:nvSpPr>
        <p:spPr>
          <a:xfrm>
            <a:off x="11704320" y="6071616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2" name="Google Shape;2752;g3f52123c504_1_1180"/>
          <p:cNvSpPr/>
          <p:nvPr/>
        </p:nvSpPr>
        <p:spPr>
          <a:xfrm>
            <a:off x="11265408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3" name="Google Shape;2753;g3f52123c504_1_1180"/>
          <p:cNvSpPr/>
          <p:nvPr/>
        </p:nvSpPr>
        <p:spPr>
          <a:xfrm>
            <a:off x="11375136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4" name="Google Shape;2754;g3f52123c504_1_1180"/>
          <p:cNvSpPr/>
          <p:nvPr/>
        </p:nvSpPr>
        <p:spPr>
          <a:xfrm>
            <a:off x="11484864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5" name="Google Shape;2755;g3f52123c504_1_1180"/>
          <p:cNvSpPr/>
          <p:nvPr/>
        </p:nvSpPr>
        <p:spPr>
          <a:xfrm>
            <a:off x="11594592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6" name="Google Shape;2756;g3f52123c504_1_1180"/>
          <p:cNvSpPr/>
          <p:nvPr/>
        </p:nvSpPr>
        <p:spPr>
          <a:xfrm>
            <a:off x="11704320" y="6181344"/>
            <a:ext cx="18300" cy="18300"/>
          </a:xfrm>
          <a:prstGeom prst="ellipse">
            <a:avLst/>
          </a:prstGeom>
          <a:solidFill>
            <a:srgbClr val="786F66"/>
          </a:solidFill>
          <a:ln cap="flat" cmpd="sng" w="9525">
            <a:solidFill>
              <a:srgbClr val="786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7" name="Google Shape;2757;g3f52123c504_1_1180"/>
          <p:cNvSpPr/>
          <p:nvPr/>
        </p:nvSpPr>
        <p:spPr>
          <a:xfrm>
            <a:off x="10936224" y="5303520"/>
            <a:ext cx="1079100" cy="1134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C44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g3f52123c504_1_1180"/>
          <p:cNvSpPr/>
          <p:nvPr/>
        </p:nvSpPr>
        <p:spPr>
          <a:xfrm>
            <a:off x="11484864" y="6510528"/>
            <a:ext cx="347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B64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0B64E"/>
                </a:solidFill>
              </a:rPr>
              <a:t>25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9" name="Google Shape;2759;g3f52123c504_1_1180"/>
          <p:cNvSpPr/>
          <p:nvPr/>
        </p:nvSpPr>
        <p:spPr>
          <a:xfrm>
            <a:off x="36576" y="164592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g3f52123c504_1_1180"/>
          <p:cNvSpPr/>
          <p:nvPr/>
        </p:nvSpPr>
        <p:spPr>
          <a:xfrm>
            <a:off x="182880" y="164592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g3f52123c504_1_1180"/>
          <p:cNvSpPr/>
          <p:nvPr/>
        </p:nvSpPr>
        <p:spPr>
          <a:xfrm>
            <a:off x="329184" y="164592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g3f52123c504_1_1180"/>
          <p:cNvSpPr/>
          <p:nvPr/>
        </p:nvSpPr>
        <p:spPr>
          <a:xfrm>
            <a:off x="475488" y="164592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g3f52123c504_1_1180"/>
          <p:cNvSpPr/>
          <p:nvPr/>
        </p:nvSpPr>
        <p:spPr>
          <a:xfrm>
            <a:off x="621792" y="164592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g3f52123c504_1_1180"/>
          <p:cNvSpPr/>
          <p:nvPr/>
        </p:nvSpPr>
        <p:spPr>
          <a:xfrm>
            <a:off x="36576" y="310896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g3f52123c504_1_1180"/>
          <p:cNvSpPr/>
          <p:nvPr/>
        </p:nvSpPr>
        <p:spPr>
          <a:xfrm>
            <a:off x="182880" y="310896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g3f52123c504_1_1180"/>
          <p:cNvSpPr/>
          <p:nvPr/>
        </p:nvSpPr>
        <p:spPr>
          <a:xfrm>
            <a:off x="329184" y="310896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g3f52123c504_1_1180"/>
          <p:cNvSpPr/>
          <p:nvPr/>
        </p:nvSpPr>
        <p:spPr>
          <a:xfrm>
            <a:off x="475488" y="310896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g3f52123c504_1_1180"/>
          <p:cNvSpPr/>
          <p:nvPr/>
        </p:nvSpPr>
        <p:spPr>
          <a:xfrm>
            <a:off x="621792" y="310896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g3f52123c504_1_1180"/>
          <p:cNvSpPr/>
          <p:nvPr/>
        </p:nvSpPr>
        <p:spPr>
          <a:xfrm>
            <a:off x="36576" y="457200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g3f52123c504_1_1180"/>
          <p:cNvSpPr/>
          <p:nvPr/>
        </p:nvSpPr>
        <p:spPr>
          <a:xfrm>
            <a:off x="182880" y="457200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g3f52123c504_1_1180"/>
          <p:cNvSpPr/>
          <p:nvPr/>
        </p:nvSpPr>
        <p:spPr>
          <a:xfrm>
            <a:off x="329184" y="457200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g3f52123c504_1_1180"/>
          <p:cNvSpPr/>
          <p:nvPr/>
        </p:nvSpPr>
        <p:spPr>
          <a:xfrm>
            <a:off x="475488" y="457200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g3f52123c504_1_1180"/>
          <p:cNvSpPr/>
          <p:nvPr/>
        </p:nvSpPr>
        <p:spPr>
          <a:xfrm>
            <a:off x="621792" y="457200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g3f52123c504_1_1180"/>
          <p:cNvSpPr/>
          <p:nvPr/>
        </p:nvSpPr>
        <p:spPr>
          <a:xfrm>
            <a:off x="36576" y="603504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g3f52123c504_1_1180"/>
          <p:cNvSpPr/>
          <p:nvPr/>
        </p:nvSpPr>
        <p:spPr>
          <a:xfrm>
            <a:off x="182880" y="603504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g3f52123c504_1_1180"/>
          <p:cNvSpPr/>
          <p:nvPr/>
        </p:nvSpPr>
        <p:spPr>
          <a:xfrm>
            <a:off x="329184" y="603504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g3f52123c504_1_1180"/>
          <p:cNvSpPr/>
          <p:nvPr/>
        </p:nvSpPr>
        <p:spPr>
          <a:xfrm>
            <a:off x="475488" y="603504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g3f52123c504_1_1180"/>
          <p:cNvSpPr/>
          <p:nvPr/>
        </p:nvSpPr>
        <p:spPr>
          <a:xfrm>
            <a:off x="621792" y="603504"/>
            <a:ext cx="23700" cy="23700"/>
          </a:xfrm>
          <a:prstGeom prst="ellipse">
            <a:avLst/>
          </a:prstGeom>
          <a:solidFill>
            <a:srgbClr val="D8D2C9"/>
          </a:solidFill>
          <a:ln cap="flat" cmpd="sng" w="9525">
            <a:solidFill>
              <a:srgbClr val="D8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g3f52123c504_1_1180"/>
          <p:cNvSpPr txBox="1"/>
          <p:nvPr/>
        </p:nvSpPr>
        <p:spPr>
          <a:xfrm>
            <a:off x="566928" y="2103120"/>
            <a:ext cx="5486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A87B1E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2780" name="Google Shape;2780;g3f52123c504_1_1180"/>
          <p:cNvSpPr txBox="1"/>
          <p:nvPr/>
        </p:nvSpPr>
        <p:spPr>
          <a:xfrm>
            <a:off x="566928" y="2674206"/>
            <a:ext cx="731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1F232B"/>
                </a:solidFill>
                <a:latin typeface="Arial"/>
                <a:ea typeface="Arial"/>
                <a:cs typeface="Arial"/>
                <a:sym typeface="Arial"/>
              </a:rPr>
              <a:t>謝謝聆聽</a:t>
            </a:r>
            <a:endParaRPr sz="4800"/>
          </a:p>
        </p:txBody>
      </p:sp>
      <p:cxnSp>
        <p:nvCxnSpPr>
          <p:cNvPr id="2781" name="Google Shape;2781;g3f52123c504_1_1180"/>
          <p:cNvCxnSpPr/>
          <p:nvPr/>
        </p:nvCxnSpPr>
        <p:spPr>
          <a:xfrm>
            <a:off x="566928" y="3584448"/>
            <a:ext cx="2148900" cy="0"/>
          </a:xfrm>
          <a:prstGeom prst="straightConnector1">
            <a:avLst/>
          </a:prstGeom>
          <a:noFill/>
          <a:ln cap="flat" cmpd="sng" w="20300">
            <a:solidFill>
              <a:srgbClr val="C4463D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82" name="Google Shape;2782;g3f52123c504_1_1180"/>
          <p:cNvCxnSpPr/>
          <p:nvPr/>
        </p:nvCxnSpPr>
        <p:spPr>
          <a:xfrm>
            <a:off x="2715768" y="3584448"/>
            <a:ext cx="1097400" cy="0"/>
          </a:xfrm>
          <a:prstGeom prst="straightConnector1">
            <a:avLst/>
          </a:prstGeom>
          <a:noFill/>
          <a:ln cap="flat" cmpd="sng" w="20300">
            <a:solidFill>
              <a:srgbClr val="D8A53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83" name="Google Shape;2783;g3f52123c504_1_1180"/>
          <p:cNvSpPr txBox="1"/>
          <p:nvPr/>
        </p:nvSpPr>
        <p:spPr>
          <a:xfrm>
            <a:off x="566928" y="3785615"/>
            <a:ext cx="78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32B"/>
                </a:solidFill>
                <a:latin typeface="Noto Sans"/>
                <a:ea typeface="Noto Sans"/>
                <a:cs typeface="Noto Sans"/>
                <a:sym typeface="Noto Sans"/>
              </a:rPr>
              <a:t>歡迎指教與討論</a:t>
            </a:r>
            <a:endParaRPr/>
          </a:p>
        </p:txBody>
      </p:sp>
      <p:sp>
        <p:nvSpPr>
          <p:cNvPr id="2784" name="Google Shape;2784;g3f52123c504_1_1180"/>
          <p:cNvSpPr txBox="1"/>
          <p:nvPr/>
        </p:nvSpPr>
        <p:spPr>
          <a:xfrm>
            <a:off x="566928" y="4132064"/>
            <a:ext cx="786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AI 搭配 draw.io MCP 繪製流程圖｜AIPost Future Circle · Cohort 01 微型任務 A1</a:t>
            </a:r>
            <a:r>
              <a:rPr lang="en-US" sz="1050">
                <a:solidFill>
                  <a:srgbClr val="837B73"/>
                </a:solidFill>
                <a:latin typeface="Noto Sans"/>
                <a:ea typeface="Noto Sans"/>
                <a:cs typeface="Noto Sans"/>
                <a:sym typeface="Noto Sans"/>
              </a:rPr>
              <a:t>｜胡怡欣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2026-07-14T07:12:46Z</dcterms:created>
  <dc:creator>OpenAI</dc:creator>
</cp:coreProperties>
</file>